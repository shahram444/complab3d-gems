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7373600" cy="226771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373600" cy="22677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914400" y="5631789"/>
            <a:ext cx="16093440" cy="0"/>
          </a:xfrm>
          <a:prstGeom prst="line">
            <a:avLst/>
          </a:prstGeom>
          <a:ln w="11429">
            <a:solidFill>
              <a:srgbClr val="C9C9D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8321040" y="2743200"/>
            <a:ext cx="914400" cy="3602736"/>
          </a:xfrm>
          <a:prstGeom prst="line">
            <a:avLst/>
          </a:prstGeom>
          <a:ln w="12382">
            <a:solidFill>
              <a:srgbClr val="F8A5A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321040" y="15544800"/>
            <a:ext cx="914400" cy="109728"/>
          </a:xfrm>
          <a:prstGeom prst="line">
            <a:avLst/>
          </a:prstGeom>
          <a:ln w="12382">
            <a:solidFill>
              <a:srgbClr val="F8A5A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02336" y="1883664"/>
            <a:ext cx="82296" cy="3694176"/>
          </a:xfrm>
          <a:prstGeom prst="rect">
            <a:avLst/>
          </a:prstGeom>
          <a:solidFill>
            <a:srgbClr val="FFE6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120640" y="3182112"/>
            <a:ext cx="0" cy="950976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120640" y="4901184"/>
            <a:ext cx="0" cy="1554480"/>
          </a:xfrm>
          <a:prstGeom prst="line">
            <a:avLst/>
          </a:prstGeom>
          <a:ln w="22859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402336" y="6364224"/>
            <a:ext cx="82296" cy="4352544"/>
          </a:xfrm>
          <a:prstGeom prst="rect">
            <a:avLst/>
          </a:prstGeom>
          <a:solidFill>
            <a:srgbClr val="BDD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5120640" y="7443216"/>
            <a:ext cx="0" cy="493776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120640" y="9290304"/>
            <a:ext cx="0" cy="457200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046720" y="8613648"/>
            <a:ext cx="2194560" cy="0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02336" y="10661904"/>
            <a:ext cx="82296" cy="9866376"/>
          </a:xfrm>
          <a:prstGeom prst="rect">
            <a:avLst/>
          </a:prstGeom>
          <a:solidFill>
            <a:srgbClr val="C6E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5120640" y="11850624"/>
            <a:ext cx="0" cy="603504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120640" y="13112496"/>
            <a:ext cx="0" cy="658368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120640" y="14648688"/>
            <a:ext cx="0" cy="566928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120640" y="15873984"/>
            <a:ext cx="0" cy="530352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120640" y="17062704"/>
            <a:ext cx="0" cy="402336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120640" y="18379440"/>
            <a:ext cx="0" cy="347472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120640" y="19568160"/>
            <a:ext cx="0" cy="338328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097280" y="17922240"/>
            <a:ext cx="2057400" cy="0"/>
          </a:xfrm>
          <a:prstGeom prst="line">
            <a:avLst/>
          </a:prstGeom>
          <a:ln w="1524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097280" y="11466576"/>
            <a:ext cx="0" cy="6455664"/>
          </a:xfrm>
          <a:prstGeom prst="line">
            <a:avLst/>
          </a:prstGeom>
          <a:ln w="1524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97280" y="11466576"/>
            <a:ext cx="822960" cy="0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235440" y="4791456"/>
            <a:ext cx="7680960" cy="3108960"/>
          </a:xfrm>
          <a:prstGeom prst="roundRect">
            <a:avLst>
              <a:gd name="adj" fmla="val 2352"/>
            </a:avLst>
          </a:prstGeom>
          <a:solidFill>
            <a:srgbClr val="FBFBFD"/>
          </a:solidFill>
          <a:ln w="12382">
            <a:solidFill>
              <a:srgbClr val="C9C9D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235440" y="13844016"/>
            <a:ext cx="7680960" cy="3621024"/>
          </a:xfrm>
          <a:prstGeom prst="roundRect">
            <a:avLst>
              <a:gd name="adj" fmla="val 2020"/>
            </a:avLst>
          </a:prstGeom>
          <a:solidFill>
            <a:srgbClr val="FBFBFD"/>
          </a:solidFill>
          <a:ln w="12382">
            <a:solidFill>
              <a:srgbClr val="C9C9D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235440" y="1828800"/>
            <a:ext cx="7680960" cy="420624"/>
          </a:xfrm>
          <a:prstGeom prst="roundRect">
            <a:avLst>
              <a:gd name="adj" fmla="val 13043"/>
            </a:avLst>
          </a:prstGeom>
          <a:solidFill>
            <a:srgbClr val="FFE699"/>
          </a:solidFill>
          <a:ln w="11429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235440" y="2359152"/>
            <a:ext cx="7680960" cy="420624"/>
          </a:xfrm>
          <a:prstGeom prst="roundRect">
            <a:avLst>
              <a:gd name="adj" fmla="val 13043"/>
            </a:avLst>
          </a:prstGeom>
          <a:solidFill>
            <a:srgbClr val="BDD7EE"/>
          </a:solidFill>
          <a:ln w="11429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235440" y="2889504"/>
            <a:ext cx="7680960" cy="420624"/>
          </a:xfrm>
          <a:prstGeom prst="roundRect">
            <a:avLst>
              <a:gd name="adj" fmla="val 13043"/>
            </a:avLst>
          </a:prstGeom>
          <a:solidFill>
            <a:srgbClr val="C6E0B4"/>
          </a:solidFill>
          <a:ln w="11429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235440" y="3419856"/>
            <a:ext cx="7680960" cy="420624"/>
          </a:xfrm>
          <a:prstGeom prst="roundRect">
            <a:avLst>
              <a:gd name="adj" fmla="val 13043"/>
            </a:avLst>
          </a:prstGeom>
          <a:solidFill>
            <a:srgbClr val="F2B2B2"/>
          </a:solidFill>
          <a:ln w="11429">
            <a:solidFill>
              <a:srgbClr val="B0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235440" y="3950208"/>
            <a:ext cx="768096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1429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473184" y="5760720"/>
            <a:ext cx="7205472" cy="420624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9525">
            <a:solidFill>
              <a:srgbClr val="DC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473184" y="6272784"/>
            <a:ext cx="7205472" cy="420624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9525">
            <a:solidFill>
              <a:srgbClr val="DC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473184" y="6784848"/>
            <a:ext cx="7205472" cy="420624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9525">
            <a:solidFill>
              <a:srgbClr val="DC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473184" y="7296912"/>
            <a:ext cx="7205472" cy="420624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9525">
            <a:solidFill>
              <a:srgbClr val="DC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473184" y="14813280"/>
            <a:ext cx="7205472" cy="420624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9525">
            <a:solidFill>
              <a:srgbClr val="DC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73184" y="15325344"/>
            <a:ext cx="7205472" cy="420624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9525">
            <a:solidFill>
              <a:srgbClr val="DC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473184" y="15837408"/>
            <a:ext cx="7205472" cy="420624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9525">
            <a:solidFill>
              <a:srgbClr val="DC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473184" y="16349472"/>
            <a:ext cx="7205472" cy="420624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9525">
            <a:solidFill>
              <a:srgbClr val="DC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473184" y="16861536"/>
            <a:ext cx="7205472" cy="420624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9525">
            <a:solidFill>
              <a:srgbClr val="DC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515153" y="1924812"/>
            <a:ext cx="3121533" cy="2286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450" b="0" i="1">
                <a:solidFill>
                  <a:srgbClr val="202020"/>
                </a:solidFill>
                <a:latin typeface="Calibri"/>
              </a:rPr>
              <a:t>before the run, and none of it is required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210669" y="2455164"/>
            <a:ext cx="1730502" cy="2286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450" b="0" i="1">
                <a:solidFill>
                  <a:srgbClr val="202020"/>
                </a:solidFill>
                <a:latin typeface="Calibri"/>
              </a:rPr>
              <a:t>start-up, once per run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34547" y="2985516"/>
            <a:ext cx="3682746" cy="2286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450" b="0" i="1">
                <a:solidFill>
                  <a:srgbClr val="202020"/>
                </a:solidFill>
                <a:latin typeface="Calibri"/>
              </a:rPr>
              <a:t>per gated organism, per voxel, per reaction step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80242" y="3515868"/>
            <a:ext cx="3991356" cy="2286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450" b="0" i="1">
                <a:solidFill>
                  <a:srgbClr val="202020"/>
                </a:solidFill>
                <a:latin typeface="Calibri"/>
              </a:rPr>
              <a:t>a guard rail: it stops the run, or changes the number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907202" y="4046220"/>
            <a:ext cx="2337435" cy="2286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450" b="0" i="1">
                <a:solidFill>
                  <a:srgbClr val="202020"/>
                </a:solidFill>
                <a:latin typeface="Calibri"/>
              </a:rPr>
              <a:t>a question the code asks itself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71123" y="5861304"/>
            <a:ext cx="3609594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temperature: the free energy must be quoted at it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09935" y="6373368"/>
            <a:ext cx="4331970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the reaction, with consumed negative and produced positive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59705" y="6885432"/>
            <a:ext cx="3432429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dG0, and the ATP cost, which sets the threshold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31105" y="7397496"/>
            <a:ext cx="3889629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chi and cmin: the width of the transition, and the floor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594020" y="14913864"/>
            <a:ext cx="2963799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at the threshold the factor is exactly zero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111228" y="15425928"/>
            <a:ext cx="1929384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one width past it, one half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313985" y="15937992"/>
            <a:ext cx="3523869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several widths past it, indistinguishable from one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193399" y="16450056"/>
            <a:ext cx="3765042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so the rate falls away over a distance, not at an edge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068812" y="16962120"/>
            <a:ext cx="4014216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and the distance is set by chemistry, not by a parameter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920240" y="2304288"/>
            <a:ext cx="6400800" cy="877824"/>
          </a:xfrm>
          <a:prstGeom prst="roundRect">
            <a:avLst>
              <a:gd name="adj" fmla="val 8333"/>
            </a:avLst>
          </a:prstGeom>
          <a:solidFill>
            <a:srgbClr val="FFE699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1920240" y="4133088"/>
            <a:ext cx="6400800" cy="768096"/>
          </a:xfrm>
          <a:prstGeom prst="roundRect">
            <a:avLst>
              <a:gd name="adj" fmla="val 9523"/>
            </a:avLst>
          </a:prstGeom>
          <a:solidFill>
            <a:srgbClr val="FFE699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1920240" y="6784848"/>
            <a:ext cx="6400800" cy="658368"/>
          </a:xfrm>
          <a:prstGeom prst="roundRect">
            <a:avLst>
              <a:gd name="adj" fmla="val 11111"/>
            </a:avLst>
          </a:prstGeom>
          <a:solidFill>
            <a:srgbClr val="BDD7EE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Diamond 56"/>
          <p:cNvSpPr/>
          <p:nvPr/>
        </p:nvSpPr>
        <p:spPr>
          <a:xfrm>
            <a:off x="2194560" y="7936992"/>
            <a:ext cx="5852160" cy="1353312"/>
          </a:xfrm>
          <a:prstGeom prst="diamond">
            <a:avLst/>
          </a:prstGeom>
          <a:solidFill>
            <a:srgbClr val="FFFFFF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1920240" y="9747504"/>
            <a:ext cx="6400800" cy="877824"/>
          </a:xfrm>
          <a:prstGeom prst="roundRect">
            <a:avLst>
              <a:gd name="adj" fmla="val 8333"/>
            </a:avLst>
          </a:prstGeom>
          <a:solidFill>
            <a:srgbClr val="BDD7EE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10241280" y="8174736"/>
            <a:ext cx="4572000" cy="877824"/>
          </a:xfrm>
          <a:prstGeom prst="roundRect">
            <a:avLst>
              <a:gd name="adj" fmla="val 8333"/>
            </a:avLst>
          </a:prstGeom>
          <a:solidFill>
            <a:srgbClr val="F2B2B2"/>
          </a:solidFill>
          <a:ln w="12382">
            <a:solidFill>
              <a:srgbClr val="B0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1920240" y="11082528"/>
            <a:ext cx="6400800" cy="768096"/>
          </a:xfrm>
          <a:prstGeom prst="roundRect">
            <a:avLst>
              <a:gd name="adj" fmla="val 9523"/>
            </a:avLst>
          </a:prstGeom>
          <a:solidFill>
            <a:srgbClr val="C6E0B4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1920240" y="12454128"/>
            <a:ext cx="6400800" cy="658368"/>
          </a:xfrm>
          <a:prstGeom prst="roundRect">
            <a:avLst>
              <a:gd name="adj" fmla="val 11111"/>
            </a:avLst>
          </a:prstGeom>
          <a:solidFill>
            <a:srgbClr val="F2B2B2"/>
          </a:solidFill>
          <a:ln w="12382">
            <a:solidFill>
              <a:srgbClr val="B0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1920240" y="13770864"/>
            <a:ext cx="6400800" cy="877824"/>
          </a:xfrm>
          <a:prstGeom prst="roundRect">
            <a:avLst>
              <a:gd name="adj" fmla="val 8333"/>
            </a:avLst>
          </a:prstGeom>
          <a:solidFill>
            <a:srgbClr val="C6E0B4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1920240" y="15215616"/>
            <a:ext cx="6400800" cy="658368"/>
          </a:xfrm>
          <a:prstGeom prst="roundRect">
            <a:avLst>
              <a:gd name="adj" fmla="val 11111"/>
            </a:avLst>
          </a:prstGeom>
          <a:solidFill>
            <a:srgbClr val="C6E0B4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1920240" y="16404336"/>
            <a:ext cx="6400800" cy="658368"/>
          </a:xfrm>
          <a:prstGeom prst="roundRect">
            <a:avLst>
              <a:gd name="adj" fmla="val 11111"/>
            </a:avLst>
          </a:prstGeom>
          <a:solidFill>
            <a:srgbClr val="C6E0B4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Diamond 64"/>
          <p:cNvSpPr/>
          <p:nvPr/>
        </p:nvSpPr>
        <p:spPr>
          <a:xfrm>
            <a:off x="3154680" y="17465040"/>
            <a:ext cx="3931920" cy="914400"/>
          </a:xfrm>
          <a:prstGeom prst="diamond">
            <a:avLst/>
          </a:prstGeom>
          <a:solidFill>
            <a:srgbClr val="FFFFFF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Diamond 65"/>
          <p:cNvSpPr/>
          <p:nvPr/>
        </p:nvSpPr>
        <p:spPr>
          <a:xfrm>
            <a:off x="3611880" y="18726912"/>
            <a:ext cx="3017520" cy="841248"/>
          </a:xfrm>
          <a:prstGeom prst="diamond">
            <a:avLst/>
          </a:prstGeom>
          <a:solidFill>
            <a:srgbClr val="FFFFFF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2743200" y="19906488"/>
            <a:ext cx="4754880" cy="530352"/>
          </a:xfrm>
          <a:prstGeom prst="roundRect">
            <a:avLst>
              <a:gd name="adj" fmla="val 50000"/>
            </a:avLst>
          </a:prstGeom>
          <a:solidFill>
            <a:srgbClr val="F8A5A5"/>
          </a:solidFill>
          <a:ln w="12382">
            <a:solidFill>
              <a:srgbClr val="B0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742057" y="2428646"/>
            <a:ext cx="4757166" cy="62910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Write the .thm file by hand: the reaction and its signs, the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standard free energy, the ATP the organism must pay for a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turn of it, and which organism the block belongs to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887789" y="4302709"/>
            <a:ext cx="4465701" cy="42885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Optional: sweep the compositions this run will actually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visit, and print the factor at each one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741485" y="6899605"/>
            <a:ext cx="4758309" cy="42885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Read the file, then scale every energy to kJ once the whole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file has been read, never as the lines arrive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62172" y="8230971"/>
            <a:ext cx="2916936" cy="76535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202020"/>
                </a:solidFill>
                <a:latin typeface="Calibri"/>
              </a:rPr>
              <a:t>is every species of the reaction in</a:t>
            </a:r>
          </a:p>
          <a:p>
            <a:pPr algn="ctr"/>
            <a:r>
              <a:rPr sz="1300" b="0" i="0">
                <a:solidFill>
                  <a:srgbClr val="202020"/>
                </a:solidFill>
                <a:latin typeface="Calibri"/>
              </a:rPr>
              <a:t>&lt;name_of_substrates&gt;? is chi above zero,</a:t>
            </a:r>
          </a:p>
          <a:p>
            <a:pPr algn="ctr"/>
            <a:r>
              <a:rPr sz="1300" b="0" i="0">
                <a:solidFill>
                  <a:srgbClr val="202020"/>
                </a:solidFill>
                <a:latin typeface="Calibri"/>
              </a:rPr>
              <a:t>and cmin above zero? does any organism</a:t>
            </a:r>
          </a:p>
          <a:p>
            <a:pPr algn="ctr"/>
            <a:r>
              <a:rPr sz="1300" b="0" i="0">
                <a:solidFill>
                  <a:srgbClr val="202020"/>
                </a:solidFill>
                <a:latin typeface="Calibri"/>
              </a:rPr>
              <a:t>carry two blocks?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695194" y="9871862"/>
            <a:ext cx="4850892" cy="62910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Bind each species to its lattice by name. Build the map from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organism to block, so an organism with no block costs one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array lookup and returns a factor of one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212830" y="8222056"/>
            <a:ext cx="2628900" cy="78318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202020"/>
                </a:solidFill>
                <a:latin typeface="Calibri"/>
              </a:rPr>
              <a:t>Stop before the first step.</a:t>
            </a:r>
          </a:p>
          <a:p>
            <a:pPr algn="ctr"/>
            <a:r>
              <a:rPr sz="1350" b="1" i="0">
                <a:solidFill>
                  <a:srgbClr val="202020"/>
                </a:solidFill>
                <a:latin typeface="Calibri"/>
              </a:rPr>
              <a:t>Two blocks on one organism would</a:t>
            </a:r>
          </a:p>
          <a:p>
            <a:pPr algn="ctr"/>
            <a:r>
              <a:rPr sz="1350" b="1" i="0">
                <a:solidFill>
                  <a:srgbClr val="202020"/>
                </a:solidFill>
                <a:latin typeface="Calibri"/>
              </a:rPr>
              <a:t>multiply, and a cmin of zero lets</a:t>
            </a:r>
          </a:p>
          <a:p>
            <a:pPr algn="ctr"/>
            <a:r>
              <a:rPr sz="1350" b="1" i="0">
                <a:solidFill>
                  <a:srgbClr val="202020"/>
                </a:solidFill>
                <a:latin typeface="Calibri"/>
              </a:rPr>
              <a:t>ln Q reach minus infinity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705481" y="11152022"/>
            <a:ext cx="4830318" cy="62910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The organism's own rate path returns its potential rate: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compiled kinetics, a linear program, a surrogate, a symbolic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law or a graph network. The gate does not care which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861500" y="12568885"/>
            <a:ext cx="4518279" cy="42885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Read the same concentrations that path read, and floor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each one at cmin before taking its logarithm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010662" y="13895222"/>
            <a:ext cx="4219956" cy="62910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The reaction quotient, then the free energy actually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available here, then what is left of it once the ATP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the organism must make has been paid for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730055" y="15330373"/>
            <a:ext cx="4781169" cy="42885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The factor: one minus e to the power of that, taken as zero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at or past the threshold and as one far below it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868930" y="16519093"/>
            <a:ext cx="4503420" cy="42885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Multiply every substrate rate and the growth rate by it.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Nothing else about the metabolic answer is touched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283964" y="17721529"/>
            <a:ext cx="1673352" cy="40142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more gated organisms</a:t>
            </a:r>
          </a:p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in this voxel?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583430" y="19037808"/>
            <a:ext cx="1074420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202020"/>
                </a:solidFill>
                <a:latin typeface="Calibri"/>
              </a:rPr>
              <a:t>more voxels?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802761" y="20057364"/>
            <a:ext cx="2635758" cy="2286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450" b="1" i="0">
                <a:solidFill>
                  <a:srgbClr val="202020"/>
                </a:solidFill>
                <a:latin typeface="Calibri"/>
              </a:rPr>
              <a:t>back to the solve loop of Figure 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10896" y="306324"/>
            <a:ext cx="11618595" cy="3383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202020"/>
                </a:solidFill>
                <a:latin typeface="Calibri"/>
              </a:rPr>
              <a:t>The thermodynamic gate as code: from a file of energies to a rate that is allowed to run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10896" y="877824"/>
            <a:ext cx="11370564" cy="44165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0" i="1">
                <a:solidFill>
                  <a:srgbClr val="7F7F7F"/>
                </a:solidFill>
                <a:latin typeface="Calibri"/>
              </a:rPr>
              <a:t>Read straight down. The gate makes no rate of its own. It multiplies the rate whichever path the organism already uses has just returned, which is</a:t>
            </a:r>
          </a:p>
          <a:p>
            <a:pPr algn="l"/>
            <a:r>
              <a:rPr sz="1500" b="0" i="1">
                <a:solidFill>
                  <a:srgbClr val="7F7F7F"/>
                </a:solidFill>
                <a:latin typeface="Calibri"/>
              </a:rPr>
              <a:t>why the green band sits inside the box marked in red in Figure 1 rather than beside it.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180576" y="1476756"/>
            <a:ext cx="1938528" cy="2286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02020"/>
                </a:solidFill>
                <a:latin typeface="Calibri"/>
              </a:rPr>
              <a:t>what the colours mean</a:t>
            </a:r>
          </a:p>
        </p:txBody>
      </p:sp>
      <p:sp>
        <p:nvSpPr>
          <p:cNvPr id="85" name="TextBox 84"/>
          <p:cNvSpPr txBox="1"/>
          <p:nvPr/>
        </p:nvSpPr>
        <p:spPr>
          <a:xfrm rot="16200000">
            <a:off x="-366674" y="3603879"/>
            <a:ext cx="1281988" cy="25374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before the run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865376" y="1972675"/>
            <a:ext cx="2318004" cy="240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7F7F7F"/>
                </a:solidFill>
                <a:latin typeface="Consolas"/>
              </a:rPr>
              <a:t>offline/thermo_curve.py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248656" y="5317236"/>
            <a:ext cx="1115568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202020"/>
                </a:solidFill>
                <a:latin typeface="Calibri"/>
              </a:rPr>
              <a:t>the .thm file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248656" y="5724144"/>
            <a:ext cx="3697605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50" b="0" i="1">
                <a:solidFill>
                  <a:srgbClr val="7F7F7F"/>
                </a:solidFill>
                <a:latin typeface="Calibri"/>
              </a:rPr>
              <a:t>is what the solver reads; the sweep only reads it too</a:t>
            </a:r>
          </a:p>
        </p:txBody>
      </p:sp>
      <p:sp>
        <p:nvSpPr>
          <p:cNvPr id="89" name="TextBox 88"/>
          <p:cNvSpPr txBox="1"/>
          <p:nvPr/>
        </p:nvSpPr>
        <p:spPr>
          <a:xfrm rot="16200000">
            <a:off x="-111556" y="8413623"/>
            <a:ext cx="771753" cy="25374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start-up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865376" y="6453235"/>
            <a:ext cx="2318004" cy="240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7F7F7F"/>
                </a:solidFill>
                <a:latin typeface="Consolas"/>
              </a:rPr>
              <a:t>src/complab3d_thermo.hh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184648" y="9418320"/>
            <a:ext cx="542925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7F7F7F"/>
                </a:solidFill>
                <a:latin typeface="Calibri"/>
              </a:rPr>
              <a:t>all fine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119872" y="8348472"/>
            <a:ext cx="276606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7F7F7F"/>
                </a:solidFill>
                <a:latin typeface="Calibri"/>
              </a:rPr>
              <a:t>no</a:t>
            </a:r>
          </a:p>
        </p:txBody>
      </p:sp>
      <p:sp>
        <p:nvSpPr>
          <p:cNvPr id="93" name="TextBox 92"/>
          <p:cNvSpPr txBox="1"/>
          <p:nvPr/>
        </p:nvSpPr>
        <p:spPr>
          <a:xfrm rot="16200000">
            <a:off x="-196596" y="15468219"/>
            <a:ext cx="941832" cy="25374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every step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865376" y="10753344"/>
            <a:ext cx="3662172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7F7F7F"/>
                </a:solidFill>
                <a:latin typeface="Consolas"/>
              </a:rPr>
              <a:t>inside each rate path's own processor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184648" y="19636740"/>
            <a:ext cx="276606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7F7F7F"/>
                </a:solidFill>
                <a:latin typeface="Calibri"/>
              </a:rPr>
              <a:t>no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759202" y="17675352"/>
            <a:ext cx="322326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7F7F7F"/>
                </a:solidFill>
                <a:latin typeface="Calibri"/>
              </a:rPr>
              <a:t>yes</a:t>
            </a:r>
          </a:p>
        </p:txBody>
      </p:sp>
      <p:sp>
        <p:nvSpPr>
          <p:cNvPr id="97" name="TextBox 96"/>
          <p:cNvSpPr txBox="1"/>
          <p:nvPr/>
        </p:nvSpPr>
        <p:spPr>
          <a:xfrm rot="16200000">
            <a:off x="549783" y="14584108"/>
            <a:ext cx="1296162" cy="220599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7F7F7F"/>
                </a:solidFill>
                <a:latin typeface="Calibri"/>
              </a:rPr>
              <a:t>the next organism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418320" y="4974336"/>
            <a:ext cx="4226814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202020"/>
                </a:solidFill>
                <a:latin typeface="Calibri"/>
              </a:rPr>
              <a:t>what the file has to say, and why each line is there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418320" y="5340096"/>
            <a:ext cx="5149215" cy="4133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7F7F7F"/>
                </a:solidFill>
                <a:latin typeface="Calibri"/>
              </a:rPr>
              <a:t>Only two of these have defaults worth trusting. The rest are measurements,</a:t>
            </a:r>
          </a:p>
          <a:p>
            <a:pPr algn="l"/>
            <a:r>
              <a:rPr sz="1300" b="0" i="1">
                <a:solidFill>
                  <a:srgbClr val="7F7F7F"/>
                </a:solidFill>
                <a:latin typeface="Calibri"/>
              </a:rPr>
              <a:t>and a wrong sign on the first of them shuts the gate everywhere.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418320" y="14026896"/>
            <a:ext cx="3526155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202020"/>
                </a:solidFill>
                <a:latin typeface="Calibri"/>
              </a:rPr>
              <a:t>why it is a smooth factor and not a switch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418320" y="14392656"/>
            <a:ext cx="4760595" cy="4133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7F7F7F"/>
                </a:solidFill>
                <a:latin typeface="Calibri"/>
              </a:rPr>
              <a:t>The width of the transition is chi R T ln 2, which for the shipped case is</a:t>
            </a:r>
          </a:p>
          <a:p>
            <a:pPr algn="l"/>
            <a:r>
              <a:rPr sz="1300" b="0" i="1">
                <a:solidFill>
                  <a:srgbClr val="7F7F7F"/>
                </a:solidFill>
                <a:latin typeface="Calibri"/>
              </a:rPr>
              <a:t>1.6 kJ per mole. A reaction front therefore has a thickness.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067687" y="3273552"/>
            <a:ext cx="6105906" cy="3643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50" b="0" i="1">
                <a:solidFill>
                  <a:srgbClr val="7F7F7F"/>
                </a:solidFill>
                <a:latin typeface="Calibri"/>
              </a:rPr>
              <a:t>every number comes from the literature at the temperature of the case, which is why the</a:t>
            </a:r>
          </a:p>
          <a:p>
            <a:pPr algn="ctr"/>
            <a:r>
              <a:rPr sz="1250" b="0" i="1">
                <a:solidFill>
                  <a:srgbClr val="7F7F7F"/>
                </a:solidFill>
                <a:latin typeface="Calibri"/>
              </a:rPr>
              <a:t>temperature line is mandatory and why quoting a free energy measured at 25 C is a real error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304288" y="4992624"/>
            <a:ext cx="5632704" cy="3643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50" b="0" i="1">
                <a:solidFill>
                  <a:srgbClr val="7F7F7F"/>
                </a:solidFill>
                <a:latin typeface="Calibri"/>
              </a:rPr>
              <a:t>offline/thermo_curve.py. Needed for nothing, and worth running anyway: a gate open</a:t>
            </a:r>
          </a:p>
          <a:p>
            <a:pPr algn="ctr"/>
            <a:r>
              <a:rPr sz="1250" b="0" i="1">
                <a:solidFill>
                  <a:srgbClr val="7F7F7F"/>
                </a:solidFill>
                <a:latin typeface="Calibri"/>
              </a:rPr>
              <a:t>everywhere and a gate shut everywhere are both invisible in the output afterwards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181415" y="13222224"/>
            <a:ext cx="5878449" cy="3643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50" b="0" i="1">
                <a:solidFill>
                  <a:srgbClr val="B04A4A"/>
                </a:solidFill>
                <a:latin typeface="Calibri"/>
              </a:rPr>
              <a:t>the floor is written so that it catches a value that is not a number as well, which is the only</a:t>
            </a:r>
          </a:p>
          <a:p>
            <a:pPr algn="ctr"/>
            <a:r>
              <a:rPr sz="1250" b="0" i="1">
                <a:solidFill>
                  <a:srgbClr val="B04A4A"/>
                </a:solidFill>
                <a:latin typeface="Calibri"/>
              </a:rPr>
              <a:t>place in this path where that can arrive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373600" cy="21579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406640" y="1700784"/>
            <a:ext cx="9601200" cy="1170432"/>
          </a:xfrm>
          <a:prstGeom prst="roundRect">
            <a:avLst>
              <a:gd name="adj" fmla="val 7031"/>
            </a:avLst>
          </a:prstGeom>
          <a:solidFill>
            <a:srgbClr val="FBFBFD"/>
          </a:solidFill>
          <a:ln w="11429">
            <a:solidFill>
              <a:srgbClr val="C9C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6949440" y="2176272"/>
            <a:ext cx="457200" cy="109728"/>
          </a:xfrm>
          <a:prstGeom prst="line">
            <a:avLst/>
          </a:prstGeom>
          <a:ln w="11429">
            <a:solidFill>
              <a:srgbClr val="C0C0C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406640" y="3218688"/>
            <a:ext cx="9601200" cy="2852928"/>
          </a:xfrm>
          <a:prstGeom prst="roundRect">
            <a:avLst>
              <a:gd name="adj" fmla="val 2884"/>
            </a:avLst>
          </a:prstGeom>
          <a:solidFill>
            <a:srgbClr val="FBFBFD"/>
          </a:solidFill>
          <a:ln w="11429">
            <a:solidFill>
              <a:srgbClr val="C9C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6949440" y="3931920"/>
            <a:ext cx="457200" cy="713232"/>
          </a:xfrm>
          <a:prstGeom prst="line">
            <a:avLst/>
          </a:prstGeom>
          <a:ln w="11429">
            <a:solidFill>
              <a:srgbClr val="C0C0C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406640" y="6181344"/>
            <a:ext cx="9601200" cy="2286000"/>
          </a:xfrm>
          <a:prstGeom prst="roundRect">
            <a:avLst>
              <a:gd name="adj" fmla="val 3599"/>
            </a:avLst>
          </a:prstGeom>
          <a:solidFill>
            <a:srgbClr val="FBFBFD"/>
          </a:solidFill>
          <a:ln w="11429">
            <a:solidFill>
              <a:srgbClr val="C9C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6949440" y="6601968"/>
            <a:ext cx="457200" cy="722376"/>
          </a:xfrm>
          <a:prstGeom prst="line">
            <a:avLst/>
          </a:prstGeom>
          <a:ln w="11429">
            <a:solidFill>
              <a:srgbClr val="C0C0C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406640" y="8686800"/>
            <a:ext cx="9601200" cy="1865376"/>
          </a:xfrm>
          <a:prstGeom prst="roundRect">
            <a:avLst>
              <a:gd name="adj" fmla="val 4411"/>
            </a:avLst>
          </a:prstGeom>
          <a:solidFill>
            <a:srgbClr val="FBFBFD"/>
          </a:solidFill>
          <a:ln w="11429">
            <a:solidFill>
              <a:srgbClr val="C9C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6949440" y="9107424"/>
            <a:ext cx="457200" cy="512064"/>
          </a:xfrm>
          <a:prstGeom prst="line">
            <a:avLst/>
          </a:prstGeom>
          <a:ln w="11429">
            <a:solidFill>
              <a:srgbClr val="C0C0C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406640" y="10698480"/>
            <a:ext cx="9601200" cy="4389120"/>
          </a:xfrm>
          <a:prstGeom prst="roundRect">
            <a:avLst>
              <a:gd name="adj" fmla="val 1875"/>
            </a:avLst>
          </a:prstGeom>
          <a:solidFill>
            <a:srgbClr val="FBFBFD"/>
          </a:solidFill>
          <a:ln w="11429">
            <a:solidFill>
              <a:srgbClr val="C9C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6949440" y="11448288"/>
            <a:ext cx="457200" cy="1444752"/>
          </a:xfrm>
          <a:prstGeom prst="line">
            <a:avLst/>
          </a:prstGeom>
          <a:ln w="11429">
            <a:solidFill>
              <a:srgbClr val="C0C0C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406640" y="15288768"/>
            <a:ext cx="9601200" cy="1828800"/>
          </a:xfrm>
          <a:prstGeom prst="roundRect">
            <a:avLst>
              <a:gd name="adj" fmla="val 4500"/>
            </a:avLst>
          </a:prstGeom>
          <a:solidFill>
            <a:srgbClr val="FBFBFD"/>
          </a:solidFill>
          <a:ln w="11429">
            <a:solidFill>
              <a:srgbClr val="C9C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6949440" y="15819120"/>
            <a:ext cx="457200" cy="384048"/>
          </a:xfrm>
          <a:prstGeom prst="line">
            <a:avLst/>
          </a:prstGeom>
          <a:ln w="11429">
            <a:solidFill>
              <a:srgbClr val="C0C0C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731520" y="2542032"/>
            <a:ext cx="0" cy="16349472"/>
          </a:xfrm>
          <a:prstGeom prst="line">
            <a:avLst/>
          </a:prstGeom>
          <a:ln w="1524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31520" y="18891504"/>
            <a:ext cx="1508760" cy="0"/>
          </a:xfrm>
          <a:prstGeom prst="line">
            <a:avLst/>
          </a:prstGeom>
          <a:ln w="1524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31520" y="2249424"/>
            <a:ext cx="914400" cy="0"/>
          </a:xfrm>
          <a:prstGeom prst="line">
            <a:avLst/>
          </a:prstGeom>
          <a:ln w="1524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552944" y="1810512"/>
            <a:ext cx="6345936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7F7F7F"/>
                </a:solidFill>
                <a:latin typeface="Calibri"/>
              </a:rPr>
              <a:t>the gate never computes a rate; it only says what fraction of one the energy balance allows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52944" y="3328416"/>
            <a:ext cx="6773418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7F7F7F"/>
                </a:solidFill>
                <a:latin typeface="Calibri"/>
              </a:rPr>
              <a:t>one term per species, the sign taken straight from the reaction, and every activity floored at cmin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52944" y="6291072"/>
            <a:ext cx="5849874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7F7F7F"/>
                </a:solidFill>
                <a:latin typeface="Calibri"/>
              </a:rPr>
              <a:t>the standard value, plus what the local composition does to it, plus the transfer loss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52944" y="8796528"/>
            <a:ext cx="5278374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7F7F7F"/>
                </a:solidFill>
                <a:latin typeface="Calibri"/>
              </a:rPr>
              <a:t>the organism has to make a quarter of an ATP for every turn of the reaction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52944" y="10808208"/>
            <a:ext cx="6513957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7F7F7F"/>
                </a:solidFill>
                <a:latin typeface="Calibri"/>
              </a:rPr>
              <a:t>one minus e to the power of f over chi R T, taken as zero at the threshold and one far below it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56448" y="11466576"/>
            <a:ext cx="5120640" cy="2743200"/>
          </a:xfrm>
          <a:prstGeom prst="rect">
            <a:avLst/>
          </a:prstGeom>
          <a:solidFill>
            <a:srgbClr val="FFFFFF"/>
          </a:solidFill>
          <a:ln w="10477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8156448" y="14209776"/>
            <a:ext cx="5120640" cy="0"/>
          </a:xfrm>
          <a:prstGeom prst="line">
            <a:avLst/>
          </a:prstGeom>
          <a:ln w="9525">
            <a:solidFill>
              <a:srgbClr val="E4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156448" y="12838176"/>
            <a:ext cx="5120640" cy="0"/>
          </a:xfrm>
          <a:prstGeom prst="line">
            <a:avLst/>
          </a:prstGeom>
          <a:ln w="9525">
            <a:solidFill>
              <a:srgbClr val="E4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156448" y="11466576"/>
            <a:ext cx="5120640" cy="0"/>
          </a:xfrm>
          <a:prstGeom prst="line">
            <a:avLst/>
          </a:prstGeom>
          <a:ln w="9525">
            <a:solidFill>
              <a:srgbClr val="E4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964970" y="11466576"/>
            <a:ext cx="0" cy="2743200"/>
          </a:xfrm>
          <a:prstGeom prst="line">
            <a:avLst/>
          </a:prstGeom>
          <a:ln w="9525">
            <a:solidFill>
              <a:srgbClr val="E4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312506" y="11466576"/>
            <a:ext cx="0" cy="2743200"/>
          </a:xfrm>
          <a:prstGeom prst="line">
            <a:avLst/>
          </a:prstGeom>
          <a:ln w="9525">
            <a:solidFill>
              <a:srgbClr val="E4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1323159" y="11466576"/>
            <a:ext cx="0" cy="2743200"/>
          </a:xfrm>
          <a:prstGeom prst="line">
            <a:avLst/>
          </a:prstGeom>
          <a:ln w="9525">
            <a:solidFill>
              <a:srgbClr val="E4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3007580" y="11466576"/>
            <a:ext cx="0" cy="2743200"/>
          </a:xfrm>
          <a:prstGeom prst="line">
            <a:avLst/>
          </a:prstGeom>
          <a:ln w="9525">
            <a:solidFill>
              <a:srgbClr val="E4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552944" y="15398496"/>
            <a:ext cx="3969639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7F7F7F"/>
                </a:solidFill>
                <a:latin typeface="Calibri"/>
              </a:rPr>
              <a:t>the metabolic answer is kept and only its size is changed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705088" y="4974336"/>
            <a:ext cx="6583680" cy="0"/>
          </a:xfrm>
          <a:prstGeom prst="line">
            <a:avLst/>
          </a:prstGeom>
          <a:ln w="10477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365760" y="1280160"/>
            <a:ext cx="237744" cy="182880"/>
          </a:xfrm>
          <a:prstGeom prst="roundRect">
            <a:avLst>
              <a:gd name="adj" fmla="val 20000"/>
            </a:avLst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572000" y="1280160"/>
            <a:ext cx="237744" cy="182880"/>
          </a:xfrm>
          <a:prstGeom prst="roundRect">
            <a:avLst>
              <a:gd name="adj" fmla="val 20000"/>
            </a:avLst>
          </a:prstGeom>
          <a:solidFill>
            <a:srgbClr val="B0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645920" y="1929384"/>
            <a:ext cx="5303520" cy="493776"/>
          </a:xfrm>
          <a:prstGeom prst="roundRect">
            <a:avLst>
              <a:gd name="adj" fmla="val 50000"/>
            </a:avLst>
          </a:prstGeom>
          <a:solidFill>
            <a:srgbClr val="F8A5A5"/>
          </a:solidFill>
          <a:ln w="12382">
            <a:solidFill>
              <a:srgbClr val="B0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645920" y="3630168"/>
            <a:ext cx="530352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972103" y="3529584"/>
            <a:ext cx="757809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202020"/>
                </a:solidFill>
                <a:latin typeface="Calibri"/>
              </a:rPr>
              <a:t>at the rim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210794" y="3529584"/>
            <a:ext cx="864108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202020"/>
                </a:solidFill>
                <a:latin typeface="Calibri"/>
              </a:rPr>
              <a:t>deep inside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645920" y="6300216"/>
            <a:ext cx="530352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645920" y="8805672"/>
            <a:ext cx="530352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645920" y="11146536"/>
            <a:ext cx="530352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>
            <a:off x="11323159" y="11466576"/>
            <a:ext cx="0" cy="2743200"/>
          </a:xfrm>
          <a:prstGeom prst="line">
            <a:avLst/>
          </a:prstGeom>
          <a:ln w="12382">
            <a:solidFill>
              <a:srgbClr val="7F7F7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1645920" y="15517368"/>
            <a:ext cx="530352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645920" y="17382744"/>
            <a:ext cx="53035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Diamond 44"/>
          <p:cNvSpPr/>
          <p:nvPr/>
        </p:nvSpPr>
        <p:spPr>
          <a:xfrm>
            <a:off x="2240280" y="18434304"/>
            <a:ext cx="4114800" cy="914400"/>
          </a:xfrm>
          <a:prstGeom prst="diamond">
            <a:avLst/>
          </a:prstGeom>
          <a:solidFill>
            <a:srgbClr val="FFFFFF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645920" y="19833336"/>
            <a:ext cx="5303520" cy="493776"/>
          </a:xfrm>
          <a:prstGeom prst="roundRect">
            <a:avLst>
              <a:gd name="adj" fmla="val 50000"/>
            </a:avLst>
          </a:prstGeom>
          <a:solidFill>
            <a:srgbClr val="F8A5A5"/>
          </a:solidFill>
          <a:ln w="12382">
            <a:solidFill>
              <a:srgbClr val="B0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664208" y="3648456"/>
            <a:ext cx="73152" cy="566928"/>
          </a:xfrm>
          <a:prstGeom prst="rect">
            <a:avLst/>
          </a:prstGeom>
          <a:solidFill>
            <a:srgbClr val="9CC1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664208" y="6318504"/>
            <a:ext cx="73152" cy="566928"/>
          </a:xfrm>
          <a:prstGeom prst="rect">
            <a:avLst/>
          </a:prstGeom>
          <a:solidFill>
            <a:srgbClr val="9CC1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664208" y="8823960"/>
            <a:ext cx="73152" cy="566928"/>
          </a:xfrm>
          <a:prstGeom prst="rect">
            <a:avLst/>
          </a:prstGeom>
          <a:solidFill>
            <a:srgbClr val="9CC1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664208" y="11164824"/>
            <a:ext cx="73152" cy="566928"/>
          </a:xfrm>
          <a:prstGeom prst="rect">
            <a:avLst/>
          </a:prstGeom>
          <a:solidFill>
            <a:srgbClr val="E8C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8156448" y="11466678"/>
            <a:ext cx="116378" cy="46"/>
          </a:xfrm>
          <a:prstGeom prst="line">
            <a:avLst/>
          </a:prstGeom>
          <a:ln w="19050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8272826" y="11466724"/>
            <a:ext cx="116378" cy="68"/>
          </a:xfrm>
          <a:prstGeom prst="line">
            <a:avLst/>
          </a:prstGeom>
          <a:ln w="19050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8389204" y="11466792"/>
            <a:ext cx="116378" cy="98"/>
          </a:xfrm>
          <a:prstGeom prst="line">
            <a:avLst/>
          </a:prstGeom>
          <a:ln w="19050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8505582" y="11466890"/>
            <a:ext cx="116378" cy="143"/>
          </a:xfrm>
          <a:prstGeom prst="line">
            <a:avLst/>
          </a:prstGeom>
          <a:ln w="19050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8621960" y="11467033"/>
            <a:ext cx="116378" cy="208"/>
          </a:xfrm>
          <a:prstGeom prst="line">
            <a:avLst/>
          </a:prstGeom>
          <a:ln w="19050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8738338" y="11467241"/>
            <a:ext cx="116379" cy="303"/>
          </a:xfrm>
          <a:prstGeom prst="line">
            <a:avLst/>
          </a:prstGeom>
          <a:ln w="19050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8854717" y="11467544"/>
            <a:ext cx="116378" cy="440"/>
          </a:xfrm>
          <a:prstGeom prst="line">
            <a:avLst/>
          </a:prstGeom>
          <a:ln w="19050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8971095" y="11467984"/>
            <a:ext cx="116378" cy="640"/>
          </a:xfrm>
          <a:prstGeom prst="line">
            <a:avLst/>
          </a:prstGeom>
          <a:ln w="19050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9087473" y="11468624"/>
            <a:ext cx="116378" cy="931"/>
          </a:xfrm>
          <a:prstGeom prst="line">
            <a:avLst/>
          </a:prstGeom>
          <a:ln w="19050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9203851" y="11469555"/>
            <a:ext cx="116378" cy="1355"/>
          </a:xfrm>
          <a:prstGeom prst="line">
            <a:avLst/>
          </a:prstGeom>
          <a:ln w="19050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9320229" y="11470910"/>
            <a:ext cx="116379" cy="1971"/>
          </a:xfrm>
          <a:prstGeom prst="line">
            <a:avLst/>
          </a:prstGeom>
          <a:ln w="19050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9436608" y="11472881"/>
            <a:ext cx="116378" cy="2867"/>
          </a:xfrm>
          <a:prstGeom prst="line">
            <a:avLst/>
          </a:prstGeom>
          <a:ln w="19050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9552986" y="11475748"/>
            <a:ext cx="116378" cy="4171"/>
          </a:xfrm>
          <a:prstGeom prst="line">
            <a:avLst/>
          </a:prstGeom>
          <a:ln w="19050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9669364" y="11479919"/>
            <a:ext cx="116378" cy="6066"/>
          </a:xfrm>
          <a:prstGeom prst="line">
            <a:avLst/>
          </a:prstGeom>
          <a:ln w="19050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9785742" y="11485985"/>
            <a:ext cx="116378" cy="8825"/>
          </a:xfrm>
          <a:prstGeom prst="line">
            <a:avLst/>
          </a:prstGeom>
          <a:ln w="19050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9902120" y="11494810"/>
            <a:ext cx="116378" cy="12838"/>
          </a:xfrm>
          <a:prstGeom prst="line">
            <a:avLst/>
          </a:prstGeom>
          <a:ln w="19050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10018498" y="11507648"/>
            <a:ext cx="116379" cy="18675"/>
          </a:xfrm>
          <a:prstGeom prst="line">
            <a:avLst/>
          </a:prstGeom>
          <a:ln w="19050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10134877" y="11526323"/>
            <a:ext cx="116378" cy="27166"/>
          </a:xfrm>
          <a:prstGeom prst="line">
            <a:avLst/>
          </a:prstGeom>
          <a:ln w="19050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10251255" y="11553489"/>
            <a:ext cx="116378" cy="39518"/>
          </a:xfrm>
          <a:prstGeom prst="line">
            <a:avLst/>
          </a:prstGeom>
          <a:ln w="19050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10367633" y="11593007"/>
            <a:ext cx="116378" cy="57486"/>
          </a:xfrm>
          <a:prstGeom prst="line">
            <a:avLst/>
          </a:prstGeom>
          <a:ln w="19050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10484011" y="11650493"/>
            <a:ext cx="116378" cy="83623"/>
          </a:xfrm>
          <a:prstGeom prst="line">
            <a:avLst/>
          </a:prstGeom>
          <a:ln w="19050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10600389" y="11734116"/>
            <a:ext cx="116379" cy="121645"/>
          </a:xfrm>
          <a:prstGeom prst="line">
            <a:avLst/>
          </a:prstGeom>
          <a:ln w="19050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10716768" y="11855761"/>
            <a:ext cx="116378" cy="176953"/>
          </a:xfrm>
          <a:prstGeom prst="line">
            <a:avLst/>
          </a:prstGeom>
          <a:ln w="19050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10833146" y="12032714"/>
            <a:ext cx="116378" cy="257411"/>
          </a:xfrm>
          <a:prstGeom prst="line">
            <a:avLst/>
          </a:prstGeom>
          <a:ln w="19050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10949524" y="12290125"/>
            <a:ext cx="116378" cy="374451"/>
          </a:xfrm>
          <a:prstGeom prst="line">
            <a:avLst/>
          </a:prstGeom>
          <a:ln w="19050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11065902" y="12664576"/>
            <a:ext cx="116378" cy="544704"/>
          </a:xfrm>
          <a:prstGeom prst="line">
            <a:avLst/>
          </a:prstGeom>
          <a:ln w="19050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11182280" y="13209280"/>
            <a:ext cx="116378" cy="792370"/>
          </a:xfrm>
          <a:prstGeom prst="line">
            <a:avLst/>
          </a:prstGeom>
          <a:ln w="19050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11298658" y="14001650"/>
            <a:ext cx="116379" cy="208126"/>
          </a:xfrm>
          <a:prstGeom prst="line">
            <a:avLst/>
          </a:prstGeom>
          <a:ln w="19050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11415037" y="14209776"/>
            <a:ext cx="116378" cy="0"/>
          </a:xfrm>
          <a:prstGeom prst="line">
            <a:avLst/>
          </a:prstGeom>
          <a:ln w="19050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11531415" y="14209776"/>
            <a:ext cx="116378" cy="0"/>
          </a:xfrm>
          <a:prstGeom prst="line">
            <a:avLst/>
          </a:prstGeom>
          <a:ln w="19050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11647793" y="14209776"/>
            <a:ext cx="116378" cy="0"/>
          </a:xfrm>
          <a:prstGeom prst="line">
            <a:avLst/>
          </a:prstGeom>
          <a:ln w="19050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11764171" y="14209776"/>
            <a:ext cx="116378" cy="0"/>
          </a:xfrm>
          <a:prstGeom prst="line">
            <a:avLst/>
          </a:prstGeom>
          <a:ln w="19050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11880549" y="14209776"/>
            <a:ext cx="116379" cy="0"/>
          </a:xfrm>
          <a:prstGeom prst="line">
            <a:avLst/>
          </a:prstGeom>
          <a:ln w="19050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11996928" y="14209776"/>
            <a:ext cx="116378" cy="0"/>
          </a:xfrm>
          <a:prstGeom prst="line">
            <a:avLst/>
          </a:prstGeom>
          <a:ln w="19050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12113306" y="14209776"/>
            <a:ext cx="116378" cy="0"/>
          </a:xfrm>
          <a:prstGeom prst="line">
            <a:avLst/>
          </a:prstGeom>
          <a:ln w="19050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12229684" y="14209776"/>
            <a:ext cx="116378" cy="0"/>
          </a:xfrm>
          <a:prstGeom prst="line">
            <a:avLst/>
          </a:prstGeom>
          <a:ln w="19050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12346062" y="14209776"/>
            <a:ext cx="116378" cy="0"/>
          </a:xfrm>
          <a:prstGeom prst="line">
            <a:avLst/>
          </a:prstGeom>
          <a:ln w="19050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12462440" y="14209776"/>
            <a:ext cx="116378" cy="0"/>
          </a:xfrm>
          <a:prstGeom prst="line">
            <a:avLst/>
          </a:prstGeom>
          <a:ln w="19050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12578818" y="14209776"/>
            <a:ext cx="116379" cy="0"/>
          </a:xfrm>
          <a:prstGeom prst="line">
            <a:avLst/>
          </a:prstGeom>
          <a:ln w="19050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12695197" y="14209776"/>
            <a:ext cx="116378" cy="0"/>
          </a:xfrm>
          <a:prstGeom prst="line">
            <a:avLst/>
          </a:prstGeom>
          <a:ln w="19050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12811575" y="14209776"/>
            <a:ext cx="116378" cy="0"/>
          </a:xfrm>
          <a:prstGeom prst="line">
            <a:avLst/>
          </a:prstGeom>
          <a:ln w="19050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12927953" y="14209776"/>
            <a:ext cx="116378" cy="0"/>
          </a:xfrm>
          <a:prstGeom prst="line">
            <a:avLst/>
          </a:prstGeom>
          <a:ln w="19050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13044331" y="14209776"/>
            <a:ext cx="116378" cy="0"/>
          </a:xfrm>
          <a:prstGeom prst="line">
            <a:avLst/>
          </a:prstGeom>
          <a:ln w="19050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13160709" y="14209776"/>
            <a:ext cx="116379" cy="0"/>
          </a:xfrm>
          <a:prstGeom prst="line">
            <a:avLst/>
          </a:prstGeom>
          <a:ln w="19050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Rectangle 94"/>
          <p:cNvSpPr/>
          <p:nvPr/>
        </p:nvSpPr>
        <p:spPr>
          <a:xfrm>
            <a:off x="1664208" y="15535656"/>
            <a:ext cx="73152" cy="566928"/>
          </a:xfrm>
          <a:prstGeom prst="rect">
            <a:avLst/>
          </a:prstGeom>
          <a:solidFill>
            <a:srgbClr val="E8C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664208" y="17401032"/>
            <a:ext cx="73152" cy="530352"/>
          </a:xfrm>
          <a:prstGeom prst="rect">
            <a:avLst/>
          </a:prstGeom>
          <a:solidFill>
            <a:srgbClr val="9CC1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7" name="Connector 96"/>
          <p:cNvCxnSpPr/>
          <p:nvPr/>
        </p:nvCxnSpPr>
        <p:spPr>
          <a:xfrm>
            <a:off x="4297680" y="2423160"/>
            <a:ext cx="0" cy="1207008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4297680" y="4233672"/>
            <a:ext cx="0" cy="2066544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4297680" y="6903720"/>
            <a:ext cx="0" cy="1901952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4297680" y="9409176"/>
            <a:ext cx="0" cy="1737360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4297680" y="11750040"/>
            <a:ext cx="0" cy="3767328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4297680" y="16120872"/>
            <a:ext cx="0" cy="1261872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4297680" y="17949672"/>
            <a:ext cx="0" cy="484632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4297680" y="19348704"/>
            <a:ext cx="0" cy="484632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731520" y="2249424"/>
            <a:ext cx="0" cy="329184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 rot="16200000">
            <a:off x="150876" y="10423588"/>
            <a:ext cx="941832" cy="220599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7F7F7F"/>
                </a:solidFill>
                <a:latin typeface="Calibri"/>
              </a:rPr>
              <a:t>the next one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10896" y="269748"/>
            <a:ext cx="8963406" cy="3383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202020"/>
                </a:solidFill>
                <a:latin typeface="Calibri"/>
              </a:rPr>
              <a:t>Inside the gate: the four equations, on two voxels of one aggregate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10896" y="768096"/>
            <a:ext cx="11887200" cy="43525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0" i="1">
                <a:solidFill>
                  <a:srgbClr val="7F7F7F"/>
                </a:solidFill>
                <a:latin typeface="Calibri"/>
              </a:rPr>
              <a:t>Every number below is computed from the constants in the shipped aom.thm at the two compositions the offline sweep runs between, so any line can be</a:t>
            </a:r>
          </a:p>
          <a:p>
            <a:pPr algn="l"/>
            <a:r>
              <a:rPr sz="1500" b="0" i="1">
                <a:solidFill>
                  <a:srgbClr val="7F7F7F"/>
                </a:solidFill>
                <a:latin typeface="Calibri"/>
              </a:rPr>
              <a:t>checked with a calculator. The rim voxel is drawn in blue and the interior voxel in red throughout.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58368" y="1261872"/>
            <a:ext cx="1840230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202020"/>
                </a:solidFill>
                <a:latin typeface="Calibri"/>
              </a:rPr>
              <a:t>the rim of the aggregate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864608" y="1261872"/>
            <a:ext cx="1073277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202020"/>
                </a:solidFill>
                <a:latin typeface="Calibri"/>
              </a:rPr>
              <a:t>deep inside it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741485" y="2061972"/>
            <a:ext cx="3112389" cy="2286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START:  the rate its path just returned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644384" y="2103120"/>
            <a:ext cx="6333363" cy="60716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02020"/>
                </a:solidFill>
                <a:latin typeface="Calibri"/>
              </a:rPr>
              <a:t>The compiled kinetics of example 19 hand it a growth rate of 3.06e-6 per second at the rim.</a:t>
            </a:r>
          </a:p>
          <a:p>
            <a:pPr algn="l"/>
            <a:r>
              <a:rPr sz="1300" b="0" i="0">
                <a:solidFill>
                  <a:srgbClr val="202020"/>
                </a:solidFill>
                <a:latin typeface="Calibri"/>
              </a:rPr>
              <a:t>Everything below decides what that becomes. The same four equations sit in front of a linear</a:t>
            </a:r>
          </a:p>
          <a:p>
            <a:pPr algn="l"/>
            <a:r>
              <a:rPr sz="1300" b="0" i="0">
                <a:solidFill>
                  <a:srgbClr val="202020"/>
                </a:solidFill>
                <a:latin typeface="Calibri"/>
              </a:rPr>
              <a:t>program, a surrogate, a symbolic law and a graph network without changing a line.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1828800" y="379476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4A4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3247263" y="3720693"/>
            <a:ext cx="2612898" cy="42245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The reaction quotient, as a sum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of logarithms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644384" y="3520440"/>
            <a:ext cx="1207008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7F7F7F"/>
                </a:solidFill>
                <a:latin typeface="Consolas"/>
              </a:rPr>
              <a:t>nu   species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644384" y="3776472"/>
            <a:ext cx="1024128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02020"/>
                </a:solidFill>
                <a:latin typeface="Consolas"/>
              </a:rPr>
              <a:t>-1   CH4  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244584" y="3776472"/>
            <a:ext cx="2212848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2E6DA4"/>
                </a:solidFill>
                <a:latin typeface="Consolas"/>
              </a:rPr>
              <a:t>0.01       -&gt;   +4.6052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2536424" y="3776472"/>
            <a:ext cx="2212848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B04A4A"/>
                </a:solidFill>
                <a:latin typeface="Consolas"/>
              </a:rPr>
              <a:t>0.002      -&gt;   +6.2146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644384" y="4050792"/>
            <a:ext cx="1024128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02020"/>
                </a:solidFill>
                <a:latin typeface="Consolas"/>
              </a:rPr>
              <a:t>-1   SO4  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244584" y="4050792"/>
            <a:ext cx="2212848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2E6DA4"/>
                </a:solidFill>
                <a:latin typeface="Consolas"/>
              </a:rPr>
              <a:t>0.028      -&gt;   +3.5756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2536424" y="4050792"/>
            <a:ext cx="2212848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B04A4A"/>
                </a:solidFill>
                <a:latin typeface="Consolas"/>
              </a:rPr>
              <a:t>0.02       -&gt;   +3.9120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644384" y="4325112"/>
            <a:ext cx="1024128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02020"/>
                </a:solidFill>
                <a:latin typeface="Consolas"/>
              </a:rPr>
              <a:t>+1   HS   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244584" y="4325112"/>
            <a:ext cx="2212848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2E6DA4"/>
                </a:solidFill>
                <a:latin typeface="Consolas"/>
              </a:rPr>
              <a:t>1e-05      -&gt;  -11.5129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2536424" y="4325112"/>
            <a:ext cx="2212848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B04A4A"/>
                </a:solidFill>
                <a:latin typeface="Consolas"/>
              </a:rPr>
              <a:t>0.012      -&gt;   -4.4228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644384" y="4599432"/>
            <a:ext cx="1024128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02020"/>
                </a:solidFill>
                <a:latin typeface="Consolas"/>
              </a:rPr>
              <a:t>+1   HCO3 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9244584" y="4599432"/>
            <a:ext cx="2212848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2E6DA4"/>
                </a:solidFill>
                <a:latin typeface="Consolas"/>
              </a:rPr>
              <a:t>0.0023     -&gt;   -6.0748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2536424" y="4599432"/>
            <a:ext cx="2212848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B04A4A"/>
                </a:solidFill>
                <a:latin typeface="Consolas"/>
              </a:rPr>
              <a:t>0.0145     -&gt;   -4.2336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9550336" y="5038344"/>
            <a:ext cx="1601343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2E6DA4"/>
                </a:solidFill>
                <a:latin typeface="Consolas"/>
              </a:rPr>
              <a:t>ln Q =  -9.4071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2842176" y="5038344"/>
            <a:ext cx="1601343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B04A4A"/>
                </a:solidFill>
                <a:latin typeface="Consolas"/>
              </a:rPr>
              <a:t>ln Q =  +1.4702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44384" y="5376672"/>
            <a:ext cx="6497955" cy="53766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02020"/>
                </a:solidFill>
                <a:latin typeface="Calibri"/>
              </a:rPr>
              <a:t>A negative ln Q means the products are scarce and the reaction is far from equilibrium. Deep in the</a:t>
            </a:r>
          </a:p>
          <a:p>
            <a:pPr algn="l"/>
            <a:r>
              <a:rPr sz="1250" b="0" i="0">
                <a:solidFill>
                  <a:srgbClr val="202020"/>
                </a:solidFill>
                <a:latin typeface="Calibri"/>
              </a:rPr>
              <a:t>aggregate the sulfide it has already made has built up, so the same reaction is close to its own</a:t>
            </a:r>
          </a:p>
          <a:p>
            <a:pPr algn="l"/>
            <a:r>
              <a:rPr sz="1250" b="0" i="0">
                <a:solidFill>
                  <a:srgbClr val="202020"/>
                </a:solidFill>
                <a:latin typeface="Calibri"/>
              </a:rPr>
              <a:t>equilibrium and ln Q has changed sign. Nothing else about the two voxels differs.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1828800" y="6464808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4A4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3543300" y="6390741"/>
            <a:ext cx="2020824" cy="42245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The free energy actually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available here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7644384" y="6620256"/>
            <a:ext cx="494919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6DA4"/>
                </a:solidFill>
                <a:latin typeface="Calibri"/>
              </a:rPr>
              <a:t>rim    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558784" y="6611112"/>
            <a:ext cx="5181219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E6DA4"/>
                </a:solidFill>
                <a:latin typeface="Consolas"/>
              </a:rPr>
              <a:t>dG  =  -33.12  -21.6772  +25.7  =  -29.0972  kJ/mol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558784" y="6862572"/>
            <a:ext cx="3454146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7F7F7F"/>
                </a:solidFill>
                <a:latin typeface="Consolas"/>
              </a:rPr>
              <a:t>        dG0        R T ln Q       loss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644384" y="7333488"/>
            <a:ext cx="546354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B04A4A"/>
                </a:solidFill>
                <a:latin typeface="Calibri"/>
              </a:rPr>
              <a:t>inner  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558784" y="7324344"/>
            <a:ext cx="4982337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B04A4A"/>
                </a:solidFill>
                <a:latin typeface="Consolas"/>
              </a:rPr>
              <a:t>dG  =  -33.12  +3.3878  +25.7  =  -4.0322  kJ/mol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8558784" y="7575804"/>
            <a:ext cx="3454146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7F7F7F"/>
                </a:solidFill>
                <a:latin typeface="Consolas"/>
              </a:rPr>
              <a:t>        dG0        R T ln Q       loss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7644384" y="7936992"/>
            <a:ext cx="6462522" cy="53766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02020"/>
                </a:solidFill>
                <a:latin typeface="Calibri"/>
              </a:rPr>
              <a:t>R T is 2.304 kJ/mol at 4 C, which is why the temperature line is mandatory: a free energy quoted at</a:t>
            </a:r>
          </a:p>
          <a:p>
            <a:pPr algn="l"/>
            <a:r>
              <a:rPr sz="1250" b="0" i="0">
                <a:solidFill>
                  <a:srgbClr val="202020"/>
                </a:solidFill>
                <a:latin typeface="Calibri"/>
              </a:rPr>
              <a:t>25 C is a different number. The 25.7 is the one tuned quantity in the whole case, fixed by the</a:t>
            </a:r>
          </a:p>
          <a:p>
            <a:pPr algn="l"/>
            <a:r>
              <a:rPr sz="1250" b="0" i="0">
                <a:solidFill>
                  <a:srgbClr val="202020"/>
                </a:solidFill>
                <a:latin typeface="Calibri"/>
              </a:rPr>
              <a:t>measured growth efficiency of these consortia and not by anything in the energy accounting.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1828800" y="8970264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4A4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3497580" y="8896197"/>
            <a:ext cx="2112264" cy="42245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What is left once the ATP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has been paid for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7644384" y="9144000"/>
            <a:ext cx="494919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6DA4"/>
                </a:solidFill>
                <a:latin typeface="Calibri"/>
              </a:rPr>
              <a:t>rim    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8558784" y="9134856"/>
            <a:ext cx="5181219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E6DA4"/>
                </a:solidFill>
                <a:latin typeface="Consolas"/>
              </a:rPr>
              <a:t>f  =  -29.0972  +  0.25 x 50.0  =  -16.5972  kJ/mol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7644384" y="9473184"/>
            <a:ext cx="546354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B04A4A"/>
                </a:solidFill>
                <a:latin typeface="Calibri"/>
              </a:rPr>
              <a:t>inner  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8558784" y="9464040"/>
            <a:ext cx="5181219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B04A4A"/>
                </a:solidFill>
                <a:latin typeface="Consolas"/>
              </a:rPr>
              <a:t>f  =   -4.0322  +  0.25 x 50.0  =   +8.4678  kJ/mol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7644384" y="9966960"/>
            <a:ext cx="6425946" cy="53766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02020"/>
                </a:solidFill>
                <a:latin typeface="Calibri"/>
              </a:rPr>
              <a:t>Negative means there is energy left over. Positive means the reaction cannot pay for the ATP and</a:t>
            </a:r>
          </a:p>
          <a:p>
            <a:pPr algn="l"/>
            <a:r>
              <a:rPr sz="1250" b="0" i="0">
                <a:solidFill>
                  <a:srgbClr val="202020"/>
                </a:solidFill>
                <a:latin typeface="Calibri"/>
              </a:rPr>
              <a:t>nothing runs. The threshold, 12.5 kJ/mol, sits inside the 10 to 20 band measured for methanogens</a:t>
            </a:r>
          </a:p>
          <a:p>
            <a:pPr algn="l"/>
            <a:r>
              <a:rPr sz="1250" b="0" i="0">
                <a:solidFill>
                  <a:srgbClr val="202020"/>
                </a:solidFill>
                <a:latin typeface="Calibri"/>
              </a:rPr>
              <a:t>and sulfate reducers, which is the check that it is a physical number and not a fitted one.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1828800" y="11311128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4A4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4094797" y="11333988"/>
            <a:ext cx="917829" cy="2286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The factor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7746111" y="14104620"/>
            <a:ext cx="373761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7F7F7F"/>
                </a:solidFill>
                <a:latin typeface="Consolas"/>
              </a:rPr>
              <a:t>0.0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7746111" y="12733020"/>
            <a:ext cx="373761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7F7F7F"/>
                </a:solidFill>
                <a:latin typeface="Consolas"/>
              </a:rPr>
              <a:t>0.5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7746111" y="11361420"/>
            <a:ext cx="373761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7F7F7F"/>
                </a:solidFill>
                <a:latin typeface="Consolas"/>
              </a:rPr>
              <a:t>1.0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8778089" y="14232636"/>
            <a:ext cx="373761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7F7F7F"/>
                </a:solidFill>
                <a:latin typeface="Consolas"/>
              </a:rPr>
              <a:t>-30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0125626" y="14232636"/>
            <a:ext cx="373761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7F7F7F"/>
                </a:solidFill>
                <a:latin typeface="Consolas"/>
              </a:rPr>
              <a:t>-20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1048268" y="14232636"/>
            <a:ext cx="549783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7F7F7F"/>
                </a:solidFill>
                <a:latin typeface="Consolas"/>
              </a:rPr>
              <a:t>-12.5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2908711" y="14232636"/>
            <a:ext cx="197739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7F7F7F"/>
                </a:solidFill>
                <a:latin typeface="Consolas"/>
              </a:rPr>
              <a:t>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1341447" y="11594592"/>
            <a:ext cx="934974" cy="36941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7F7F7F"/>
                </a:solidFill>
                <a:latin typeface="Calibri"/>
              </a:rPr>
              <a:t>the threshold,</a:t>
            </a:r>
          </a:p>
          <a:p>
            <a:pPr algn="l"/>
            <a:r>
              <a:rPr sz="1150" b="0" i="1">
                <a:solidFill>
                  <a:srgbClr val="7F7F7F"/>
                </a:solidFill>
                <a:latin typeface="Calibri"/>
              </a:rPr>
              <a:t>−12.5 kJ/mol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9180355" y="11539942"/>
            <a:ext cx="653796" cy="36941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2E6DA4"/>
                </a:solidFill>
                <a:latin typeface="Calibri"/>
              </a:rPr>
              <a:t>rim</a:t>
            </a:r>
          </a:p>
          <a:p>
            <a:pPr algn="ctr"/>
            <a:r>
              <a:rPr sz="1150" b="1" i="0">
                <a:solidFill>
                  <a:srgbClr val="2E6DA4"/>
                </a:solidFill>
                <a:latin typeface="Calibri"/>
              </a:rPr>
              <a:t>F = 0.999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2080750" y="13769035"/>
            <a:ext cx="657225" cy="36941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B04A4A"/>
                </a:solidFill>
                <a:latin typeface="Calibri"/>
              </a:rPr>
              <a:t>inner</a:t>
            </a:r>
          </a:p>
          <a:p>
            <a:pPr algn="ctr"/>
            <a:r>
              <a:rPr sz="1150" b="1" i="0">
                <a:solidFill>
                  <a:srgbClr val="B04A4A"/>
                </a:solidFill>
                <a:latin typeface="Calibri"/>
              </a:rPr>
              <a:t>F = 0.000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9212580" y="14511528"/>
            <a:ext cx="3008376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7F7F7F"/>
                </a:solidFill>
                <a:latin typeface="Calibri"/>
              </a:rPr>
              <a:t>the free energy available,  dG,  in kJ per mole</a:t>
            </a:r>
          </a:p>
        </p:txBody>
      </p:sp>
      <p:sp>
        <p:nvSpPr>
          <p:cNvPr id="160" name="TextBox 159"/>
          <p:cNvSpPr txBox="1"/>
          <p:nvPr/>
        </p:nvSpPr>
        <p:spPr>
          <a:xfrm rot="16200000">
            <a:off x="7354062" y="12727876"/>
            <a:ext cx="800100" cy="220599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7F7F7F"/>
                </a:solidFill>
                <a:latin typeface="Calibri"/>
              </a:rPr>
              <a:t>the factor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3770864" y="11210544"/>
            <a:ext cx="2890647" cy="293339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02020"/>
                </a:solidFill>
                <a:latin typeface="Calibri"/>
              </a:rPr>
              <a:t>The curve is the whole of the method.</a:t>
            </a:r>
          </a:p>
          <a:p>
            <a:pPr algn="l"/>
            <a:r>
              <a:rPr sz="1300" b="0" i="0">
                <a:solidFill>
                  <a:srgbClr val="202020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202020"/>
                </a:solidFill>
                <a:latin typeface="Calibri"/>
              </a:rPr>
              <a:t>Left of the threshold the reaction can pay</a:t>
            </a:r>
          </a:p>
          <a:p>
            <a:pPr algn="l"/>
            <a:r>
              <a:rPr sz="1300" b="0" i="0">
                <a:solidFill>
                  <a:srgbClr val="202020"/>
                </a:solidFill>
                <a:latin typeface="Calibri"/>
              </a:rPr>
              <a:t>for its ATP and the factor climbs to one.</a:t>
            </a:r>
          </a:p>
          <a:p>
            <a:pPr algn="l"/>
            <a:r>
              <a:rPr sz="1300" b="0" i="0">
                <a:solidFill>
                  <a:srgbClr val="202020"/>
                </a:solidFill>
                <a:latin typeface="Calibri"/>
              </a:rPr>
              <a:t>Right of it nothing runs at all.</a:t>
            </a:r>
          </a:p>
          <a:p>
            <a:pPr algn="l"/>
            <a:r>
              <a:rPr sz="1300" b="0" i="0">
                <a:solidFill>
                  <a:srgbClr val="202020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202020"/>
                </a:solidFill>
                <a:latin typeface="Calibri"/>
              </a:rPr>
              <a:t>The climb is not a step. Its width is chi</a:t>
            </a:r>
          </a:p>
          <a:p>
            <a:pPr algn="l"/>
            <a:r>
              <a:rPr sz="1300" b="0" i="0">
                <a:solidFill>
                  <a:srgbClr val="202020"/>
                </a:solidFill>
                <a:latin typeface="Calibri"/>
              </a:rPr>
              <a:t>R T ln 2, here 1.6 kJ per mole, so the two</a:t>
            </a:r>
          </a:p>
          <a:p>
            <a:pPr algn="l"/>
            <a:r>
              <a:rPr sz="1300" b="0" i="0">
                <a:solidFill>
                  <a:srgbClr val="202020"/>
                </a:solidFill>
                <a:latin typeface="Calibri"/>
              </a:rPr>
              <a:t>voxels are not on and off: they are 0.999</a:t>
            </a:r>
          </a:p>
          <a:p>
            <a:pPr algn="l"/>
            <a:r>
              <a:rPr sz="1300" b="0" i="0">
                <a:solidFill>
                  <a:srgbClr val="202020"/>
                </a:solidFill>
                <a:latin typeface="Calibri"/>
              </a:rPr>
              <a:t>and 0.000, and everything between them</a:t>
            </a:r>
          </a:p>
          <a:p>
            <a:pPr algn="l"/>
            <a:r>
              <a:rPr sz="1300" b="0" i="0">
                <a:solidFill>
                  <a:srgbClr val="202020"/>
                </a:solidFill>
                <a:latin typeface="Calibri"/>
              </a:rPr>
              <a:t>takes a real distance to cross.</a:t>
            </a:r>
          </a:p>
          <a:p>
            <a:pPr algn="l"/>
            <a:r>
              <a:rPr sz="1300" b="0" i="0">
                <a:solidFill>
                  <a:srgbClr val="202020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202020"/>
                </a:solidFill>
                <a:latin typeface="Calibri"/>
              </a:rPr>
              <a:t>That distance is set by the chemistry and</a:t>
            </a:r>
          </a:p>
          <a:p>
            <a:pPr algn="l"/>
            <a:r>
              <a:rPr sz="1300" b="0" i="0">
                <a:solidFill>
                  <a:srgbClr val="202020"/>
                </a:solidFill>
                <a:latin typeface="Calibri"/>
              </a:rPr>
              <a:t>the temperature. There is no parameter</a:t>
            </a:r>
          </a:p>
          <a:p>
            <a:pPr algn="l"/>
            <a:r>
              <a:rPr sz="1300" b="0" i="0">
                <a:solidFill>
                  <a:srgbClr val="202020"/>
                </a:solidFill>
                <a:latin typeface="Calibri"/>
              </a:rPr>
              <a:t>in it to tune.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1828800" y="1568196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4A4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3143821" y="15607893"/>
            <a:ext cx="2819781" cy="42245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Multiply the rate, and the growth,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by the factor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7644384" y="15764256"/>
            <a:ext cx="494919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6DA4"/>
                </a:solidFill>
                <a:latin typeface="Calibri"/>
              </a:rPr>
              <a:t>rim    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8558784" y="15755112"/>
            <a:ext cx="4584573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E6DA4"/>
                </a:solidFill>
                <a:latin typeface="Consolas"/>
              </a:rPr>
              <a:t>3.06e-6  x  0.99926  =  3.058e-06  per second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7644384" y="16148304"/>
            <a:ext cx="546354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B04A4A"/>
                </a:solidFill>
                <a:latin typeface="Calibri"/>
              </a:rPr>
              <a:t>inner  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8558784" y="16139160"/>
            <a:ext cx="4584573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B04A4A"/>
                </a:solidFill>
                <a:latin typeface="Consolas"/>
              </a:rPr>
              <a:t>3.06e-6  x  0.00000  =  0.000e+00  per second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7644384" y="16660368"/>
            <a:ext cx="6289929" cy="53766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02020"/>
                </a:solidFill>
                <a:latin typeface="Calibri"/>
              </a:rPr>
              <a:t>Scaling the answer rather than tightening a bound is deliberate. A linear program asked for a</a:t>
            </a:r>
          </a:p>
          <a:p>
            <a:pPr algn="l"/>
            <a:r>
              <a:rPr sz="1250" b="0" i="0">
                <a:solidFill>
                  <a:srgbClr val="202020"/>
                </a:solidFill>
                <a:latin typeface="Calibri"/>
              </a:rPr>
              <a:t>smaller uptake would redistribute its whole flux pattern and could return different by-products,</a:t>
            </a:r>
          </a:p>
          <a:p>
            <a:pPr algn="l"/>
            <a:r>
              <a:rPr sz="1250" b="0" i="0">
                <a:solidFill>
                  <a:srgbClr val="202020"/>
                </a:solidFill>
                <a:latin typeface="Calibri"/>
              </a:rPr>
              <a:t>which is a modelling change. This asks only what fraction of the same answer the energy allows.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2831782" y="17454981"/>
            <a:ext cx="2931795" cy="42245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Count it, and carry the smallest and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largest factor seen anywhere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814512" y="18022824"/>
            <a:ext cx="4966335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7F7F7F"/>
                </a:solidFill>
                <a:latin typeface="Calibri"/>
              </a:rPr>
              <a:t>the end of the run says so plainly if the gate never closed, or closed everywhere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3439858" y="18690793"/>
            <a:ext cx="1715643" cy="40142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more gated organisms,</a:t>
            </a:r>
          </a:p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more voxels?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2655189" y="19965924"/>
            <a:ext cx="3284982" cy="2286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STOP:  back to the solve loop of Figure 1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352544" y="19490436"/>
            <a:ext cx="276606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7F7F7F"/>
                </a:solidFill>
                <a:latin typeface="Calibri"/>
              </a:rPr>
              <a:t>no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863090" y="18635472"/>
            <a:ext cx="322326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7F7F7F"/>
                </a:solidFill>
                <a:latin typeface="Calibri"/>
              </a:rPr>
              <a:t>yes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869376" y="3822192"/>
            <a:ext cx="193167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869376" y="6492240"/>
            <a:ext cx="193167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869376" y="8997696"/>
            <a:ext cx="193167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1869376" y="11338560"/>
            <a:ext cx="193167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9022621" y="1140461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E6DA4"/>
          </a:solidFill>
          <a:ln w="13334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ounded Rectangle 179"/>
          <p:cNvSpPr/>
          <p:nvPr/>
        </p:nvSpPr>
        <p:spPr>
          <a:xfrm>
            <a:off x="12400219" y="1414576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B04A4A"/>
          </a:solidFill>
          <a:ln w="13334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1869376" y="15709392"/>
            <a:ext cx="193167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