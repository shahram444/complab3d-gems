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7772400"/>
  <p:notesSz cx="7772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CompLaB3D solve loop: where a symbolic rate law runs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812280" y="566928"/>
            <a:ext cx="2103120" cy="256032"/>
          </a:xfrm>
          <a:prstGeom prst="rect">
            <a:avLst/>
          </a:prstGeom>
          <a:solidFill>
            <a:srgbClr val="BDD7EE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I/O and 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12280" y="877824"/>
            <a:ext cx="2103120" cy="256032"/>
          </a:xfrm>
          <a:prstGeom prst="rect">
            <a:avLst/>
          </a:prstGeom>
          <a:solidFill>
            <a:srgbClr val="F8CBAD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solver (D3Q19)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12280" y="1188720"/>
            <a:ext cx="2103120" cy="256032"/>
          </a:xfrm>
          <a:prstGeom prst="rect">
            <a:avLst/>
          </a:prstGeom>
          <a:solidFill>
            <a:srgbClr val="C6E0B4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solver (D3Q7)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12280" y="1499616"/>
            <a:ext cx="2103120" cy="256032"/>
          </a:xfrm>
          <a:prstGeom prst="rect">
            <a:avLst/>
          </a:prstGeom>
          <a:solidFill>
            <a:srgbClr val="E4D3F5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solver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12280" y="1810512"/>
            <a:ext cx="2103120" cy="256032"/>
          </a:xfrm>
          <a:prstGeom prst="rect">
            <a:avLst/>
          </a:prstGeom>
          <a:solidFill>
            <a:srgbClr val="FFE699"/>
          </a:solidFill>
          <a:ln w="9525">
            <a:solidFill>
              <a:srgbClr val="9AA5B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solver (VOP)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566928"/>
            <a:ext cx="3108960" cy="36576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XML configuration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initialize the simulation conditions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93268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325880" y="1051560"/>
            <a:ext cx="3108960" cy="365760"/>
          </a:xfrm>
          <a:prstGeom prst="rect">
            <a:avLst/>
          </a:prstGeom>
          <a:solidFill>
            <a:srgbClr val="F8CBAD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flow simulation to steady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0360" y="1417320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325880" y="1536192"/>
            <a:ext cx="3108960" cy="36576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collision step for transport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0360" y="1901952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325880" y="2020824"/>
            <a:ext cx="310896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Abiotic reaction kinetics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80360" y="2386584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25880" y="2505456"/>
            <a:ext cx="3108960" cy="365760"/>
          </a:xfrm>
          <a:prstGeom prst="rect">
            <a:avLst/>
          </a:prstGeom>
          <a:solidFill>
            <a:srgbClr val="F2B2B2"/>
          </a:solidFill>
          <a:ln w="22225">
            <a:solidFill>
              <a:srgbClr val="B0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Biotic reaction: one rate path per organism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80360" y="2871216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25880" y="2990088"/>
            <a:ext cx="3108960" cy="365760"/>
          </a:xfrm>
          <a:prstGeom prst="rect">
            <a:avLst/>
          </a:prstGeom>
          <a:solidFill>
            <a:srgbClr val="E4D3F5"/>
          </a:solidFill>
          <a:ln w="12700">
            <a:solidFill>
              <a:srgbClr val="7F7F7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chemistry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80360" y="335584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25880" y="3474720"/>
            <a:ext cx="3108960" cy="36576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reactions on wetted voxels: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and dissolution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80360" y="3840480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325880" y="3959352"/>
            <a:ext cx="3108960" cy="36576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biomass expansion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80360" y="4325112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325880" y="4443984"/>
            <a:ext cx="3108960" cy="36576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node update: seal full voxels,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emptied voxels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80360" y="4809744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920240" y="4928616"/>
            <a:ext cx="192024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 geometry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77640" y="4946904"/>
            <a:ext cx="1828800" cy="365760"/>
          </a:xfrm>
          <a:prstGeom prst="rect">
            <a:avLst/>
          </a:prstGeom>
          <a:solidFill>
            <a:srgbClr val="F8CBAD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Re-solve steady-state flow field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5193792"/>
            <a:ext cx="1371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931920" y="4974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80360" y="545896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971800" y="5440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25880" y="5577840"/>
            <a:ext cx="3108960" cy="36576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step (D3Q7)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apply boundary conditions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5312664"/>
            <a:ext cx="0" cy="448056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5760720"/>
            <a:ext cx="4572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2880360" y="5943600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920240" y="6062472"/>
            <a:ext cx="192024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save step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977640" y="6080760"/>
            <a:ext cx="1828800" cy="36576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output files (VTI)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6327648"/>
            <a:ext cx="13716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931920" y="61081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80360" y="6592824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2971800" y="6574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20240" y="6711696"/>
            <a:ext cx="1920240" cy="53035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time steps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6446520"/>
            <a:ext cx="0" cy="19202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6160" y="6638544"/>
            <a:ext cx="132588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</a:ln>
        </p:spPr>
      </p:sp>
      <p:sp>
        <p:nvSpPr>
          <p:cNvPr id="45" name="Shape 43"/>
          <p:cNvSpPr/>
          <p:nvPr/>
        </p:nvSpPr>
        <p:spPr>
          <a:xfrm>
            <a:off x="475488" y="6976872"/>
            <a:ext cx="144475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</a:ln>
        </p:spPr>
      </p:sp>
      <p:sp>
        <p:nvSpPr>
          <p:cNvPr id="46" name="Shape 44"/>
          <p:cNvSpPr/>
          <p:nvPr/>
        </p:nvSpPr>
        <p:spPr>
          <a:xfrm>
            <a:off x="475488" y="1719072"/>
            <a:ext cx="0" cy="525780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" y="1719072"/>
            <a:ext cx="85039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30352" y="6757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12064" y="4123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Δt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880360" y="7242048"/>
            <a:ext cx="0" cy="118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971800" y="7223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423160" y="7360920"/>
            <a:ext cx="914400" cy="310896"/>
          </a:xfrm>
          <a:prstGeom prst="ellipse">
            <a:avLst/>
          </a:prstGeom>
          <a:solidFill>
            <a:srgbClr val="F8A5A5"/>
          </a:solidFill>
          <a:ln w="12700">
            <a:solidFill>
              <a:srgbClr val="C0525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43600" y="2212848"/>
            <a:ext cx="3017520" cy="3611880"/>
          </a:xfrm>
          <a:prstGeom prst="rect">
            <a:avLst/>
          </a:prstGeom>
          <a:solidFill>
            <a:srgbClr val="FBFBFD"/>
          </a:solidFill>
          <a:ln w="12700">
            <a:solidFill>
              <a:srgbClr val="9AA5B1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6053328" y="2286000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biotic reaction step, per organism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053328" y="251460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interchangeable: each takes the local concentrations and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growth rate and the source terms transport needs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089904" y="2962656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kinetics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089904" y="3273552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balance analysis (GLPK / COBRApy)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089904" y="3584448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network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89904" y="3895344"/>
            <a:ext cx="2724912" cy="265176"/>
          </a:xfrm>
          <a:prstGeom prst="rect">
            <a:avLst/>
          </a:prstGeom>
          <a:solidFill>
            <a:srgbClr val="F2B2B2"/>
          </a:solidFill>
          <a:ln w="19050">
            <a:solidFill>
              <a:srgbClr val="B04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rate law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089904" y="4206240"/>
            <a:ext cx="2724912" cy="265176"/>
          </a:xfrm>
          <a:prstGeom prst="rect">
            <a:avLst/>
          </a:prstGeom>
          <a:solidFill>
            <a:srgbClr val="EFEFF3"/>
          </a:solidFill>
          <a:ln w="9525">
            <a:solidFill>
              <a:srgbClr val="D5D5D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network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089904" y="466344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a symbolic rate law: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144768" y="4901184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tree was parsed once, at start-up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6144768" y="5116068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voxel it is walked, not parsed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6144768" y="5330952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read straight off, in file order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6144768" y="5545836"/>
            <a:ext cx="26517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solver, no network, no linear algebra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34840" y="2688336"/>
            <a:ext cx="1508760" cy="-18288"/>
          </a:xfrm>
          <a:prstGeom prst="line">
            <a:avLst/>
          </a:prstGeom>
          <a:noFill/>
          <a:ln w="12700">
            <a:solidFill>
              <a:srgbClr val="B04A4A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phases, and the file that is the whole handover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over algebraic forms is slow and its answer depends on the random seed. Neither belongs inside a simulation, so it happens once, before the run.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75320" cy="169164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124712"/>
            <a:ext cx="8019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7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offline   (none of this is inside CompLaB3D)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44752"/>
            <a:ext cx="1463040" cy="45720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data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751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concentrations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rate to reproduce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121408" y="1673352"/>
            <a:ext cx="13716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258568" y="1444752"/>
            <a:ext cx="1463040" cy="45720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over forms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03704" y="19751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bred from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− × ÷ and your variables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3721608" y="1673352"/>
            <a:ext cx="13716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858768" y="1444752"/>
            <a:ext cx="1463040" cy="45720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list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803904" y="19751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expression per level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complexity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321808" y="1673352"/>
            <a:ext cx="13716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58968" y="1444752"/>
            <a:ext cx="1463040" cy="45720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one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19751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whose accuracy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live with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922008" y="1673352"/>
            <a:ext cx="13716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059168" y="1444752"/>
            <a:ext cx="1463040" cy="45720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.sym file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19751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readable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diffable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0" y="2761488"/>
            <a:ext cx="0" cy="457200"/>
          </a:xfrm>
          <a:prstGeom prst="line">
            <a:avLst/>
          </a:prstGeom>
          <a:noFill/>
          <a:ln w="2032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681728" y="28163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.sym file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681728" y="3017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thing that crosses the 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75320" cy="141732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" y="3319272"/>
            <a:ext cx="8019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703320"/>
            <a:ext cx="2148840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parse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at start-up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3977640"/>
            <a:ext cx="50292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611880" y="3703320"/>
            <a:ext cx="2148840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tree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voxel, per step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3977640"/>
            <a:ext cx="50292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263640" y="3703320"/>
            <a:ext cx="2148840" cy="54864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rates, handed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transport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37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split buys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285232"/>
            <a:ext cx="1965960" cy="420624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rebuild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538581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.sym file changes the next run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5815584"/>
            <a:ext cx="1965960" cy="420624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606040" y="591616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metabolic model, the solver and the fitting code stay offline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345936"/>
            <a:ext cx="1965960" cy="420624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citable object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64465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a scientific result a reader can open, diff and quote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876288"/>
            <a:ext cx="1965960" cy="420624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once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606040" y="697687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per voxel would cost more than the linear program it replaces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search returns is a list, not an answer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fitting starts from a form you chose and finds the numbers in it. This searches over the form itself, so nobody tells it about Monod.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417320" y="3486150"/>
            <a:ext cx="3794760" cy="0"/>
          </a:xfrm>
          <a:prstGeom prst="line">
            <a:avLst/>
          </a:prstGeom>
          <a:noFill/>
          <a:ln w="7620">
            <a:solidFill>
              <a:srgbClr val="E3E3E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17320" y="2857500"/>
            <a:ext cx="3794760" cy="0"/>
          </a:xfrm>
          <a:prstGeom prst="line">
            <a:avLst/>
          </a:prstGeom>
          <a:noFill/>
          <a:ln w="7620">
            <a:solidFill>
              <a:srgbClr val="E3E3E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417320" y="2228850"/>
            <a:ext cx="3794760" cy="0"/>
          </a:xfrm>
          <a:prstGeom prst="line">
            <a:avLst/>
          </a:prstGeom>
          <a:noFill/>
          <a:ln w="7620">
            <a:solidFill>
              <a:srgbClr val="E3E3E8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417320" y="1600200"/>
            <a:ext cx="3794760" cy="0"/>
          </a:xfrm>
          <a:prstGeom prst="line">
            <a:avLst/>
          </a:prstGeom>
          <a:noFill/>
          <a:ln w="7620">
            <a:solidFill>
              <a:srgbClr val="E3E3E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417320" y="4114800"/>
            <a:ext cx="393192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1417320" y="1371600"/>
            <a:ext cx="0" cy="274320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417320" y="4498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 (nodes in the expression)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8872" y="267462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data</a:t>
            </a:r>
            <a:endParaRPr lang="en-US" sz="950" dirty="0"/>
          </a:p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 never saw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19656" y="1801368"/>
            <a:ext cx="731520" cy="1257300"/>
          </a:xfrm>
          <a:prstGeom prst="line">
            <a:avLst/>
          </a:prstGeom>
          <a:noFill/>
          <a:ln w="1651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551176" y="3058668"/>
            <a:ext cx="731520" cy="678942"/>
          </a:xfrm>
          <a:prstGeom prst="line">
            <a:avLst/>
          </a:prstGeom>
          <a:noFill/>
          <a:ln w="1651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282696" y="3737610"/>
            <a:ext cx="731520" cy="100584"/>
          </a:xfrm>
          <a:prstGeom prst="line">
            <a:avLst/>
          </a:prstGeom>
          <a:noFill/>
          <a:ln w="1651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014216" y="3838194"/>
            <a:ext cx="658368" cy="50292"/>
          </a:xfrm>
          <a:prstGeom prst="line">
            <a:avLst/>
          </a:prstGeom>
          <a:noFill/>
          <a:ln w="1651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746504" y="1728216"/>
            <a:ext cx="146304" cy="146304"/>
          </a:xfrm>
          <a:prstGeom prst="ellipse">
            <a:avLst/>
          </a:prstGeom>
          <a:solidFill>
            <a:srgbClr val="2E6DA4"/>
          </a:solidFill>
          <a:ln w="1778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44168" y="19476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78024" y="2985516"/>
            <a:ext cx="146304" cy="146304"/>
          </a:xfrm>
          <a:prstGeom prst="ellipse">
            <a:avLst/>
          </a:prstGeom>
          <a:solidFill>
            <a:srgbClr val="2E6DA4"/>
          </a:solidFill>
          <a:ln w="17780">
            <a:solidFill>
              <a:srgbClr val="2E6DA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75688" y="32049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nodes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3637026"/>
            <a:ext cx="201168" cy="201168"/>
          </a:xfrm>
          <a:prstGeom prst="ellipse">
            <a:avLst/>
          </a:prstGeom>
          <a:solidFill>
            <a:srgbClr val="B0603A"/>
          </a:solidFill>
          <a:ln w="17780">
            <a:solidFill>
              <a:srgbClr val="B060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07208" y="388391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nodes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41064" y="3765042"/>
            <a:ext cx="146304" cy="146304"/>
          </a:xfrm>
          <a:prstGeom prst="ellipse">
            <a:avLst/>
          </a:prstGeom>
          <a:solidFill>
            <a:srgbClr val="2E6DA4"/>
          </a:solidFill>
          <a:ln w="1778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38728" y="398449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nodes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99432" y="3815334"/>
            <a:ext cx="146304" cy="146304"/>
          </a:xfrm>
          <a:prstGeom prst="ellipse">
            <a:avLst/>
          </a:prstGeom>
          <a:solidFill>
            <a:srgbClr val="2E6DA4"/>
          </a:solidFill>
          <a:ln w="1778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97096" y="403479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nodes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51176" y="307924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elbow: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to take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82696" y="3518154"/>
            <a:ext cx="0" cy="118872"/>
          </a:xfrm>
          <a:prstGeom prst="line">
            <a:avLst/>
          </a:prstGeom>
          <a:noFill/>
          <a:ln w="15240">
            <a:solidFill>
              <a:srgbClr val="B0603A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623560" y="10972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list, written out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1389888"/>
            <a:ext cx="3063240" cy="269748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42432" y="1481328"/>
            <a:ext cx="28254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 error   expression
    3       0.61   0.35*ace
    7       0.29   0.35*ace
                   /(0.05+ace)
   13       0.11   that, times
                   o2/(0.01+o2)
   21       0.086  + a correction
   34       0.073  a long one
</a:t>
            </a:r>
            <a:endParaRPr lang="en-US" sz="88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elbow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5138928"/>
            <a:ext cx="3977640" cy="566928"/>
          </a:xfrm>
          <a:prstGeom prst="rect">
            <a:avLst/>
          </a:prstGeom>
          <a:solidFill>
            <a:srgbClr val="E7F1E0"/>
          </a:solidFill>
          <a:ln w="12700">
            <a:solidFill>
              <a:srgbClr val="77A26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terms buys real accuracy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elbow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5138928"/>
            <a:ext cx="3977640" cy="566928"/>
          </a:xfrm>
          <a:prstGeom prst="rect">
            <a:avLst/>
          </a:prstGeom>
          <a:solidFill>
            <a:srgbClr val="F7E5DC"/>
          </a:solidFill>
          <a:ln w="12700">
            <a:solidFill>
              <a:srgbClr val="C0704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expression fits a little better,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it gained was noise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989320"/>
            <a:ext cx="8275320" cy="118872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5216" y="6062472"/>
            <a:ext cx="8019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the search does not know: your stoichiometry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6327648"/>
            <a:ext cx="2148840" cy="457200"/>
          </a:xfrm>
          <a:prstGeom prst="rect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fits ONE output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at a time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2852928" y="6556248"/>
            <a:ext cx="420624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364992" y="629107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fit the growth rate, then write the substrate lines by hand from the reaction. That keeps them in exact stoichiometric ratio. A separate fit per species would not, and the discrepancy would appear in the run as mass the model quietly creates or destroys.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expression, as the tree the solver walks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is parsed exactly once, at start-up. Per voxel the solver walks this tree and never looks at the text again.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75320" cy="438912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143000"/>
            <a:ext cx="8037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 growth = 0.35 * acetate / (0.05 + acetate) * o2 / (0.01 + o2)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 flipH="1">
            <a:off x="2770632" y="2112264"/>
            <a:ext cx="178308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53712" y="2112264"/>
            <a:ext cx="182880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H="1">
            <a:off x="1810512" y="2816352"/>
            <a:ext cx="96012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70632" y="2816352"/>
            <a:ext cx="96012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H="1">
            <a:off x="5468112" y="2816352"/>
            <a:ext cx="91440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382512" y="2816352"/>
            <a:ext cx="91440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H="1">
            <a:off x="1261872" y="3520440"/>
            <a:ext cx="54864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810512" y="3520440"/>
            <a:ext cx="54864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>
            <a:off x="3182112" y="3520440"/>
            <a:ext cx="54864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730752" y="3520440"/>
            <a:ext cx="54864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>
            <a:off x="6748272" y="3520440"/>
            <a:ext cx="54864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296912" y="3520440"/>
            <a:ext cx="548640" cy="374904"/>
          </a:xfrm>
          <a:prstGeom prst="line">
            <a:avLst/>
          </a:prstGeom>
          <a:noFill/>
          <a:ln w="13970">
            <a:solidFill>
              <a:srgbClr val="A9B2B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4160520" y="1783080"/>
            <a:ext cx="786384" cy="329184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2487168"/>
            <a:ext cx="786384" cy="329184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2487168"/>
            <a:ext cx="786384" cy="329184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191256"/>
            <a:ext cx="786384" cy="329184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191256"/>
            <a:ext cx="786384" cy="329184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191256"/>
            <a:ext cx="786384" cy="329184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191256"/>
            <a:ext cx="786384" cy="329184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895344"/>
            <a:ext cx="786384" cy="329184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895344"/>
            <a:ext cx="786384" cy="329184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acetate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3895344"/>
            <a:ext cx="786384" cy="329184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3895344"/>
            <a:ext cx="786384" cy="329184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acetate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895344"/>
            <a:ext cx="786384" cy="329184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895344"/>
            <a:ext cx="786384" cy="329184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480560"/>
            <a:ext cx="237744" cy="237744"/>
          </a:xfrm>
          <a:prstGeom prst="rect">
            <a:avLst/>
          </a:prstGeom>
          <a:solidFill>
            <a:srgbClr val="FFE699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3816" y="449884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54680" y="4480560"/>
            <a:ext cx="237744" cy="237744"/>
          </a:xfrm>
          <a:prstGeom prst="rect">
            <a:avLst/>
          </a:prstGeom>
          <a:solidFill>
            <a:srgbClr val="BDD7EE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65576" y="449884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variable, bound at start-up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06440" y="4480560"/>
            <a:ext cx="237744" cy="237744"/>
          </a:xfrm>
          <a:prstGeom prst="rect">
            <a:avLst/>
          </a:prstGeom>
          <a:solidFill>
            <a:srgbClr val="C6E0B4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17336" y="449884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fixed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983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language contains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285232"/>
            <a:ext cx="4754880" cy="160020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6072" y="5376672"/>
            <a:ext cx="4517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   1  1.5  1e-3  6.02E23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 a name from the vars line,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or an earlier rate output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  + - * / ^   unary minus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parentheses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  exp log log10 sqrt abs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min max pow tanh</a:t>
            </a:r>
            <a:endParaRPr lang="en-US" sz="9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  pi  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0" y="4983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the tree obeys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0" y="5285232"/>
            <a:ext cx="3246120" cy="256032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may refer to earlier outputs</a:t>
            </a:r>
            <a:endParaRPr lang="en-US" sz="930" dirty="0"/>
          </a:p>
        </p:txBody>
      </p:sp>
      <p:sp>
        <p:nvSpPr>
          <p:cNvPr id="42" name="Text 40"/>
          <p:cNvSpPr txBox="1"/>
          <p:nvPr/>
        </p:nvSpPr>
        <p:spPr>
          <a:xfrm>
            <a:off x="5541264" y="5577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first, then the substrate lines that use it</a:t>
            </a:r>
            <a:endParaRPr lang="en-US" sz="880" dirty="0"/>
          </a:p>
        </p:txBody>
      </p:sp>
      <p:sp>
        <p:nvSpPr>
          <p:cNvPr id="43" name="Text 41"/>
          <p:cNvSpPr txBox="1"/>
          <p:nvPr/>
        </p:nvSpPr>
        <p:spPr>
          <a:xfrm>
            <a:off x="5486400" y="5833872"/>
            <a:ext cx="3246120" cy="256032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order is evaluation order</a:t>
            </a:r>
            <a:endParaRPr lang="en-US" sz="930" dirty="0"/>
          </a:p>
        </p:txBody>
      </p:sp>
      <p:sp>
        <p:nvSpPr>
          <p:cNvPr id="44" name="Text 42"/>
          <p:cNvSpPr txBox="1"/>
          <p:nvPr/>
        </p:nvSpPr>
        <p:spPr>
          <a:xfrm>
            <a:off x="5541264" y="61264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 reference stops the run, it does not return zero</a:t>
            </a:r>
            <a:endParaRPr lang="en-US" sz="88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6382512"/>
            <a:ext cx="3246120" cy="256032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by zero returns zero</a:t>
            </a:r>
            <a:endParaRPr lang="en-US" sz="930" dirty="0"/>
          </a:p>
        </p:txBody>
      </p:sp>
      <p:sp>
        <p:nvSpPr>
          <p:cNvPr id="46" name="Text 44"/>
          <p:cNvSpPr txBox="1"/>
          <p:nvPr/>
        </p:nvSpPr>
        <p:spPr>
          <a:xfrm>
            <a:off x="5541264" y="667512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concentration driven to zero is survivable, not fatal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file, line by line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Aerobic growth on acetate, written out by hand from a Pareto set. Three rate lines are the whole model.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09160" cy="260604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188720"/>
            <a:ext cx="44714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aerobic growth on acetate
version 1
units   per_hour
vars    acetate o2 Bug
rate    growth  = 0.35 * acetate
                / (0.05 + acetate)
                * o2 / (0.01 + o2)
rate    acetate = -2.5 * growth * Bug
rate    o2      = -5.0 * growth * Bug
range   acetate 1e-6 5.0e-3
range   o2      1e-6 2.0e-3
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230368" y="1623060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522976" y="14950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every rate by 3600 on load; see the last figure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30368" y="1794510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522976" y="166649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the solver will bind, in any order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30368" y="2137410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522976" y="200939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name is either a substrate, or the reserved word growth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30368" y="2651760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522976" y="25237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hand from the reaction, so the two stay in exact ratio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30368" y="3166110"/>
            <a:ext cx="23774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522976" y="303809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the fit was made over; enforced, not advisory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31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CompLaB.xml: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3977640" cy="91440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" y="4297680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&lt;symbolic&gt;</a:t>
            </a:r>
            <a:endParaRPr lang="en-US" sz="86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&lt;enabled&gt;true&lt;/enabled&gt;</a:t>
            </a:r>
            <a:endParaRPr lang="en-US" sz="86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&lt;expressions_file&gt;input/growth.sym&lt;/expressions_file&gt;</a:t>
            </a:r>
            <a:endParaRPr lang="en-US" sz="86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&lt;/symbolic&gt;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754880" y="4206240"/>
            <a:ext cx="3977640" cy="91440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73752" y="4297680"/>
            <a:ext cx="3739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&lt;microbe0&gt;</a:t>
            </a:r>
            <a:endParaRPr lang="en-US" sz="86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&lt;reaction_type&gt;symbolic&lt;/reaction_type&gt;</a:t>
            </a:r>
            <a:endParaRPr lang="en-US" sz="86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6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6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&lt;/microbe0&gt;</a:t>
            </a:r>
            <a:endParaRPr lang="en-US" sz="86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440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one voxel does with the file, every reaction step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760720"/>
            <a:ext cx="1481328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" y="63367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value of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acetate, o2 and Bug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1984248" y="6012180"/>
            <a:ext cx="201168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185416" y="5760720"/>
            <a:ext cx="1481328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130552" y="63367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variable pulled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its range line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666744" y="6012180"/>
            <a:ext cx="201168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867912" y="5760720"/>
            <a:ext cx="1481328" cy="50292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813048" y="63367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of the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figure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349240" y="6012180"/>
            <a:ext cx="201168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550408" y="5760720"/>
            <a:ext cx="1481328" cy="50292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95544" y="63367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rate divided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3600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031736" y="6012180"/>
            <a:ext cx="201168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232904" y="5760720"/>
            <a:ext cx="1481328" cy="502920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63367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growth rate and</a:t>
            </a:r>
            <a:endParaRPr lang="en-US" sz="84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4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substrate rates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28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guard rails, both of them enforced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fitted formula is confident everywhere. Neither of these is printed as advice; both are applied, and the second is counted.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75320" cy="169164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124712"/>
            <a:ext cx="8019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C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 1:  units, a factor of 3600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481328"/>
            <a:ext cx="2331720" cy="502920"/>
          </a:xfrm>
          <a:prstGeom prst="rect">
            <a:avLst/>
          </a:prstGeom>
          <a:solidFill>
            <a:srgbClr val="BDD7EE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law fitted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balance output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732788"/>
            <a:ext cx="54864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657600" y="1481328"/>
            <a:ext cx="2331720" cy="502920"/>
          </a:xfrm>
          <a:prstGeom prst="rect">
            <a:avLst/>
          </a:prstGeom>
          <a:solidFill>
            <a:srgbClr val="FFE69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1732788"/>
            <a:ext cx="548640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537960" y="1481328"/>
            <a:ext cx="2331720" cy="502920"/>
          </a:xfrm>
          <a:prstGeom prst="rect">
            <a:avLst/>
          </a:prstGeom>
          <a:solidFill>
            <a:srgbClr val="F2B2B2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works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SECOND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240280"/>
            <a:ext cx="7635240" cy="347472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331720"/>
            <a:ext cx="7397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per_second   (the default)          units per_hour   -&gt;   every rate / 3600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75320" cy="2834640"/>
          </a:xfrm>
          <a:prstGeom prst="rect">
            <a:avLst/>
          </a:prstGeom>
          <a:solidFill>
            <a:srgbClr val="F7F7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2999232"/>
            <a:ext cx="8019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 2:  range, clamped and counted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417320" y="361188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739896"/>
            <a:ext cx="1920240" cy="795528"/>
          </a:xfrm>
          <a:prstGeom prst="rect">
            <a:avLst/>
          </a:prstGeom>
          <a:solidFill>
            <a:srgbClr val="D6E4F0"/>
          </a:solidFill>
          <a:ln w="1651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0" y="3904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the fit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made over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075688" y="4709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1e-6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4709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5e-3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937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fitted range of one variable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18888" y="4064508"/>
            <a:ext cx="146304" cy="146304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4279392" y="4137660"/>
            <a:ext cx="484632" cy="0"/>
          </a:xfrm>
          <a:prstGeom prst="line">
            <a:avLst/>
          </a:prstGeom>
          <a:noFill/>
          <a:ln w="17780">
            <a:solidFill>
              <a:srgbClr val="B0603A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251960" y="31363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out here is</a:t>
            </a:r>
            <a:endParaRPr lang="en-US" sz="88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80" dirty="0">
                <a:solidFill>
                  <a:srgbClr val="B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back to the edge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3401568"/>
            <a:ext cx="2743200" cy="457200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clamp is counted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3858768"/>
            <a:ext cx="0" cy="27432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760720" y="4133088"/>
            <a:ext cx="2743200" cy="457200"/>
          </a:xfrm>
          <a:prstGeom prst="rect">
            <a:avLst/>
          </a:prstGeom>
          <a:solidFill>
            <a:srgbClr val="F7F7F9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is reported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run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4590288"/>
            <a:ext cx="0" cy="27432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760720" y="4864608"/>
            <a:ext cx="2743200" cy="566928"/>
          </a:xfrm>
          <a:prstGeom prst="rect">
            <a:avLst/>
          </a:prstGeom>
          <a:solidFill>
            <a:srgbClr val="C6E0B4"/>
          </a:solidFill>
          <a:ln w="12700">
            <a:solidFill>
              <a:srgbClr val="7F7F7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extrapolated result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mistaken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fitted one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1389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with no range line is not clamped, which is the right default for a biomass density: it has no meaningful upper bound and was not a fitted input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989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two have in common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291072"/>
            <a:ext cx="8275320" cy="530352"/>
          </a:xfrm>
          <a:prstGeom prst="rect">
            <a:avLst/>
          </a:prstGeom>
          <a:solidFill>
            <a:srgbClr val="F7E5DC"/>
          </a:solidFill>
          <a:ln w="12700">
            <a:solidFill>
              <a:srgbClr val="C0704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failure announces itself: a run with the wrong units completes, and a formula outside its range returns a number rather than an error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2026-09-07T09:56:36Z</dcterms:created>
  <dcterms:modified xsi:type="dcterms:W3CDTF">2026-09-07T09:56:36Z</dcterms:modified>
</cp:coreProperties>
</file>