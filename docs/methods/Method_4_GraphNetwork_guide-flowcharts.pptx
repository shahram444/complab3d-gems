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73600" cy="24048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404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9739823"/>
            <a:ext cx="1609344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5943600"/>
            <a:ext cx="914400" cy="107899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0" y="18662904"/>
            <a:ext cx="914400" cy="91440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336" y="1938528"/>
            <a:ext cx="82296" cy="7342632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20640" y="3127248"/>
            <a:ext cx="0" cy="76809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4773168"/>
            <a:ext cx="0" cy="73152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6382512"/>
            <a:ext cx="0" cy="47548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7699248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97280" y="7278624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97280" y="5943600"/>
            <a:ext cx="0" cy="1335024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5943600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9189720"/>
            <a:ext cx="0" cy="1170432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2336" y="10268712"/>
            <a:ext cx="82296" cy="4178808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120640" y="11347704"/>
            <a:ext cx="0" cy="47548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2957048"/>
            <a:ext cx="0" cy="3931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12390120"/>
            <a:ext cx="21945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2336" y="14319504"/>
            <a:ext cx="82296" cy="9326880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120640" y="15343632"/>
            <a:ext cx="0" cy="46634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16468344"/>
            <a:ext cx="0" cy="69494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17821656"/>
            <a:ext cx="0" cy="51206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20640" y="18992088"/>
            <a:ext cx="0" cy="51206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0640" y="20162520"/>
            <a:ext cx="0" cy="47548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21515832"/>
            <a:ext cx="0" cy="32918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22686264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97280" y="22265640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97280" y="15041880"/>
            <a:ext cx="0" cy="722376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7280" y="15041880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35440" y="5212080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16943832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73184" y="618134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3184" y="669340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720547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73184" y="771753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73184" y="822960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73184" y="1791309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73184" y="1842516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3184" y="1893722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73184" y="1944928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73184" y="1996135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69471" y="1924812"/>
            <a:ext cx="261289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offline, once, outside CompLaB3D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10669" y="2455164"/>
            <a:ext cx="17305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start-up, once per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10072" y="2985516"/>
            <a:ext cx="213169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per voxel, per reaction step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80242" y="3515868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07202" y="4046220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36833" y="6281928"/>
            <a:ext cx="367817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take two dozen weights at random from each array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9957" y="6793992"/>
            <a:ext cx="397192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nudge each one up and then down by a ten-thousandth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971" y="7306056"/>
            <a:ext cx="374789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difference between the two losses is its gradient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78565" y="7818120"/>
            <a:ext cx="339471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Adam moves every weight a little way downhill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33975" y="8330184"/>
            <a:ext cx="368388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five epochs with no gain: halve the step and rewind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2525" y="18013680"/>
            <a:ext cx="402678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each species node starts as its own scaled concentration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6845" y="18525744"/>
            <a:ext cx="347814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reaction adds up the species nodes that feed 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18570" y="19037808"/>
            <a:ext cx="331470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species adds up the reactions it takes part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62550" y="19549872"/>
            <a:ext cx="362673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same weights at every node and in every voxel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37938" y="20061936"/>
            <a:ext cx="427596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one extent per reaction comes out, not one rate per species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20240" y="2359152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920240" y="3895344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20240" y="5504688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3611880" y="6858000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920240" y="8183880"/>
            <a:ext cx="6400800" cy="1005840"/>
          </a:xfrm>
          <a:prstGeom prst="roundRect">
            <a:avLst>
              <a:gd name="adj" fmla="val 7272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20240" y="1068933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2468880" y="11823192"/>
            <a:ext cx="5303520" cy="1133856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920240" y="13350240"/>
            <a:ext cx="6400800" cy="1005840"/>
          </a:xfrm>
          <a:prstGeom prst="roundRect">
            <a:avLst>
              <a:gd name="adj" fmla="val 7272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966960" y="12042648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920240" y="14740128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920240" y="1580997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920240" y="1716328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920240" y="1833372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920240" y="1950415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920240" y="20638008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iamond 76"/>
          <p:cNvSpPr/>
          <p:nvPr/>
        </p:nvSpPr>
        <p:spPr>
          <a:xfrm>
            <a:off x="3611880" y="21845016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743200" y="23024592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40317" y="2528773"/>
            <a:ext cx="5160645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stoichiometry file, and a table of states: one row per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composition, the rate of every species in it, and the growth rate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42653" y="4119829"/>
            <a:ext cx="4355973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Put every concentration on one scale, and project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species rates onto one extent per reaction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58084" y="5729173"/>
            <a:ext cx="4325112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Fit the weights: plain mean squared error, Adam,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gradients by finite difference on 24 weights per array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24006" y="7168896"/>
            <a:ext cx="9932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epochs left?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50070" y="8472373"/>
            <a:ext cx="454113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Write the .gnn file: the stoichiometry, both scalings,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training box, the readout mode, and every fitted weight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11196" y="10804093"/>
            <a:ext cx="4818888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file keyword by keyword, and check every array is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shape its header line promised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0502" y="12098426"/>
            <a:ext cx="2200275" cy="5833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is every species name in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&lt;name_of_substrates&gt;, and is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every array the right size?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09481" y="13638733"/>
            <a:ext cx="4822317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Bind each species to its lattice by name, not by position.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Store the training box, the unit scale and the readout mode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97946" y="12092482"/>
            <a:ext cx="2327148" cy="5952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Stop before the first step,</a:t>
            </a:r>
          </a:p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naming the species and listing</a:t>
            </a:r>
          </a:p>
          <a:p>
            <a:pPr algn="ctr"/>
            <a:r>
              <a:rPr sz="1400" b="1" i="0">
                <a:solidFill>
                  <a:srgbClr val="202020"/>
                </a:solidFill>
                <a:latin typeface="Calibri"/>
              </a:rPr>
              <a:t>what this run does have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1251" y="14927580"/>
            <a:ext cx="393877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this voxel's concentrations and its biomass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18638" y="15924733"/>
            <a:ext cx="4604004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Pull each concentration back inside the training box,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count the evaluation if any of them moved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18625" y="17278045"/>
            <a:ext cx="480402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Encode: scale each concentration, and give its species node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short vector of its own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72955" y="18448477"/>
            <a:ext cx="409536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Pass messages: the species speak to the reactions,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reactions speak back. Twice.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04922" y="19618909"/>
            <a:ext cx="4631436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one extent off each reaction node, then build every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species rate from the stoichiometry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98051" y="20762366"/>
            <a:ext cx="4845177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Apply the unit scale and the thermodynamic factor. Growth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multiplies biomass, and the increments go to transport,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floored at what the voxel actually holds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83430" y="22155912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02761" y="23175468"/>
            <a:ext cx="263575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back to the solve loop of Figure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0896" y="306324"/>
            <a:ext cx="10605897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graph network path as code: from a table of states to a change in one voxel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" y="877824"/>
            <a:ext cx="11418570" cy="44165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Read straight down. The yellow band runs once, before any simulation exists. The blue band runs once when the solver starts. The green band runs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in every wet voxel that holds biomass, at every reaction step, and is the box marked in red in Figure 1.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-69037" y="5482971"/>
            <a:ext cx="686714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offline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65376" y="2027539"/>
            <a:ext cx="7886700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training/make_training_data.py   then   tools/method_4_graphnet/train_graphnet.py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84648" y="784098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16402" y="703173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48656" y="9471355"/>
            <a:ext cx="108585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.gnn file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48656" y="9782251"/>
            <a:ext cx="265290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is the only thing that crosses this line</a:t>
            </a:r>
          </a:p>
        </p:txBody>
      </p:sp>
      <p:sp>
        <p:nvSpPr>
          <p:cNvPr id="105" name="TextBox 104"/>
          <p:cNvSpPr txBox="1"/>
          <p:nvPr/>
        </p:nvSpPr>
        <p:spPr>
          <a:xfrm rot="16200000">
            <a:off x="-111556" y="12231243"/>
            <a:ext cx="771753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start-up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65376" y="10357723"/>
            <a:ext cx="251002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src/complab3d_graphnet.hh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13053060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45552" y="1212494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59505" y="12883896"/>
            <a:ext cx="4804029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 network trained on CH4 cannot be bound to a run that calls it methane,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and binding it to the wrong lattice would be worse than not binding it</a:t>
            </a:r>
          </a:p>
        </p:txBody>
      </p:sp>
      <p:sp>
        <p:nvSpPr>
          <p:cNvPr id="110" name="TextBox 109"/>
          <p:cNvSpPr txBox="1"/>
          <p:nvPr/>
        </p:nvSpPr>
        <p:spPr>
          <a:xfrm rot="16200000">
            <a:off x="-196596" y="18856071"/>
            <a:ext cx="94183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step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65376" y="14408515"/>
            <a:ext cx="3566160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src/complab3d_processors_graphnet.hh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84648" y="2275484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16402" y="22018752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656082" y="18543460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voxel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320" y="5394960"/>
            <a:ext cx="2245995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inside one epoch of the fit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18320" y="5760720"/>
            <a:ext cx="4858893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There is no held-out set. The best training loss ever seen is what is kept,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so the honest check is fresh samples afterwards, not the fit itself.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18320" y="17126712"/>
            <a:ext cx="427710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inside one voxel, when the path is a graph network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18320" y="17492472"/>
            <a:ext cx="4908042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No linear program. The stoichiometry is not a penalty term in a loss: it is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the wiring, and it decides which messages exist at all.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79726" y="3218688"/>
            <a:ext cx="5481828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training/make_training_data.py writes the example table from a law you can read,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so the fit can be asked whether it found the right answer and not merely a close one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22588" y="4864608"/>
            <a:ext cx="5396103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projection is what lets the readout be exact later: a rate vector that is not a set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of reaction rates cannot be represented at all, which is the point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23147" y="16578072"/>
            <a:ext cx="5594985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the count is printed at the end of the run, and a run with more than five per cent of its</a:t>
            </a:r>
          </a:p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evaluations clamped is told to widen the ranges and fit again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404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1645920"/>
            <a:ext cx="9601200" cy="2450592"/>
          </a:xfrm>
          <a:prstGeom prst="roundRect">
            <a:avLst>
              <a:gd name="adj" fmla="val 3358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0" y="2176272"/>
            <a:ext cx="457200" cy="694944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06640" y="4297680"/>
            <a:ext cx="9601200" cy="1517904"/>
          </a:xfrm>
          <a:prstGeom prst="roundRect">
            <a:avLst>
              <a:gd name="adj" fmla="val 5421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49440" y="4718304"/>
            <a:ext cx="457200" cy="33832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6309360"/>
            <a:ext cx="9601200" cy="1828800"/>
          </a:xfrm>
          <a:prstGeom prst="roundRect">
            <a:avLst>
              <a:gd name="adj" fmla="val 45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6784848"/>
            <a:ext cx="457200" cy="438912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8796528"/>
            <a:ext cx="9601200" cy="2322576"/>
          </a:xfrm>
          <a:prstGeom prst="roundRect">
            <a:avLst>
              <a:gd name="adj" fmla="val 354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9326880"/>
            <a:ext cx="457200" cy="630936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1320272"/>
            <a:ext cx="9601200" cy="2322576"/>
          </a:xfrm>
          <a:prstGeom prst="roundRect">
            <a:avLst>
              <a:gd name="adj" fmla="val 354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1850624"/>
            <a:ext cx="457200" cy="630936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4447520"/>
            <a:ext cx="9601200" cy="27432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49440" y="14977872"/>
            <a:ext cx="457200" cy="84124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7483328"/>
            <a:ext cx="9601200" cy="2157984"/>
          </a:xfrm>
          <a:prstGeom prst="roundRect">
            <a:avLst>
              <a:gd name="adj" fmla="val 381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49440" y="18013680"/>
            <a:ext cx="457200" cy="54864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280160" y="13441680"/>
            <a:ext cx="12801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80160" y="9326880"/>
            <a:ext cx="0" cy="41148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80160" y="9326880"/>
            <a:ext cx="3657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66928" y="22512528"/>
            <a:ext cx="1993392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66928" y="4718304"/>
            <a:ext cx="0" cy="17794224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" y="4718304"/>
            <a:ext cx="1078992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52944" y="1755648"/>
            <a:ext cx="590359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reaction is the wiring: an edge exists only where the stoichiometry has a 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4407408"/>
            <a:ext cx="536524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box is the range the fit was shown, and it is enforced rather than advised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6419088"/>
            <a:ext cx="574586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scaling per species, fitted offline, and then the same six weights at every node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8906256"/>
            <a:ext cx="642480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a reaction adds up the nodes of its own species, each weighted by its stoichiometric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11430000"/>
            <a:ext cx="606704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a species adds up the reactions it takes part in, and keeps a little of what it already was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14557248"/>
            <a:ext cx="666826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number per reaction, not one per species, and this is the choice the whole method turns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17593056"/>
            <a:ext cx="405536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this multiplication is the reason the ratios come out exact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67928" y="2478024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39528" y="2478024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0625328" y="2478024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625328" y="2478024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76488" y="9628632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48088" y="9628632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533888" y="9628632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0533888" y="9628632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76488" y="12152376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48088" y="12152376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533888" y="12152376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533888" y="12152376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836408" y="15023592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08008" y="15023592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893808" y="15023592"/>
            <a:ext cx="6858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893808" y="15023592"/>
            <a:ext cx="2057400" cy="950976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56032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BDD7EE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5216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FFE699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44000" y="1152144"/>
            <a:ext cx="292608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95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645920" y="1929384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645920" y="441655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645920" y="648309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645920" y="9025128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645920" y="1154887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iamond 53"/>
          <p:cNvSpPr/>
          <p:nvPr/>
        </p:nvSpPr>
        <p:spPr>
          <a:xfrm>
            <a:off x="2560320" y="13002768"/>
            <a:ext cx="3474720" cy="877824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645920" y="14676120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645920" y="17711928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645920" y="2003450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645920" y="21223224"/>
            <a:ext cx="5303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2560320" y="22073616"/>
            <a:ext cx="3474720" cy="877824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645920" y="23289768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29016" y="2240280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500616" y="2240280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872216" y="2240280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2243816" y="2240280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94976" y="3429000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64208" y="4434840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64208" y="6501384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82128" y="6986016"/>
            <a:ext cx="100584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997696" y="7114032"/>
            <a:ext cx="54864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92640" y="6986016"/>
            <a:ext cx="822960" cy="256032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0625328" y="7114032"/>
            <a:ext cx="54864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1887200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2289536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2691872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3094208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3496544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3898880" y="7004304"/>
            <a:ext cx="402336" cy="219456"/>
          </a:xfrm>
          <a:prstGeom prst="roundRect">
            <a:avLst>
              <a:gd name="adj" fmla="val 16666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64208" y="9043416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037576" y="939088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409176" y="939088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780776" y="939088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2152376" y="939088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003536" y="10579608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8476488" y="9646920"/>
            <a:ext cx="1810512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848088" y="9646920"/>
            <a:ext cx="603504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0616184" y="9646920"/>
            <a:ext cx="603504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0780776" y="9646920"/>
            <a:ext cx="1810512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664208" y="11567160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037576" y="11914632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409176" y="11914632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780776" y="11914632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2152376" y="11914632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003536" y="13103352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 flipH="1" flipV="1">
            <a:off x="8476488" y="12170664"/>
            <a:ext cx="1810512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9848088" y="12170664"/>
            <a:ext cx="603504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16184" y="12170664"/>
            <a:ext cx="603504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80776" y="12170664"/>
            <a:ext cx="1810512" cy="905256"/>
          </a:xfrm>
          <a:prstGeom prst="line">
            <a:avLst/>
          </a:prstGeom>
          <a:ln w="13334">
            <a:solidFill>
              <a:srgbClr val="B04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297680" y="12152376"/>
            <a:ext cx="0" cy="8503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 rot="16200000">
            <a:off x="848106" y="11273980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round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64208" y="14694408"/>
            <a:ext cx="73152" cy="566928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397496" y="1478584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769096" y="1478584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140696" y="1478584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1512296" y="14785848"/>
            <a:ext cx="877824" cy="237744"/>
          </a:xfrm>
          <a:prstGeom prst="roundRect">
            <a:avLst>
              <a:gd name="adj" fmla="val 15384"/>
            </a:avLst>
          </a:prstGeom>
          <a:solidFill>
            <a:srgbClr val="BDD7EE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363456" y="15974568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9893808" y="16276320"/>
            <a:ext cx="0" cy="27432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9253728" y="16550640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664208" y="17730216"/>
            <a:ext cx="73152" cy="566928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882128" y="18251424"/>
            <a:ext cx="1280160" cy="310896"/>
          </a:xfrm>
          <a:prstGeom prst="roundRect">
            <a:avLst>
              <a:gd name="adj" fmla="val 11764"/>
            </a:avLst>
          </a:prstGeom>
          <a:solidFill>
            <a:srgbClr val="C6E0B4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619488" y="17940528"/>
            <a:ext cx="768096" cy="237744"/>
          </a:xfrm>
          <a:prstGeom prst="roundRect">
            <a:avLst>
              <a:gd name="adj" fmla="val 15384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619488" y="18214848"/>
            <a:ext cx="768096" cy="237744"/>
          </a:xfrm>
          <a:prstGeom prst="roundRect">
            <a:avLst>
              <a:gd name="adj" fmla="val 15384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619488" y="18489168"/>
            <a:ext cx="768096" cy="237744"/>
          </a:xfrm>
          <a:prstGeom prst="roundRect">
            <a:avLst>
              <a:gd name="adj" fmla="val 15384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9619488" y="18763488"/>
            <a:ext cx="768096" cy="237744"/>
          </a:xfrm>
          <a:prstGeom prst="roundRect">
            <a:avLst>
              <a:gd name="adj" fmla="val 15384"/>
            </a:avLst>
          </a:prstGeom>
          <a:solidFill>
            <a:srgbClr val="FFE699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1539728" y="17940528"/>
            <a:ext cx="118872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1539728" y="18214848"/>
            <a:ext cx="118872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1539728" y="18489168"/>
            <a:ext cx="118872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11539728" y="18763488"/>
            <a:ext cx="1188720" cy="23774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664208" y="20052792"/>
            <a:ext cx="73152" cy="53035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664208" y="21241512"/>
            <a:ext cx="73152" cy="493776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4297680" y="2423160"/>
            <a:ext cx="0" cy="19933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297680" y="5020056"/>
            <a:ext cx="0" cy="146304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297680" y="7086600"/>
            <a:ext cx="0" cy="19385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297680" y="9628632"/>
            <a:ext cx="0" cy="192024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297680" y="13880592"/>
            <a:ext cx="0" cy="7955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297680" y="15279624"/>
            <a:ext cx="0" cy="243230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297680" y="18315432"/>
            <a:ext cx="0" cy="171907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297680" y="20601432"/>
            <a:ext cx="0" cy="6217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297680" y="21753576"/>
            <a:ext cx="0" cy="32004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297680" y="22951440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 rot="16200000">
            <a:off x="-84582" y="13505116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voxel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0896" y="269748"/>
            <a:ext cx="8014716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Inside the graph network: what one evaluation does, drawn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0896" y="768096"/>
            <a:ext cx="1159687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The flow on the left has no colour on purpose. All the colour belongs to the network on the right, because that is what the evaluation moves through.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0896" y="1152144"/>
            <a:ext cx="187909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the network is drawn as: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89504" y="1152144"/>
            <a:ext cx="236029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 species node, one per substrate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81344" y="1152144"/>
            <a:ext cx="235000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 reaction node, one per reaction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73184" y="1152144"/>
            <a:ext cx="162648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 number the fit chose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77477" y="2061972"/>
            <a:ext cx="324040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START:  this voxel's four concentrations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81047" y="2253996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CH4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52647" y="2253996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SO4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168253" y="2253996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451842" y="2253996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HCO3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79024" y="3447288"/>
            <a:ext cx="2926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Consolas"/>
              </a:rPr>
              <a:t>R1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458325" y="2848356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44125" y="2848356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29925" y="2848356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515725" y="2848356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405104" y="2231136"/>
            <a:ext cx="2742057" cy="21579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shipped case is anaerobic methane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oxidation: CH4 + SO4 → HS + HCO3.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One reaction, four species.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numbers on the edges are the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stoichiometry and they are not fitted.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They decide which messages can exist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at all, which is why a rate this network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returns is a set of reaction rates by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construction rather than by a penalty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term in a loss.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828800" y="45811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307270" y="4507077"/>
            <a:ext cx="2492883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Pull each concentration inside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training box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99248" y="464972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CH4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30768" y="4649724"/>
            <a:ext cx="63779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1.2e-3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290304" y="4649724"/>
            <a:ext cx="186994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in  2.1e-5 .. 5.0e-3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699248" y="4887468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SO4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30768" y="4887468"/>
            <a:ext cx="63779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04A4A"/>
                </a:solidFill>
                <a:latin typeface="Consolas"/>
              </a:rPr>
              <a:t>9.4e-3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290304" y="4887468"/>
            <a:ext cx="186994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in  5.2e-5 .. 7.9e-3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576304" y="4887468"/>
            <a:ext cx="222199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04A4A"/>
                </a:solidFill>
                <a:latin typeface="Consolas"/>
              </a:rPr>
              <a:t>→  pulled back to 7.9e-3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699248" y="5125212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HS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30768" y="5125212"/>
            <a:ext cx="63779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4.0e-4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290304" y="5125212"/>
            <a:ext cx="186994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in  1.2e-6 .. 2.0e-3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99248" y="5362956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HCO3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430768" y="5362956"/>
            <a:ext cx="63779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onsolas"/>
              </a:rPr>
              <a:t>8.0e-4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290304" y="5362956"/>
            <a:ext cx="186994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in  1.1e-4 .. 4.0e-3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699248" y="5760720"/>
            <a:ext cx="6377940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F7F7F"/>
                </a:solidFill>
                <a:latin typeface="Calibri"/>
              </a:rPr>
              <a:t>One value moved, so this evaluation is counted once. Not once per species: a four-species network</a:t>
            </a:r>
          </a:p>
          <a:p>
            <a:pPr algn="l"/>
            <a:r>
              <a:rPr sz="1250" b="0" i="1">
                <a:solidFill>
                  <a:srgbClr val="7F7F7F"/>
                </a:solidFill>
                <a:latin typeface="Calibri"/>
              </a:rPr>
              <a:t>counting each value would report four hundred per cent of its evaluations as out of range.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828800" y="66476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141535" y="6573621"/>
            <a:ext cx="2824353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Scale, and give every species node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vector of its own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066151" y="7008876"/>
            <a:ext cx="63779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1.2e-3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75991" y="6839712"/>
            <a:ext cx="392049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F7F7F"/>
                </a:solidFill>
                <a:latin typeface="Calibri"/>
              </a:rPr>
              <a:t>scale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829228" y="7008876"/>
            <a:ext cx="549783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-0.21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713339" y="6839712"/>
            <a:ext cx="37261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F7F7F"/>
                </a:solidFill>
                <a:latin typeface="Calibri"/>
              </a:rPr>
              <a:t>tanh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873484" y="7008876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0.41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235815" y="7008876"/>
            <a:ext cx="50977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-0.08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678156" y="7008876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0.77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3080492" y="7008876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0.12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3442823" y="7008876"/>
            <a:ext cx="50977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-0.55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885164" y="7008876"/>
            <a:ext cx="429768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02020"/>
                </a:solidFill>
                <a:latin typeface="Consolas"/>
              </a:rPr>
              <a:t>0.30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639865" y="7306056"/>
            <a:ext cx="90868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the CH4 node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827264" y="7644384"/>
            <a:ext cx="6535674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Six numbers, because the file says width 6. Every species node gets six, every reaction node gets six,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and the same encoding weights are used for all of them. What tells the nodes apart is what goes in.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828800" y="91897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142678" y="9212580"/>
            <a:ext cx="2822067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species speak to the reactions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289607" y="940460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CH4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661207" y="940460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SO4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076813" y="940460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360402" y="9404604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HCO3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387584" y="10597896"/>
            <a:ext cx="2926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Consolas"/>
              </a:rPr>
              <a:t>R1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366885" y="999896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052685" y="999896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738485" y="999896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1424285" y="999896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3405104" y="9436608"/>
            <a:ext cx="2910078" cy="15764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sum runs over the species that have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an edge. A zero in the stoichiometry is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not a multiply by zero: there is no edge,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so there is no message at all.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reaction node then takes tanh of that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sum, its own bias, and a term in the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Damkohler number the file carries.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828800" y="11713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505009" y="11736324"/>
            <a:ext cx="209740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reactions speak back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289607" y="11928348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CH4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661207" y="11928348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SO4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076813" y="11928348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2360402" y="119283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HCO3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387584" y="13121640"/>
            <a:ext cx="2926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Consolas"/>
              </a:rPr>
              <a:t>R1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366885" y="12522708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52685" y="12522708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738485" y="12522708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1424285" y="12522708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3405104" y="11960352"/>
            <a:ext cx="2839212" cy="15764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Every species node becomes tanh of two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sums: one over the reactions that touch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it, one over what it already was.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Steps 3 and 4 together are one round.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shipped file asks for two, which is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what lets a species feel a species it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shares no reaction with.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803332" y="13331952"/>
            <a:ext cx="98869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rounds left?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183130" y="13185648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828800" y="148407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986659" y="14863572"/>
            <a:ext cx="313410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one extent off the reaction node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649527" y="1479956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CH4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021127" y="1479956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SO4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436733" y="1479956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720322" y="14799564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HCO3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747504" y="15992856"/>
            <a:ext cx="2926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Consolas"/>
              </a:rPr>
              <a:t>R1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726805" y="1539392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412605" y="1539392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-1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098405" y="1539392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784205" y="15393924"/>
            <a:ext cx="27660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F7F7F"/>
                </a:solidFill>
                <a:latin typeface="Consolas"/>
              </a:rPr>
              <a:t>+1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550908" y="16587216"/>
            <a:ext cx="68580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02020"/>
                </a:solidFill>
                <a:latin typeface="Consolas"/>
              </a:rPr>
              <a:t>3.1e-3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9537192" y="16870680"/>
            <a:ext cx="71323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7F7F7F"/>
                </a:solidFill>
                <a:latin typeface="Calibri"/>
              </a:rPr>
              <a:t>the extent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2673584" y="15032736"/>
            <a:ext cx="3686175" cy="15764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other readout takes a number off each species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node instead. It is the default only because a file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with no readout line means it.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difference is checkable. Chemistry fixes sulfide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made per methane eaten at exactly one. Read off the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reaction node it is one at every input; read off the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species nodes it runs from 0.76 to 1.11.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828800" y="178765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515296" y="17802453"/>
            <a:ext cx="2076831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Build the four rates from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stoichiometry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179308" y="18288000"/>
            <a:ext cx="68580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202020"/>
                </a:solidFill>
                <a:latin typeface="Consolas"/>
              </a:rPr>
              <a:t>3.1e-3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202864" y="18278856"/>
            <a:ext cx="211455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202020"/>
                </a:solidFill>
                <a:latin typeface="Calibri"/>
              </a:rPr>
              <a:t>×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860661" y="1795424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-1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442448" y="1795424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CH4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9860661" y="1822856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-1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442448" y="18228564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SO4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860661" y="1850288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+1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442448" y="1850288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HS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860661" y="18777204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+1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442448" y="18777204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HCO3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1160252" y="18278856"/>
            <a:ext cx="2103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202020"/>
                </a:solidFill>
                <a:latin typeface="Calibri"/>
              </a:rPr>
              <a:t>=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1771185" y="17954244"/>
            <a:ext cx="72580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-3.1e-3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2783312" y="17954244"/>
            <a:ext cx="125387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CH4  per hour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1771185" y="18228564"/>
            <a:ext cx="72580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-3.1e-3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2783312" y="18228564"/>
            <a:ext cx="125387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SO4  per hour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771185" y="18502884"/>
            <a:ext cx="72580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+3.1e-3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2783312" y="18502884"/>
            <a:ext cx="116586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HS  per hour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1771185" y="18777204"/>
            <a:ext cx="725805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02020"/>
                </a:solidFill>
                <a:latin typeface="Consolas"/>
              </a:rPr>
              <a:t>+3.1e-3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2783312" y="18777204"/>
            <a:ext cx="134188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HCO3  per hour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827264" y="19037808"/>
            <a:ext cx="6351651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Growth is read separately, off the average of the four species nodes, and it keeps its own scaling.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Then every one of these five numbers is divided by 3600, because the file says per hour and the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solver works per second.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020949" y="20106741"/>
            <a:ext cx="2553462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Divide by 3600, apply the gate,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multiply growth by biomass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632329" y="20674584"/>
            <a:ext cx="333070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Calibri"/>
              </a:rPr>
              <a:t>the same three lines every fitted rate path ends with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575179" y="21374100"/>
            <a:ext cx="34450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Hand the increments to transport, floored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760470" y="22402800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655189" y="23422356"/>
            <a:ext cx="328498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STOP:  back to the solve loop of Figure 1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352544" y="1417777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352544" y="2302002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183130" y="2225649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869376" y="4608576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869376" y="667512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869376" y="921715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869376" y="11740896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869376" y="14868144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868805" y="17903952"/>
            <a:ext cx="19431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9253728" y="15864840"/>
            <a:ext cx="1280160" cy="493776"/>
          </a:xfrm>
          <a:prstGeom prst="roundRect">
            <a:avLst>
              <a:gd name="adj" fmla="val 18518"/>
            </a:avLst>
          </a:prstGeom>
          <a:noFill/>
          <a:ln w="16192">
            <a:solidFill>
              <a:srgbClr val="B0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