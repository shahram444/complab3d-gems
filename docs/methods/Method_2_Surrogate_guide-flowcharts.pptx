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373600" cy="3063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651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10055656"/>
            <a:ext cx="16093440" cy="0"/>
          </a:xfrm>
          <a:prstGeom prst="line">
            <a:avLst/>
          </a:prstGeom>
          <a:ln w="11429">
            <a:solidFill>
              <a:srgbClr val="C9C9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321040" y="2743200"/>
            <a:ext cx="914400" cy="4187952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0" y="20912328"/>
            <a:ext cx="914400" cy="438912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2336" y="1938528"/>
            <a:ext cx="82296" cy="7891272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120640" y="3127248"/>
            <a:ext cx="0" cy="82296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4718304"/>
            <a:ext cx="0" cy="82296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6309360"/>
            <a:ext cx="0" cy="51206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7662672"/>
            <a:ext cx="0" cy="4846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7280" y="7242048"/>
            <a:ext cx="25146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7280" y="5925312"/>
            <a:ext cx="0" cy="1316736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5925312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20640" y="9153144"/>
            <a:ext cx="0" cy="1920240"/>
          </a:xfrm>
          <a:prstGeom prst="line">
            <a:avLst/>
          </a:prstGeom>
          <a:ln w="22859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02336" y="10981944"/>
            <a:ext cx="82296" cy="4398264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120640" y="12060936"/>
            <a:ext cx="0" cy="51206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20640" y="13780008"/>
            <a:ext cx="0" cy="50292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13176504"/>
            <a:ext cx="246888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02336" y="15526512"/>
            <a:ext cx="82296" cy="10588752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120640" y="16550640"/>
            <a:ext cx="0" cy="66751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18095976"/>
            <a:ext cx="0" cy="87782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20640" y="19632168"/>
            <a:ext cx="0" cy="84124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20640" y="21351240"/>
            <a:ext cx="0" cy="53035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20640" y="22649688"/>
            <a:ext cx="0" cy="53035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20640" y="23948136"/>
            <a:ext cx="0" cy="36576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25155144"/>
            <a:ext cx="0" cy="3383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97280" y="24734520"/>
            <a:ext cx="25146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97280" y="16248888"/>
            <a:ext cx="0" cy="8485632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97280" y="16248888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35440" y="5120640"/>
            <a:ext cx="7680960" cy="3621024"/>
          </a:xfrm>
          <a:prstGeom prst="roundRect">
            <a:avLst>
              <a:gd name="adj" fmla="val 2020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35440" y="19540728"/>
            <a:ext cx="7680960" cy="3621024"/>
          </a:xfrm>
          <a:prstGeom prst="roundRect">
            <a:avLst>
              <a:gd name="adj" fmla="val 2020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35440" y="182880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E699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0" y="2359152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BDD7EE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2889504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C6E0B4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35440" y="3419856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2B2B2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40" y="3950208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73184" y="608990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73184" y="660196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73184" y="711403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73184" y="762609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473184" y="813816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73184" y="2050999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73184" y="2102205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73184" y="2153412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473184" y="2204618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473184" y="2255824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69471" y="1924812"/>
            <a:ext cx="261289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offline, once, outside CompLaB3D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10669" y="2455164"/>
            <a:ext cx="173050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start-up, once per 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10072" y="2985516"/>
            <a:ext cx="213169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per voxel, per reaction step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80242" y="3515868"/>
            <a:ext cx="399135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guard rail: it stops the run, or changes the number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907202" y="4046220"/>
            <a:ext cx="233743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question the code asks itself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51717" y="6190488"/>
            <a:ext cx="324840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set the exchange bounds this sample asks for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68215" y="6702552"/>
            <a:ext cx="441540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solve the program with every other bound as the model has 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35093" y="7214616"/>
            <a:ext cx="408165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record the growth, and the flux on every swept exchange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63681" y="7726680"/>
            <a:ext cx="382447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an infeasible solve is a real answer: zero growth, kept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57941" y="8238744"/>
            <a:ext cx="423595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 few thousand of these, and the cell is never opened again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61395" y="20610576"/>
            <a:ext cx="382905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 format names its outputs by exchange reaction 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33404" y="21122640"/>
            <a:ext cx="368503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nothing in the run maps a reaction id to a substrate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97946" y="21634704"/>
            <a:ext cx="415594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so the substrate draw comes from the Monod term above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88243" y="22146768"/>
            <a:ext cx="397535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which means this path can consume but cannot excrete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5360" y="22658832"/>
            <a:ext cx="438111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 compiled path can, at the cost of a hand-written mapping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20240" y="2359152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920240" y="3950208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920240" y="5541264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amond 64"/>
          <p:cNvSpPr/>
          <p:nvPr/>
        </p:nvSpPr>
        <p:spPr>
          <a:xfrm>
            <a:off x="3611880" y="6821424"/>
            <a:ext cx="3017520" cy="84124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920240" y="8147304"/>
            <a:ext cx="6400800" cy="1005840"/>
          </a:xfrm>
          <a:prstGeom prst="roundRect">
            <a:avLst>
              <a:gd name="adj" fmla="val 7272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920240" y="1140256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BDD7EE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2468880" y="12573000"/>
            <a:ext cx="5303520" cy="120700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920240" y="14282928"/>
            <a:ext cx="6400800" cy="1005840"/>
          </a:xfrm>
          <a:prstGeom prst="roundRect">
            <a:avLst>
              <a:gd name="adj" fmla="val 7272"/>
            </a:avLst>
          </a:prstGeom>
          <a:solidFill>
            <a:srgbClr val="BDD7EE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241280" y="12737592"/>
            <a:ext cx="4572000" cy="877824"/>
          </a:xfrm>
          <a:prstGeom prst="roundRect">
            <a:avLst>
              <a:gd name="adj" fmla="val 8333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920240" y="15947136"/>
            <a:ext cx="6400800" cy="603504"/>
          </a:xfrm>
          <a:prstGeom prst="roundRect">
            <a:avLst>
              <a:gd name="adj" fmla="val 1212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920240" y="17218152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920240" y="1897380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920240" y="20473416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920240" y="21881592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920240" y="23180040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iamond 76"/>
          <p:cNvSpPr/>
          <p:nvPr/>
        </p:nvSpPr>
        <p:spPr>
          <a:xfrm>
            <a:off x="3611880" y="24313896"/>
            <a:ext cx="3017520" cy="84124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743200" y="25493472"/>
            <a:ext cx="4754880" cy="530352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12326" y="2528773"/>
            <a:ext cx="5016627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Sweep the uptake bounds: one linear program per sample, on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 grid or a Latin hypercube over one to three exchanges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26080" y="4119829"/>
            <a:ext cx="4389120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Put every column on its own scale, then split the rows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seventy, fifteen and fifteen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19793" y="5710885"/>
            <a:ext cx="4401693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Fit four hidden layers of ten, five times over, from five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different random starting points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02861" y="7132320"/>
            <a:ext cx="103555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restarts left?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25483" y="8335670"/>
            <a:ext cx="4790313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Keep the restart with the smallest error on the first fifteen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per cent. Write the .srg file: the architecture, both scalings,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training box, and every weight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20377" y="11517325"/>
            <a:ext cx="4200525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the file, and check every layer carries as many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numbers as its shape line promised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9052" y="12884810"/>
            <a:ext cx="2543175" cy="5833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is the training box complete, and is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every input name in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&lt;name_of_substrates&gt;?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98623" y="14471294"/>
            <a:ext cx="4844034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Bind each input to its substrate by name. Say in the log that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 file with flux outputs will have them read, checked and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then dropped, because nothing maps them to substrates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146536" y="12784912"/>
            <a:ext cx="2761488" cy="78318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Refuse to load the file.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A network evaluated outside the box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it was fitted over does not fail: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it returns a confident number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1251" y="16134588"/>
            <a:ext cx="393877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this voxel's concentrations and its biomass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22613" y="17342510"/>
            <a:ext cx="4996053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Work out how much of each substrate this organism could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take up here, by Monod, capped by what the voxel holds.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That, and not the concentration, is what the network is asked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60916" y="19088557"/>
            <a:ext cx="4719447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Pull each input back inside the training box, and count the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evaluation if any of them moved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96908" y="20597774"/>
            <a:ext cx="4847463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Scale, then four layers of ten and one linear layer. Undo the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output scaling, raise ten to it if the file says so, and floor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anything under a hundred-millionth at exactly zero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74036" y="21951086"/>
            <a:ext cx="5093208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Apply the thermodynamic factor. Growth multiplies biomass;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an organism whose growth landed on the floor decays instead,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at its own decay coefficient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25471" y="23249534"/>
            <a:ext cx="4990338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Take the Monod uptake as the draw on each substrate, add it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up over every organism in this voxel, and floor the total at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what the voxel actually holds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83430" y="24624792"/>
            <a:ext cx="107442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more voxels?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02761" y="25644348"/>
            <a:ext cx="263575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02020"/>
                </a:solidFill>
                <a:latin typeface="Calibri"/>
              </a:rPr>
              <a:t>back to the solve loop of Figure 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0896" y="306324"/>
            <a:ext cx="11404854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The surrogate path as code: from a sweep of linear programs to a change in one voxel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0896" y="877824"/>
            <a:ext cx="11434572" cy="44165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Read straight down. The yellow band runs once, before any simulation exists, and it is the only place a linear program is ever solved. The blue band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runs once when the solver starts. The green band runs in every wet voxel that holds biomass, at every reaction step.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0576" y="1476756"/>
            <a:ext cx="193852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the colours mean</a:t>
            </a:r>
          </a:p>
        </p:txBody>
      </p:sp>
      <p:sp>
        <p:nvSpPr>
          <p:cNvPr id="99" name="TextBox 98"/>
          <p:cNvSpPr txBox="1"/>
          <p:nvPr/>
        </p:nvSpPr>
        <p:spPr>
          <a:xfrm rot="16200000">
            <a:off x="-69037" y="5757291"/>
            <a:ext cx="686714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offline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65376" y="2027539"/>
            <a:ext cx="7310628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tools/method_2_surrogate/generateTrainingData.py   then   trainSurrogate.py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84648" y="7804404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16402" y="6995160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48656" y="9697212"/>
            <a:ext cx="1024128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the .srg file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48656" y="10195560"/>
            <a:ext cx="265290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7F7F7F"/>
                </a:solidFill>
                <a:latin typeface="Calibri"/>
              </a:rPr>
              <a:t>is the only thing that crosses this line</a:t>
            </a:r>
          </a:p>
        </p:txBody>
      </p:sp>
      <p:sp>
        <p:nvSpPr>
          <p:cNvPr id="105" name="TextBox 104"/>
          <p:cNvSpPr txBox="1"/>
          <p:nvPr/>
        </p:nvSpPr>
        <p:spPr>
          <a:xfrm rot="16200000">
            <a:off x="-111556" y="13054203"/>
            <a:ext cx="771753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start-up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65376" y="11070955"/>
            <a:ext cx="2606040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src/complab3d_surrogate.hh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84648" y="13930884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45552" y="12911328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09" name="TextBox 108"/>
          <p:cNvSpPr txBox="1"/>
          <p:nvPr/>
        </p:nvSpPr>
        <p:spPr>
          <a:xfrm rot="16200000">
            <a:off x="-196596" y="20694015"/>
            <a:ext cx="941832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every step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65376" y="15615523"/>
            <a:ext cx="3662172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src/complab3d_processors_surrogate.hh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84648" y="25223724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16402" y="24487632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656082" y="20381404"/>
            <a:ext cx="1083564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voxel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18320" y="5303520"/>
            <a:ext cx="2521458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what one row of the sweep is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18320" y="5669280"/>
            <a:ext cx="5113782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This is the only place a linear program is solved on this path. Everything the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network knows about the cell, it knows from these rows.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18320" y="19723608"/>
            <a:ext cx="3232404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what the run-time file actually returns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18320" y="20089368"/>
            <a:ext cx="5265801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A file can carry flux outputs as well as growth, and on this path they are read,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checked for shape, and then dropped. Only growth is used.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248281" y="3218688"/>
            <a:ext cx="5744718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generateTrainingData.py. An infeasible solve is recorded as zero growth and kept rather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than dropped, so the network learns where the feasible region ends instead of guessing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23719" y="4809744"/>
            <a:ext cx="5593842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the two held-back fifteens are the only thing standing in for regularisation: there is no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weight decay, no dropout and no per-output weighting anywhere in the fit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259711" y="9244584"/>
            <a:ext cx="5721858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and 512 checkpoints beside it, so the written file can be shown to agree with the fit that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produced it to one part in ten billion before anybody runs anything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035683" y="18187416"/>
            <a:ext cx="6169914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the sweep varied bounds on exchange reactions, so the network's inputs are bounds, in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millimoles per gram dry weight per hour. Handing it a concentration would be a category error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021967" y="19741896"/>
            <a:ext cx="6197346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B04A4A"/>
                </a:solidFill>
                <a:latin typeface="Calibri"/>
              </a:rPr>
              <a:t>once per evaluation, not once per input: a two-input network counting each value would report</a:t>
            </a:r>
          </a:p>
          <a:p>
            <a:pPr algn="ctr"/>
            <a:r>
              <a:rPr sz="1250" b="0" i="1">
                <a:solidFill>
                  <a:srgbClr val="B04A4A"/>
                </a:solidFill>
                <a:latin typeface="Calibri"/>
              </a:rPr>
              <a:t>two hundred per cent of its evaluations as out of range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3063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06640" y="1700784"/>
            <a:ext cx="9601200" cy="1097280"/>
          </a:xfrm>
          <a:prstGeom prst="roundRect">
            <a:avLst>
              <a:gd name="adj" fmla="val 7500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0" y="2176272"/>
            <a:ext cx="457200" cy="73152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06640" y="3108960"/>
            <a:ext cx="9601200" cy="3474720"/>
          </a:xfrm>
          <a:prstGeom prst="roundRect">
            <a:avLst>
              <a:gd name="adj" fmla="val 2368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949440" y="4846320"/>
            <a:ext cx="457200" cy="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06640" y="6894576"/>
            <a:ext cx="9601200" cy="2926080"/>
          </a:xfrm>
          <a:prstGeom prst="roundRect">
            <a:avLst>
              <a:gd name="adj" fmla="val 2812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949440" y="8357616"/>
            <a:ext cx="457200" cy="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10131552"/>
            <a:ext cx="9601200" cy="2340864"/>
          </a:xfrm>
          <a:prstGeom prst="roundRect">
            <a:avLst>
              <a:gd name="adj" fmla="val 3515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949440" y="11301984"/>
            <a:ext cx="457200" cy="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2783312"/>
            <a:ext cx="9601200" cy="5852160"/>
          </a:xfrm>
          <a:prstGeom prst="roundRect">
            <a:avLst>
              <a:gd name="adj" fmla="val 1406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5526512"/>
            <a:ext cx="457200" cy="18288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8580608"/>
            <a:ext cx="9601200" cy="2926080"/>
          </a:xfrm>
          <a:prstGeom prst="roundRect">
            <a:avLst>
              <a:gd name="adj" fmla="val 2812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0043648"/>
            <a:ext cx="457200" cy="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21817584"/>
            <a:ext cx="9601200" cy="2651760"/>
          </a:xfrm>
          <a:prstGeom prst="roundRect">
            <a:avLst>
              <a:gd name="adj" fmla="val 3103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949440" y="23143464"/>
            <a:ext cx="457200" cy="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24688800"/>
            <a:ext cx="9601200" cy="5486400"/>
          </a:xfrm>
          <a:prstGeom prst="roundRect">
            <a:avLst>
              <a:gd name="adj" fmla="val 1500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949440" y="15526512"/>
            <a:ext cx="457200" cy="1025956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882128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882128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882128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882128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82128" y="148772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82128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82128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82128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82128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82128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882128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882128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882128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882128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882128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882128" y="151516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882128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82128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882128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82128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58784" y="137800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558784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558784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58784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58784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558784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558784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58784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558784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558784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558784" y="140543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58784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58784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558784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558784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558784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558784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558784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558784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558784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558784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58784" y="143286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58784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558784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558784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58784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558784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558784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558784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558784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558784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558784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558784" y="146029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558784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558784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558784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558784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558784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558784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558784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558784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558784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558784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558784" y="148772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558784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558784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8784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558784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558784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558784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58784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558784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558784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558784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58784" y="151516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558784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558784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58784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58784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558784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558784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558784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558784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558784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558784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558784" y="154259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558784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558784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558784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558784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558784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558784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558784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558784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558784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558784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558784" y="157002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558784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558784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558784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558784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558784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558784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558784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558784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558784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558784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558784" y="159745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558784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558784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558784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558784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8558784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558784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558784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558784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558784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558784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558784" y="162488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235440" y="137800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235440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235440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235440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235440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235440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235440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235440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235440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9235440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235440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235440" y="140543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235440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235440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9235440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9235440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235440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9235440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235440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9235440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235440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235440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9235440" y="143286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9235440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9235440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9235440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9235440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9235440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9235440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9235440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9235440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235440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235440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235440" y="146029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9235440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235440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9235440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9235440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9235440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9235440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235440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235440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235440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235440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235440" y="148772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235440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9235440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9235440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9235440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9235440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235440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235440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235440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9235440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9235440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235440" y="151516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9235440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9235440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9235440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235440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9235440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9235440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9235440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9235440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9235440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9235440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9235440" y="154259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9235440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235440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235440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9235440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9235440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9235440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235440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235440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235440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235440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235440" y="157002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235440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235440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235440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235440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235440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235440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235440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235440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235440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235440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9235440" y="159745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9235440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235440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235440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235440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235440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235440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235440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235440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235440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9235440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9235440" y="162488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9912096" y="137800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9912096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9912096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9912096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9912096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9912096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9912096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9912096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9912096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9912096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9912096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9912096" y="140543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9912096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9912096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9912096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912096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9912096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9912096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9912096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9912096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9912096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9912096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9912096" y="143286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9912096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9912096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9912096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9912096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9912096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9912096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9912096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9912096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9912096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9912096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9912096" y="146029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9912096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9912096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9912096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9912096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9912096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9912096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9912096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9912096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9912096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9912096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9912096" y="148772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9912096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9912096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9912096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9912096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9912096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9912096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9912096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9912096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9912096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9912096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912096" y="151516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912096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912096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912096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912096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9912096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9912096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9912096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9912096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9912096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912096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9912096" y="154259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9912096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9912096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9912096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912096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912096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912096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912096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912096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912096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912096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9912096" y="157002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9912096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9912096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912096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912096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12096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12096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12096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9912096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9912096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9912096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9912096" y="159745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9912096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9912096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9912096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9912096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9912096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9912096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9912096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9912096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9912096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9912096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9912096" y="162488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588752" y="13780008"/>
            <a:ext cx="676656" cy="12344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88752" y="14054328"/>
            <a:ext cx="676656" cy="9601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88752" y="14328648"/>
            <a:ext cx="676656" cy="6858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8752" y="14602968"/>
            <a:ext cx="676656" cy="4114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588752" y="14877288"/>
            <a:ext cx="676656" cy="1371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10588752" y="15014448"/>
            <a:ext cx="676656" cy="1371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0588752" y="15014448"/>
            <a:ext cx="676656" cy="4114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10588752" y="15014448"/>
            <a:ext cx="676656" cy="6858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10588752" y="15014448"/>
            <a:ext cx="676656" cy="9601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10588752" y="15014448"/>
            <a:ext cx="676656" cy="12344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2591288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12591288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2591288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2591288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2591288" y="148772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2591288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2591288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2591288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2591288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2591288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12591288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12591288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12591288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12591288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12591288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12591288" y="151516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2591288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2591288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12591288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12591288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13267944" y="137800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13267944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13267944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13267944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13267944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13267944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13267944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13267944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13267944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13267944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13267944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13267944" y="140543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13267944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13267944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13267944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13267944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13267944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13267944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13267944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13267944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13267944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13267944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3267944" y="143286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13267944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3267944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13267944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13267944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13267944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13267944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13267944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13267944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13267944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13267944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13267944" y="146029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13267944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13267944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13267944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13267944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13267944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13267944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13267944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13267944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13267944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13267944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13267944" y="148772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13267944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13267944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13267944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13267944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3267944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13267944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13267944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13267944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13267944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13267944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13267944" y="151516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13267944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13267944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13267944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13267944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13267944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13267944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13267944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13267944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13267944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13267944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13267944" y="154259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3267944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13267944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13267944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13267944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13267944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13267944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13267944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13267944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13267944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13267944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13267944" y="157002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13267944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3267944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13267944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13267944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13267944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13267944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13267944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13267944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13267944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13267944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13267944" y="159745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13267944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13267944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13267944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13267944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13267944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13267944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13267944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13267944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3267944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13267944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13267944" y="162488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13944600" y="137800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13944600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13944600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13944600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13944600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13944600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13944600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3944600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13944600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13944600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13944600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13944600" y="140543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13944600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13944600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13944600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13944600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13944600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13944600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13944600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13944600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13944600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13944600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13944600" y="143286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13944600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13944600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13944600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13944600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13944600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13944600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13944600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13944600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13944600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V="1">
            <a:off x="13944600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13944600" y="146029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13944600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13944600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13944600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13944600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13944600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13944600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13944600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13944600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V="1">
            <a:off x="13944600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V="1">
            <a:off x="13944600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3944600" y="148772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13944600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13944600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13944600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13944600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13944600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13944600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13944600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13944600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13944600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13944600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13944600" y="151516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13944600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13944600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13944600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13944600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V="1">
            <a:off x="13944600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 flipV="1">
            <a:off x="13944600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V="1">
            <a:off x="13944600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13944600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V="1">
            <a:off x="13944600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13944600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13944600" y="154259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13944600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13944600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13944600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13944600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13944600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13944600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V="1">
            <a:off x="13944600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13944600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V="1">
            <a:off x="13944600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V="1">
            <a:off x="13944600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13944600" y="157002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13944600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13944600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V="1">
            <a:off x="13944600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 flipV="1">
            <a:off x="13944600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13944600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V="1">
            <a:off x="13944600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V="1">
            <a:off x="13944600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13944600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13944600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13944600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13944600" y="159745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13944600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13944600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13944600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13944600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13944600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13944600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13944600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13944600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13944600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13944600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3944600" y="162488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14621256" y="137800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14621256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4621256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14621256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14621256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4621256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14621256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14621256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4621256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14621256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14621256" y="137800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14621256" y="140543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4621256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4621256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14621256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4621256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4621256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14621256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14621256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4621256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14621256" y="137800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14621256" y="140543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4621256" y="143286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4621256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4621256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4621256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4621256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14621256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14621256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14621256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14621256" y="137800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14621256" y="140543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14621256" y="143286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14621256" y="146029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14621256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14621256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14621256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14621256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14621256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14621256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14621256" y="137800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V="1">
            <a:off x="14621256" y="140543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14621256" y="143286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14621256" y="146029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14621256" y="148772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14621256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14621256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14621256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4621256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21256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4621256" y="1378000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14621256" y="1405432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4621256" y="1432864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14621256" y="1460296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14621256" y="1487728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14621256" y="1515160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4621256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4621256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14621256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14621256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14621256" y="1378000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14621256" y="1405432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14621256" y="1432864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14621256" y="1460296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14621256" y="1487728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14621256" y="1515160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14621256" y="1542592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14621256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14621256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4621256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14621256" y="1378000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14621256" y="1405432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14621256" y="1432864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14621256" y="1460296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14621256" y="1487728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14621256" y="1515160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14621256" y="1542592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14621256" y="1570024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14621256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14621256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14621256" y="1378000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V="1">
            <a:off x="14621256" y="1405432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 flipV="1">
            <a:off x="14621256" y="1432864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14621256" y="1460296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14621256" y="1487728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14621256" y="1515160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14621256" y="1542592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14621256" y="1570024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14621256" y="1597456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14621256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14621256" y="13780008"/>
            <a:ext cx="676656" cy="24688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14621256" y="14054328"/>
            <a:ext cx="676656" cy="21945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14621256" y="14328648"/>
            <a:ext cx="676656" cy="19202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14621256" y="14602968"/>
            <a:ext cx="676656" cy="16459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14621256" y="14877288"/>
            <a:ext cx="676656" cy="13716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14621256" y="15151608"/>
            <a:ext cx="676656" cy="10972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14621256" y="15425928"/>
            <a:ext cx="676656" cy="8229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14621256" y="15700248"/>
            <a:ext cx="676656" cy="5486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14621256" y="15974568"/>
            <a:ext cx="676656" cy="2743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14621256" y="16248888"/>
            <a:ext cx="676656" cy="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15297912" y="13780008"/>
            <a:ext cx="676656" cy="12344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15297912" y="14054328"/>
            <a:ext cx="676656" cy="9601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15297912" y="14328648"/>
            <a:ext cx="676656" cy="6858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15297912" y="14602968"/>
            <a:ext cx="676656" cy="4114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15297912" y="14877288"/>
            <a:ext cx="676656" cy="1371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15297912" y="15014448"/>
            <a:ext cx="676656" cy="13716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15297912" y="15014448"/>
            <a:ext cx="676656" cy="41148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15297912" y="15014448"/>
            <a:ext cx="676656" cy="68580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15297912" y="15014448"/>
            <a:ext cx="676656" cy="96012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15297912" y="15014448"/>
            <a:ext cx="676656" cy="1234440"/>
          </a:xfrm>
          <a:prstGeom prst="line">
            <a:avLst/>
          </a:prstGeom>
          <a:ln w="6350">
            <a:solidFill>
              <a:srgbClr val="E6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731520" y="2542032"/>
            <a:ext cx="0" cy="22878288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731520" y="25420320"/>
            <a:ext cx="150876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731520" y="2249424"/>
            <a:ext cx="9144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7552944" y="1810512"/>
            <a:ext cx="69368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network is asked once per organism per voxel per reaction step, and nothing else on this path is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7552944" y="3218688"/>
            <a:ext cx="777697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this is the step readers get wrong: the network is handed a BOUND in mmol/gDW/h, not a concentration in mM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7552944" y="7004304"/>
            <a:ext cx="705916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box is written in the file beside the weights, because a network outside it does not fail, it answers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7552944" y="10241280"/>
            <a:ext cx="725119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mapminmax, the same map MATLAB applies: every input on minus one to plus one over the fitted range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7552944" y="12893040"/>
            <a:ext cx="682828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every circle is one unit, shaded by what it actually returns at this voxel: blue positive, red negative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7552944" y="18690336"/>
            <a:ext cx="617334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reverse of the same map, then one comparison that is doing more work than it looks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7552944" y="21927312"/>
            <a:ext cx="695172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growth and uptake are decided separately on this path, which is what a growth-only network forces</a:t>
            </a:r>
          </a:p>
        </p:txBody>
      </p:sp>
      <p:sp>
        <p:nvSpPr>
          <p:cNvPr id="689" name="Rectangle 688"/>
          <p:cNvSpPr/>
          <p:nvPr/>
        </p:nvSpPr>
        <p:spPr>
          <a:xfrm>
            <a:off x="8284464" y="25255728"/>
            <a:ext cx="6400800" cy="2450592"/>
          </a:xfrm>
          <a:prstGeom prst="rect">
            <a:avLst/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0" name="Connector 689"/>
          <p:cNvCxnSpPr/>
          <p:nvPr/>
        </p:nvCxnSpPr>
        <p:spPr>
          <a:xfrm>
            <a:off x="8284464" y="27706320"/>
            <a:ext cx="640080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8284464" y="26889456"/>
            <a:ext cx="640080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8284464" y="26072592"/>
            <a:ext cx="640080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8284464" y="25255728"/>
            <a:ext cx="640080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8284464" y="25255728"/>
            <a:ext cx="0" cy="2450592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9564624" y="25255728"/>
            <a:ext cx="0" cy="2450592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10844784" y="25255728"/>
            <a:ext cx="0" cy="2450592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12124944" y="25255728"/>
            <a:ext cx="0" cy="2450592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13405104" y="25255728"/>
            <a:ext cx="0" cy="2450592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14685264" y="25255728"/>
            <a:ext cx="0" cy="2450592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Rounded Rectangle 699"/>
          <p:cNvSpPr/>
          <p:nvPr/>
        </p:nvSpPr>
        <p:spPr>
          <a:xfrm>
            <a:off x="7799832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ounded Rectangle 700"/>
          <p:cNvSpPr/>
          <p:nvPr/>
        </p:nvSpPr>
        <p:spPr>
          <a:xfrm>
            <a:off x="7799832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ounded Rectangle 701"/>
          <p:cNvSpPr/>
          <p:nvPr/>
        </p:nvSpPr>
        <p:spPr>
          <a:xfrm>
            <a:off x="8476488" y="136977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ounded Rectangle 702"/>
          <p:cNvSpPr/>
          <p:nvPr/>
        </p:nvSpPr>
        <p:spPr>
          <a:xfrm>
            <a:off x="8476488" y="13972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ounded Rectangle 703"/>
          <p:cNvSpPr/>
          <p:nvPr/>
        </p:nvSpPr>
        <p:spPr>
          <a:xfrm>
            <a:off x="8476488" y="142463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ounded Rectangle 704"/>
          <p:cNvSpPr/>
          <p:nvPr/>
        </p:nvSpPr>
        <p:spPr>
          <a:xfrm>
            <a:off x="8476488" y="14520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ounded Rectangle 705"/>
          <p:cNvSpPr/>
          <p:nvPr/>
        </p:nvSpPr>
        <p:spPr>
          <a:xfrm>
            <a:off x="8476488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ounded Rectangle 706"/>
          <p:cNvSpPr/>
          <p:nvPr/>
        </p:nvSpPr>
        <p:spPr>
          <a:xfrm>
            <a:off x="8476488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ounded Rectangle 707"/>
          <p:cNvSpPr/>
          <p:nvPr/>
        </p:nvSpPr>
        <p:spPr>
          <a:xfrm>
            <a:off x="8476488" y="153436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ounded Rectangle 708"/>
          <p:cNvSpPr/>
          <p:nvPr/>
        </p:nvSpPr>
        <p:spPr>
          <a:xfrm>
            <a:off x="8476488" y="156179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ounded Rectangle 709"/>
          <p:cNvSpPr/>
          <p:nvPr/>
        </p:nvSpPr>
        <p:spPr>
          <a:xfrm>
            <a:off x="8476488" y="158922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ounded Rectangle 710"/>
          <p:cNvSpPr/>
          <p:nvPr/>
        </p:nvSpPr>
        <p:spPr>
          <a:xfrm>
            <a:off x="8476488" y="161665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ounded Rectangle 711"/>
          <p:cNvSpPr/>
          <p:nvPr/>
        </p:nvSpPr>
        <p:spPr>
          <a:xfrm>
            <a:off x="9153144" y="136977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ounded Rectangle 712"/>
          <p:cNvSpPr/>
          <p:nvPr/>
        </p:nvSpPr>
        <p:spPr>
          <a:xfrm>
            <a:off x="9153144" y="13972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ounded Rectangle 713"/>
          <p:cNvSpPr/>
          <p:nvPr/>
        </p:nvSpPr>
        <p:spPr>
          <a:xfrm>
            <a:off x="9153144" y="142463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ounded Rectangle 714"/>
          <p:cNvSpPr/>
          <p:nvPr/>
        </p:nvSpPr>
        <p:spPr>
          <a:xfrm>
            <a:off x="9153144" y="14520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ounded Rectangle 715"/>
          <p:cNvSpPr/>
          <p:nvPr/>
        </p:nvSpPr>
        <p:spPr>
          <a:xfrm>
            <a:off x="9153144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ounded Rectangle 716"/>
          <p:cNvSpPr/>
          <p:nvPr/>
        </p:nvSpPr>
        <p:spPr>
          <a:xfrm>
            <a:off x="9153144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ounded Rectangle 717"/>
          <p:cNvSpPr/>
          <p:nvPr/>
        </p:nvSpPr>
        <p:spPr>
          <a:xfrm>
            <a:off x="9153144" y="153436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ounded Rectangle 718"/>
          <p:cNvSpPr/>
          <p:nvPr/>
        </p:nvSpPr>
        <p:spPr>
          <a:xfrm>
            <a:off x="9153144" y="156179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ounded Rectangle 719"/>
          <p:cNvSpPr/>
          <p:nvPr/>
        </p:nvSpPr>
        <p:spPr>
          <a:xfrm>
            <a:off x="9153144" y="158922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ounded Rectangle 720"/>
          <p:cNvSpPr/>
          <p:nvPr/>
        </p:nvSpPr>
        <p:spPr>
          <a:xfrm>
            <a:off x="9153144" y="161665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ounded Rectangle 721"/>
          <p:cNvSpPr/>
          <p:nvPr/>
        </p:nvSpPr>
        <p:spPr>
          <a:xfrm>
            <a:off x="9829800" y="136977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ounded Rectangle 722"/>
          <p:cNvSpPr/>
          <p:nvPr/>
        </p:nvSpPr>
        <p:spPr>
          <a:xfrm>
            <a:off x="9829800" y="13972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ounded Rectangle 723"/>
          <p:cNvSpPr/>
          <p:nvPr/>
        </p:nvSpPr>
        <p:spPr>
          <a:xfrm>
            <a:off x="9829800" y="142463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ounded Rectangle 724"/>
          <p:cNvSpPr/>
          <p:nvPr/>
        </p:nvSpPr>
        <p:spPr>
          <a:xfrm>
            <a:off x="9829800" y="14520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ounded Rectangle 725"/>
          <p:cNvSpPr/>
          <p:nvPr/>
        </p:nvSpPr>
        <p:spPr>
          <a:xfrm>
            <a:off x="9829800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ounded Rectangle 726"/>
          <p:cNvSpPr/>
          <p:nvPr/>
        </p:nvSpPr>
        <p:spPr>
          <a:xfrm>
            <a:off x="9829800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ounded Rectangle 727"/>
          <p:cNvSpPr/>
          <p:nvPr/>
        </p:nvSpPr>
        <p:spPr>
          <a:xfrm>
            <a:off x="9829800" y="153436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ounded Rectangle 728"/>
          <p:cNvSpPr/>
          <p:nvPr/>
        </p:nvSpPr>
        <p:spPr>
          <a:xfrm>
            <a:off x="9829800" y="156179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ounded Rectangle 729"/>
          <p:cNvSpPr/>
          <p:nvPr/>
        </p:nvSpPr>
        <p:spPr>
          <a:xfrm>
            <a:off x="9829800" y="158922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ounded Rectangle 730"/>
          <p:cNvSpPr/>
          <p:nvPr/>
        </p:nvSpPr>
        <p:spPr>
          <a:xfrm>
            <a:off x="9829800" y="161665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ounded Rectangle 731"/>
          <p:cNvSpPr/>
          <p:nvPr/>
        </p:nvSpPr>
        <p:spPr>
          <a:xfrm>
            <a:off x="10506456" y="136977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ounded Rectangle 732"/>
          <p:cNvSpPr/>
          <p:nvPr/>
        </p:nvSpPr>
        <p:spPr>
          <a:xfrm>
            <a:off x="10506456" y="13972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ounded Rectangle 733"/>
          <p:cNvSpPr/>
          <p:nvPr/>
        </p:nvSpPr>
        <p:spPr>
          <a:xfrm>
            <a:off x="10506456" y="142463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ounded Rectangle 734"/>
          <p:cNvSpPr/>
          <p:nvPr/>
        </p:nvSpPr>
        <p:spPr>
          <a:xfrm>
            <a:off x="10506456" y="14520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ounded Rectangle 735"/>
          <p:cNvSpPr/>
          <p:nvPr/>
        </p:nvSpPr>
        <p:spPr>
          <a:xfrm>
            <a:off x="10506456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ounded Rectangle 736"/>
          <p:cNvSpPr/>
          <p:nvPr/>
        </p:nvSpPr>
        <p:spPr>
          <a:xfrm>
            <a:off x="10506456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ounded Rectangle 737"/>
          <p:cNvSpPr/>
          <p:nvPr/>
        </p:nvSpPr>
        <p:spPr>
          <a:xfrm>
            <a:off x="10506456" y="153436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ounded Rectangle 738"/>
          <p:cNvSpPr/>
          <p:nvPr/>
        </p:nvSpPr>
        <p:spPr>
          <a:xfrm>
            <a:off x="10506456" y="156179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ounded Rectangle 739"/>
          <p:cNvSpPr/>
          <p:nvPr/>
        </p:nvSpPr>
        <p:spPr>
          <a:xfrm>
            <a:off x="10506456" y="158922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ounded Rectangle 740"/>
          <p:cNvSpPr/>
          <p:nvPr/>
        </p:nvSpPr>
        <p:spPr>
          <a:xfrm>
            <a:off x="10506456" y="161665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ounded Rectangle 741"/>
          <p:cNvSpPr/>
          <p:nvPr/>
        </p:nvSpPr>
        <p:spPr>
          <a:xfrm>
            <a:off x="11183112" y="149321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ounded Rectangle 742"/>
          <p:cNvSpPr/>
          <p:nvPr/>
        </p:nvSpPr>
        <p:spPr>
          <a:xfrm>
            <a:off x="12508992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ounded Rectangle 743"/>
          <p:cNvSpPr/>
          <p:nvPr/>
        </p:nvSpPr>
        <p:spPr>
          <a:xfrm>
            <a:off x="12508992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ounded Rectangle 744"/>
          <p:cNvSpPr/>
          <p:nvPr/>
        </p:nvSpPr>
        <p:spPr>
          <a:xfrm>
            <a:off x="13185648" y="136977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ounded Rectangle 745"/>
          <p:cNvSpPr/>
          <p:nvPr/>
        </p:nvSpPr>
        <p:spPr>
          <a:xfrm>
            <a:off x="13185648" y="13972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ounded Rectangle 746"/>
          <p:cNvSpPr/>
          <p:nvPr/>
        </p:nvSpPr>
        <p:spPr>
          <a:xfrm>
            <a:off x="13185648" y="142463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ounded Rectangle 747"/>
          <p:cNvSpPr/>
          <p:nvPr/>
        </p:nvSpPr>
        <p:spPr>
          <a:xfrm>
            <a:off x="13185648" y="14520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ounded Rectangle 748"/>
          <p:cNvSpPr/>
          <p:nvPr/>
        </p:nvSpPr>
        <p:spPr>
          <a:xfrm>
            <a:off x="13185648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ounded Rectangle 749"/>
          <p:cNvSpPr/>
          <p:nvPr/>
        </p:nvSpPr>
        <p:spPr>
          <a:xfrm>
            <a:off x="13185648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ounded Rectangle 750"/>
          <p:cNvSpPr/>
          <p:nvPr/>
        </p:nvSpPr>
        <p:spPr>
          <a:xfrm>
            <a:off x="13185648" y="153436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ounded Rectangle 751"/>
          <p:cNvSpPr/>
          <p:nvPr/>
        </p:nvSpPr>
        <p:spPr>
          <a:xfrm>
            <a:off x="13185648" y="156179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ounded Rectangle 752"/>
          <p:cNvSpPr/>
          <p:nvPr/>
        </p:nvSpPr>
        <p:spPr>
          <a:xfrm>
            <a:off x="13185648" y="158922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ounded Rectangle 753"/>
          <p:cNvSpPr/>
          <p:nvPr/>
        </p:nvSpPr>
        <p:spPr>
          <a:xfrm>
            <a:off x="13185648" y="161665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ounded Rectangle 754"/>
          <p:cNvSpPr/>
          <p:nvPr/>
        </p:nvSpPr>
        <p:spPr>
          <a:xfrm>
            <a:off x="13862304" y="136977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ounded Rectangle 755"/>
          <p:cNvSpPr/>
          <p:nvPr/>
        </p:nvSpPr>
        <p:spPr>
          <a:xfrm>
            <a:off x="13862304" y="13972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ounded Rectangle 756"/>
          <p:cNvSpPr/>
          <p:nvPr/>
        </p:nvSpPr>
        <p:spPr>
          <a:xfrm>
            <a:off x="13862304" y="142463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Rounded Rectangle 757"/>
          <p:cNvSpPr/>
          <p:nvPr/>
        </p:nvSpPr>
        <p:spPr>
          <a:xfrm>
            <a:off x="13862304" y="14520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ounded Rectangle 758"/>
          <p:cNvSpPr/>
          <p:nvPr/>
        </p:nvSpPr>
        <p:spPr>
          <a:xfrm>
            <a:off x="13862304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ounded Rectangle 759"/>
          <p:cNvSpPr/>
          <p:nvPr/>
        </p:nvSpPr>
        <p:spPr>
          <a:xfrm>
            <a:off x="13862304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Rounded Rectangle 760"/>
          <p:cNvSpPr/>
          <p:nvPr/>
        </p:nvSpPr>
        <p:spPr>
          <a:xfrm>
            <a:off x="13862304" y="153436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ounded Rectangle 761"/>
          <p:cNvSpPr/>
          <p:nvPr/>
        </p:nvSpPr>
        <p:spPr>
          <a:xfrm>
            <a:off x="13862304" y="156179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ounded Rectangle 762"/>
          <p:cNvSpPr/>
          <p:nvPr/>
        </p:nvSpPr>
        <p:spPr>
          <a:xfrm>
            <a:off x="13862304" y="158922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ounded Rectangle 763"/>
          <p:cNvSpPr/>
          <p:nvPr/>
        </p:nvSpPr>
        <p:spPr>
          <a:xfrm>
            <a:off x="13862304" y="161665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ounded Rectangle 764"/>
          <p:cNvSpPr/>
          <p:nvPr/>
        </p:nvSpPr>
        <p:spPr>
          <a:xfrm>
            <a:off x="14538960" y="136977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Rounded Rectangle 765"/>
          <p:cNvSpPr/>
          <p:nvPr/>
        </p:nvSpPr>
        <p:spPr>
          <a:xfrm>
            <a:off x="14538960" y="13972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ounded Rectangle 766"/>
          <p:cNvSpPr/>
          <p:nvPr/>
        </p:nvSpPr>
        <p:spPr>
          <a:xfrm>
            <a:off x="14538960" y="142463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ounded Rectangle 767"/>
          <p:cNvSpPr/>
          <p:nvPr/>
        </p:nvSpPr>
        <p:spPr>
          <a:xfrm>
            <a:off x="14538960" y="14520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ounded Rectangle 768"/>
          <p:cNvSpPr/>
          <p:nvPr/>
        </p:nvSpPr>
        <p:spPr>
          <a:xfrm>
            <a:off x="14538960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ounded Rectangle 769"/>
          <p:cNvSpPr/>
          <p:nvPr/>
        </p:nvSpPr>
        <p:spPr>
          <a:xfrm>
            <a:off x="14538960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ounded Rectangle 770"/>
          <p:cNvSpPr/>
          <p:nvPr/>
        </p:nvSpPr>
        <p:spPr>
          <a:xfrm>
            <a:off x="14538960" y="153436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ounded Rectangle 771"/>
          <p:cNvSpPr/>
          <p:nvPr/>
        </p:nvSpPr>
        <p:spPr>
          <a:xfrm>
            <a:off x="14538960" y="156179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ounded Rectangle 772"/>
          <p:cNvSpPr/>
          <p:nvPr/>
        </p:nvSpPr>
        <p:spPr>
          <a:xfrm>
            <a:off x="14538960" y="158922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ounded Rectangle 773"/>
          <p:cNvSpPr/>
          <p:nvPr/>
        </p:nvSpPr>
        <p:spPr>
          <a:xfrm>
            <a:off x="14538960" y="161665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ounded Rectangle 774"/>
          <p:cNvSpPr/>
          <p:nvPr/>
        </p:nvSpPr>
        <p:spPr>
          <a:xfrm>
            <a:off x="15215616" y="136977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ounded Rectangle 775"/>
          <p:cNvSpPr/>
          <p:nvPr/>
        </p:nvSpPr>
        <p:spPr>
          <a:xfrm>
            <a:off x="15215616" y="13972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ounded Rectangle 776"/>
          <p:cNvSpPr/>
          <p:nvPr/>
        </p:nvSpPr>
        <p:spPr>
          <a:xfrm>
            <a:off x="15215616" y="142463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ounded Rectangle 777"/>
          <p:cNvSpPr/>
          <p:nvPr/>
        </p:nvSpPr>
        <p:spPr>
          <a:xfrm>
            <a:off x="15215616" y="14520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ounded Rectangle 778"/>
          <p:cNvSpPr/>
          <p:nvPr/>
        </p:nvSpPr>
        <p:spPr>
          <a:xfrm>
            <a:off x="15215616" y="147949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ounded Rectangle 779"/>
          <p:cNvSpPr/>
          <p:nvPr/>
        </p:nvSpPr>
        <p:spPr>
          <a:xfrm>
            <a:off x="15215616" y="150693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ounded Rectangle 780"/>
          <p:cNvSpPr/>
          <p:nvPr/>
        </p:nvSpPr>
        <p:spPr>
          <a:xfrm>
            <a:off x="15215616" y="153436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ounded Rectangle 781"/>
          <p:cNvSpPr/>
          <p:nvPr/>
        </p:nvSpPr>
        <p:spPr>
          <a:xfrm>
            <a:off x="15215616" y="156179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ounded Rectangle 782"/>
          <p:cNvSpPr/>
          <p:nvPr/>
        </p:nvSpPr>
        <p:spPr>
          <a:xfrm>
            <a:off x="15215616" y="158922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ounded Rectangle 783"/>
          <p:cNvSpPr/>
          <p:nvPr/>
        </p:nvSpPr>
        <p:spPr>
          <a:xfrm>
            <a:off x="15215616" y="161665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ounded Rectangle 784"/>
          <p:cNvSpPr/>
          <p:nvPr/>
        </p:nvSpPr>
        <p:spPr>
          <a:xfrm>
            <a:off x="15892272" y="149321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2B2B2"/>
          </a:solidFill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ounded Rectangle 785"/>
          <p:cNvSpPr/>
          <p:nvPr/>
        </p:nvSpPr>
        <p:spPr>
          <a:xfrm>
            <a:off x="365760" y="128016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ounded Rectangle 786"/>
          <p:cNvSpPr/>
          <p:nvPr/>
        </p:nvSpPr>
        <p:spPr>
          <a:xfrm>
            <a:off x="5120640" y="128016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B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ounded Rectangle 787"/>
          <p:cNvSpPr/>
          <p:nvPr/>
        </p:nvSpPr>
        <p:spPr>
          <a:xfrm>
            <a:off x="1645920" y="1929384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ounded Rectangle 788"/>
          <p:cNvSpPr/>
          <p:nvPr/>
        </p:nvSpPr>
        <p:spPr>
          <a:xfrm>
            <a:off x="1645920" y="451713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ounded Rectangle 789"/>
          <p:cNvSpPr/>
          <p:nvPr/>
        </p:nvSpPr>
        <p:spPr>
          <a:xfrm>
            <a:off x="1645920" y="802843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ounded Rectangle 790"/>
          <p:cNvSpPr/>
          <p:nvPr/>
        </p:nvSpPr>
        <p:spPr>
          <a:xfrm>
            <a:off x="1645920" y="1097280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ounded Rectangle 791"/>
          <p:cNvSpPr/>
          <p:nvPr/>
        </p:nvSpPr>
        <p:spPr>
          <a:xfrm>
            <a:off x="1645920" y="15197328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ounded Rectangle 792"/>
          <p:cNvSpPr/>
          <p:nvPr/>
        </p:nvSpPr>
        <p:spPr>
          <a:xfrm>
            <a:off x="7799832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ounded Rectangle 793"/>
          <p:cNvSpPr/>
          <p:nvPr/>
        </p:nvSpPr>
        <p:spPr>
          <a:xfrm>
            <a:off x="7799832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ounded Rectangle 794"/>
          <p:cNvSpPr/>
          <p:nvPr/>
        </p:nvSpPr>
        <p:spPr>
          <a:xfrm>
            <a:off x="8476488" y="136977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ounded Rectangle 795"/>
          <p:cNvSpPr/>
          <p:nvPr/>
        </p:nvSpPr>
        <p:spPr>
          <a:xfrm>
            <a:off x="8476488" y="139720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ounded Rectangle 796"/>
          <p:cNvSpPr/>
          <p:nvPr/>
        </p:nvSpPr>
        <p:spPr>
          <a:xfrm>
            <a:off x="8476488" y="142463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ounded Rectangle 797"/>
          <p:cNvSpPr/>
          <p:nvPr/>
        </p:nvSpPr>
        <p:spPr>
          <a:xfrm>
            <a:off x="8476488" y="145206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ounded Rectangle 798"/>
          <p:cNvSpPr/>
          <p:nvPr/>
        </p:nvSpPr>
        <p:spPr>
          <a:xfrm>
            <a:off x="8476488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ounded Rectangle 799"/>
          <p:cNvSpPr/>
          <p:nvPr/>
        </p:nvSpPr>
        <p:spPr>
          <a:xfrm>
            <a:off x="8476488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ounded Rectangle 800"/>
          <p:cNvSpPr/>
          <p:nvPr/>
        </p:nvSpPr>
        <p:spPr>
          <a:xfrm>
            <a:off x="8476488" y="153436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ounded Rectangle 801"/>
          <p:cNvSpPr/>
          <p:nvPr/>
        </p:nvSpPr>
        <p:spPr>
          <a:xfrm>
            <a:off x="8476488" y="156179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ounded Rectangle 802"/>
          <p:cNvSpPr/>
          <p:nvPr/>
        </p:nvSpPr>
        <p:spPr>
          <a:xfrm>
            <a:off x="8476488" y="158922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ounded Rectangle 803"/>
          <p:cNvSpPr/>
          <p:nvPr/>
        </p:nvSpPr>
        <p:spPr>
          <a:xfrm>
            <a:off x="8476488" y="161665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ounded Rectangle 804"/>
          <p:cNvSpPr/>
          <p:nvPr/>
        </p:nvSpPr>
        <p:spPr>
          <a:xfrm>
            <a:off x="9153144" y="136977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ounded Rectangle 805"/>
          <p:cNvSpPr/>
          <p:nvPr/>
        </p:nvSpPr>
        <p:spPr>
          <a:xfrm>
            <a:off x="9153144" y="1397203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ounded Rectangle 806"/>
          <p:cNvSpPr/>
          <p:nvPr/>
        </p:nvSpPr>
        <p:spPr>
          <a:xfrm>
            <a:off x="9153144" y="142463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ounded Rectangle 807"/>
          <p:cNvSpPr/>
          <p:nvPr/>
        </p:nvSpPr>
        <p:spPr>
          <a:xfrm>
            <a:off x="9153144" y="145206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ounded Rectangle 808"/>
          <p:cNvSpPr/>
          <p:nvPr/>
        </p:nvSpPr>
        <p:spPr>
          <a:xfrm>
            <a:off x="9153144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ounded Rectangle 809"/>
          <p:cNvSpPr/>
          <p:nvPr/>
        </p:nvSpPr>
        <p:spPr>
          <a:xfrm>
            <a:off x="9153144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ounded Rectangle 810"/>
          <p:cNvSpPr/>
          <p:nvPr/>
        </p:nvSpPr>
        <p:spPr>
          <a:xfrm>
            <a:off x="9153144" y="153436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Rounded Rectangle 811"/>
          <p:cNvSpPr/>
          <p:nvPr/>
        </p:nvSpPr>
        <p:spPr>
          <a:xfrm>
            <a:off x="9153144" y="156179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Rounded Rectangle 812"/>
          <p:cNvSpPr/>
          <p:nvPr/>
        </p:nvSpPr>
        <p:spPr>
          <a:xfrm>
            <a:off x="9153144" y="158922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Rounded Rectangle 813"/>
          <p:cNvSpPr/>
          <p:nvPr/>
        </p:nvSpPr>
        <p:spPr>
          <a:xfrm>
            <a:off x="9153144" y="161665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Rounded Rectangle 814"/>
          <p:cNvSpPr/>
          <p:nvPr/>
        </p:nvSpPr>
        <p:spPr>
          <a:xfrm>
            <a:off x="9829800" y="136977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Rounded Rectangle 815"/>
          <p:cNvSpPr/>
          <p:nvPr/>
        </p:nvSpPr>
        <p:spPr>
          <a:xfrm>
            <a:off x="9829800" y="139720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Rounded Rectangle 816"/>
          <p:cNvSpPr/>
          <p:nvPr/>
        </p:nvSpPr>
        <p:spPr>
          <a:xfrm>
            <a:off x="9829800" y="142463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Rounded Rectangle 817"/>
          <p:cNvSpPr/>
          <p:nvPr/>
        </p:nvSpPr>
        <p:spPr>
          <a:xfrm>
            <a:off x="9829800" y="145206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Rounded Rectangle 818"/>
          <p:cNvSpPr/>
          <p:nvPr/>
        </p:nvSpPr>
        <p:spPr>
          <a:xfrm>
            <a:off x="9829800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Rounded Rectangle 819"/>
          <p:cNvSpPr/>
          <p:nvPr/>
        </p:nvSpPr>
        <p:spPr>
          <a:xfrm>
            <a:off x="9829800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ounded Rectangle 820"/>
          <p:cNvSpPr/>
          <p:nvPr/>
        </p:nvSpPr>
        <p:spPr>
          <a:xfrm>
            <a:off x="9829800" y="153436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Rounded Rectangle 821"/>
          <p:cNvSpPr/>
          <p:nvPr/>
        </p:nvSpPr>
        <p:spPr>
          <a:xfrm>
            <a:off x="9829800" y="1561795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Rounded Rectangle 822"/>
          <p:cNvSpPr/>
          <p:nvPr/>
        </p:nvSpPr>
        <p:spPr>
          <a:xfrm>
            <a:off x="9829800" y="158922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Rounded Rectangle 823"/>
          <p:cNvSpPr/>
          <p:nvPr/>
        </p:nvSpPr>
        <p:spPr>
          <a:xfrm>
            <a:off x="9829800" y="161665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ounded Rectangle 824"/>
          <p:cNvSpPr/>
          <p:nvPr/>
        </p:nvSpPr>
        <p:spPr>
          <a:xfrm>
            <a:off x="10506456" y="136977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Rounded Rectangle 825"/>
          <p:cNvSpPr/>
          <p:nvPr/>
        </p:nvSpPr>
        <p:spPr>
          <a:xfrm>
            <a:off x="10506456" y="139720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Rounded Rectangle 826"/>
          <p:cNvSpPr/>
          <p:nvPr/>
        </p:nvSpPr>
        <p:spPr>
          <a:xfrm>
            <a:off x="10506456" y="142463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Rounded Rectangle 827"/>
          <p:cNvSpPr/>
          <p:nvPr/>
        </p:nvSpPr>
        <p:spPr>
          <a:xfrm>
            <a:off x="10506456" y="1452067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Rounded Rectangle 828"/>
          <p:cNvSpPr/>
          <p:nvPr/>
        </p:nvSpPr>
        <p:spPr>
          <a:xfrm>
            <a:off x="10506456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Rounded Rectangle 829"/>
          <p:cNvSpPr/>
          <p:nvPr/>
        </p:nvSpPr>
        <p:spPr>
          <a:xfrm>
            <a:off x="10506456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ounded Rectangle 830"/>
          <p:cNvSpPr/>
          <p:nvPr/>
        </p:nvSpPr>
        <p:spPr>
          <a:xfrm>
            <a:off x="10506456" y="153436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Rounded Rectangle 831"/>
          <p:cNvSpPr/>
          <p:nvPr/>
        </p:nvSpPr>
        <p:spPr>
          <a:xfrm>
            <a:off x="10506456" y="156179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Rounded Rectangle 832"/>
          <p:cNvSpPr/>
          <p:nvPr/>
        </p:nvSpPr>
        <p:spPr>
          <a:xfrm>
            <a:off x="10506456" y="158922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Rounded Rectangle 833"/>
          <p:cNvSpPr/>
          <p:nvPr/>
        </p:nvSpPr>
        <p:spPr>
          <a:xfrm>
            <a:off x="10506456" y="161665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ounded Rectangle 834"/>
          <p:cNvSpPr/>
          <p:nvPr/>
        </p:nvSpPr>
        <p:spPr>
          <a:xfrm>
            <a:off x="11183112" y="149321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ounded Rectangle 835"/>
          <p:cNvSpPr/>
          <p:nvPr/>
        </p:nvSpPr>
        <p:spPr>
          <a:xfrm>
            <a:off x="12508992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Rounded Rectangle 836"/>
          <p:cNvSpPr/>
          <p:nvPr/>
        </p:nvSpPr>
        <p:spPr>
          <a:xfrm>
            <a:off x="12508992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Rounded Rectangle 837"/>
          <p:cNvSpPr/>
          <p:nvPr/>
        </p:nvSpPr>
        <p:spPr>
          <a:xfrm>
            <a:off x="13185648" y="136977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Rounded Rectangle 838"/>
          <p:cNvSpPr/>
          <p:nvPr/>
        </p:nvSpPr>
        <p:spPr>
          <a:xfrm>
            <a:off x="13185648" y="139720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ounded Rectangle 839"/>
          <p:cNvSpPr/>
          <p:nvPr/>
        </p:nvSpPr>
        <p:spPr>
          <a:xfrm>
            <a:off x="13185648" y="142463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Rounded Rectangle 840"/>
          <p:cNvSpPr/>
          <p:nvPr/>
        </p:nvSpPr>
        <p:spPr>
          <a:xfrm>
            <a:off x="13185648" y="145206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Rounded Rectangle 841"/>
          <p:cNvSpPr/>
          <p:nvPr/>
        </p:nvSpPr>
        <p:spPr>
          <a:xfrm>
            <a:off x="13185648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Rounded Rectangle 842"/>
          <p:cNvSpPr/>
          <p:nvPr/>
        </p:nvSpPr>
        <p:spPr>
          <a:xfrm>
            <a:off x="13185648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Rounded Rectangle 843"/>
          <p:cNvSpPr/>
          <p:nvPr/>
        </p:nvSpPr>
        <p:spPr>
          <a:xfrm>
            <a:off x="13185648" y="153436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Rounded Rectangle 844"/>
          <p:cNvSpPr/>
          <p:nvPr/>
        </p:nvSpPr>
        <p:spPr>
          <a:xfrm>
            <a:off x="13185648" y="156179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Rounded Rectangle 845"/>
          <p:cNvSpPr/>
          <p:nvPr/>
        </p:nvSpPr>
        <p:spPr>
          <a:xfrm>
            <a:off x="13185648" y="158922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Rounded Rectangle 846"/>
          <p:cNvSpPr/>
          <p:nvPr/>
        </p:nvSpPr>
        <p:spPr>
          <a:xfrm>
            <a:off x="13185648" y="161665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Rounded Rectangle 847"/>
          <p:cNvSpPr/>
          <p:nvPr/>
        </p:nvSpPr>
        <p:spPr>
          <a:xfrm>
            <a:off x="13862304" y="136977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Rounded Rectangle 848"/>
          <p:cNvSpPr/>
          <p:nvPr/>
        </p:nvSpPr>
        <p:spPr>
          <a:xfrm>
            <a:off x="13862304" y="1397203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Rounded Rectangle 849"/>
          <p:cNvSpPr/>
          <p:nvPr/>
        </p:nvSpPr>
        <p:spPr>
          <a:xfrm>
            <a:off x="13862304" y="142463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Rounded Rectangle 850"/>
          <p:cNvSpPr/>
          <p:nvPr/>
        </p:nvSpPr>
        <p:spPr>
          <a:xfrm>
            <a:off x="13862304" y="145206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Rounded Rectangle 851"/>
          <p:cNvSpPr/>
          <p:nvPr/>
        </p:nvSpPr>
        <p:spPr>
          <a:xfrm>
            <a:off x="13862304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Rounded Rectangle 852"/>
          <p:cNvSpPr/>
          <p:nvPr/>
        </p:nvSpPr>
        <p:spPr>
          <a:xfrm>
            <a:off x="13862304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Rounded Rectangle 853"/>
          <p:cNvSpPr/>
          <p:nvPr/>
        </p:nvSpPr>
        <p:spPr>
          <a:xfrm>
            <a:off x="13862304" y="153436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Rounded Rectangle 854"/>
          <p:cNvSpPr/>
          <p:nvPr/>
        </p:nvSpPr>
        <p:spPr>
          <a:xfrm>
            <a:off x="13862304" y="156179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Rounded Rectangle 855"/>
          <p:cNvSpPr/>
          <p:nvPr/>
        </p:nvSpPr>
        <p:spPr>
          <a:xfrm>
            <a:off x="13862304" y="158922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Rounded Rectangle 856"/>
          <p:cNvSpPr/>
          <p:nvPr/>
        </p:nvSpPr>
        <p:spPr>
          <a:xfrm>
            <a:off x="13862304" y="161665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Rounded Rectangle 857"/>
          <p:cNvSpPr/>
          <p:nvPr/>
        </p:nvSpPr>
        <p:spPr>
          <a:xfrm>
            <a:off x="14538960" y="136977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Rounded Rectangle 858"/>
          <p:cNvSpPr/>
          <p:nvPr/>
        </p:nvSpPr>
        <p:spPr>
          <a:xfrm>
            <a:off x="14538960" y="139720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Rounded Rectangle 859"/>
          <p:cNvSpPr/>
          <p:nvPr/>
        </p:nvSpPr>
        <p:spPr>
          <a:xfrm>
            <a:off x="14538960" y="142463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Rounded Rectangle 860"/>
          <p:cNvSpPr/>
          <p:nvPr/>
        </p:nvSpPr>
        <p:spPr>
          <a:xfrm>
            <a:off x="14538960" y="145206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Rounded Rectangle 861"/>
          <p:cNvSpPr/>
          <p:nvPr/>
        </p:nvSpPr>
        <p:spPr>
          <a:xfrm>
            <a:off x="14538960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Rounded Rectangle 862"/>
          <p:cNvSpPr/>
          <p:nvPr/>
        </p:nvSpPr>
        <p:spPr>
          <a:xfrm>
            <a:off x="14538960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Rounded Rectangle 863"/>
          <p:cNvSpPr/>
          <p:nvPr/>
        </p:nvSpPr>
        <p:spPr>
          <a:xfrm>
            <a:off x="14538960" y="1534363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Rounded Rectangle 864"/>
          <p:cNvSpPr/>
          <p:nvPr/>
        </p:nvSpPr>
        <p:spPr>
          <a:xfrm>
            <a:off x="14538960" y="1561795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Rounded Rectangle 865"/>
          <p:cNvSpPr/>
          <p:nvPr/>
        </p:nvSpPr>
        <p:spPr>
          <a:xfrm>
            <a:off x="14538960" y="1589227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Rounded Rectangle 866"/>
          <p:cNvSpPr/>
          <p:nvPr/>
        </p:nvSpPr>
        <p:spPr>
          <a:xfrm>
            <a:off x="14538960" y="161665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Rounded Rectangle 867"/>
          <p:cNvSpPr/>
          <p:nvPr/>
        </p:nvSpPr>
        <p:spPr>
          <a:xfrm>
            <a:off x="15215616" y="1369771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Rounded Rectangle 868"/>
          <p:cNvSpPr/>
          <p:nvPr/>
        </p:nvSpPr>
        <p:spPr>
          <a:xfrm>
            <a:off x="15215616" y="1397203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Rounded Rectangle 869"/>
          <p:cNvSpPr/>
          <p:nvPr/>
        </p:nvSpPr>
        <p:spPr>
          <a:xfrm>
            <a:off x="15215616" y="142463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Rounded Rectangle 870"/>
          <p:cNvSpPr/>
          <p:nvPr/>
        </p:nvSpPr>
        <p:spPr>
          <a:xfrm>
            <a:off x="15215616" y="1452067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ounded Rectangle 871"/>
          <p:cNvSpPr/>
          <p:nvPr/>
        </p:nvSpPr>
        <p:spPr>
          <a:xfrm>
            <a:off x="15215616" y="1479499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Rounded Rectangle 872"/>
          <p:cNvSpPr/>
          <p:nvPr/>
        </p:nvSpPr>
        <p:spPr>
          <a:xfrm>
            <a:off x="15215616" y="1506931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ounded Rectangle 873"/>
          <p:cNvSpPr/>
          <p:nvPr/>
        </p:nvSpPr>
        <p:spPr>
          <a:xfrm>
            <a:off x="15215616" y="1534363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ounded Rectangle 874"/>
          <p:cNvSpPr/>
          <p:nvPr/>
        </p:nvSpPr>
        <p:spPr>
          <a:xfrm>
            <a:off x="15215616" y="1561795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Rounded Rectangle 875"/>
          <p:cNvSpPr/>
          <p:nvPr/>
        </p:nvSpPr>
        <p:spPr>
          <a:xfrm>
            <a:off x="15215616" y="1589227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Rounded Rectangle 876"/>
          <p:cNvSpPr/>
          <p:nvPr/>
        </p:nvSpPr>
        <p:spPr>
          <a:xfrm>
            <a:off x="15215616" y="16166592"/>
            <a:ext cx="164592" cy="164592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8A8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Rounded Rectangle 877"/>
          <p:cNvSpPr/>
          <p:nvPr/>
        </p:nvSpPr>
        <p:spPr>
          <a:xfrm>
            <a:off x="15892272" y="14932152"/>
            <a:ext cx="164592" cy="164592"/>
          </a:xfrm>
          <a:prstGeom prst="roundRect">
            <a:avLst>
              <a:gd name="adj" fmla="val 50000"/>
            </a:avLst>
          </a:prstGeom>
          <a:noFill/>
          <a:ln w="20955">
            <a:solidFill>
              <a:srgbClr val="2F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Rounded Rectangle 878"/>
          <p:cNvSpPr/>
          <p:nvPr/>
        </p:nvSpPr>
        <p:spPr>
          <a:xfrm>
            <a:off x="1645920" y="1971446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Rounded Rectangle 879"/>
          <p:cNvSpPr/>
          <p:nvPr/>
        </p:nvSpPr>
        <p:spPr>
          <a:xfrm>
            <a:off x="1645920" y="2281428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Diamond 880"/>
          <p:cNvSpPr/>
          <p:nvPr/>
        </p:nvSpPr>
        <p:spPr>
          <a:xfrm>
            <a:off x="2240280" y="24963120"/>
            <a:ext cx="4114800" cy="914400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Rounded Rectangle 881"/>
          <p:cNvSpPr/>
          <p:nvPr/>
        </p:nvSpPr>
        <p:spPr>
          <a:xfrm>
            <a:off x="1645920" y="26362152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3" name="Connector 882"/>
          <p:cNvCxnSpPr/>
          <p:nvPr/>
        </p:nvCxnSpPr>
        <p:spPr>
          <a:xfrm>
            <a:off x="12663507" y="25255728"/>
            <a:ext cx="0" cy="2450592"/>
          </a:xfrm>
          <a:prstGeom prst="line">
            <a:avLst/>
          </a:prstGeom>
          <a:ln w="11429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4" name="Rectangle 883"/>
          <p:cNvSpPr/>
          <p:nvPr/>
        </p:nvSpPr>
        <p:spPr>
          <a:xfrm>
            <a:off x="1664208" y="4535424"/>
            <a:ext cx="73152" cy="621792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1664208" y="8046720"/>
            <a:ext cx="73152" cy="621792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1664208" y="10991088"/>
            <a:ext cx="73152" cy="621792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1664208" y="15215616"/>
            <a:ext cx="73152" cy="621792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1664208" y="19732752"/>
            <a:ext cx="73152" cy="621792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1664208" y="22832568"/>
            <a:ext cx="73152" cy="621792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0" name="Connector 889"/>
          <p:cNvCxnSpPr/>
          <p:nvPr/>
        </p:nvCxnSpPr>
        <p:spPr>
          <a:xfrm>
            <a:off x="4297680" y="2423160"/>
            <a:ext cx="0" cy="209397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4297680" y="5175504"/>
            <a:ext cx="0" cy="28529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>
            <a:off x="4297680" y="8686800"/>
            <a:ext cx="0" cy="228600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>
            <a:off x="4297680" y="11631168"/>
            <a:ext cx="0" cy="356616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4297680" y="15855696"/>
            <a:ext cx="0" cy="385876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>
            <a:off x="4297680" y="20372832"/>
            <a:ext cx="0" cy="244144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>
            <a:off x="4297680" y="23472648"/>
            <a:ext cx="0" cy="149047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4297680" y="25877520"/>
            <a:ext cx="0" cy="4846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 flipV="1">
            <a:off x="731520" y="2249424"/>
            <a:ext cx="0" cy="32918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9" name="TextBox 898"/>
          <p:cNvSpPr txBox="1"/>
          <p:nvPr/>
        </p:nvSpPr>
        <p:spPr>
          <a:xfrm rot="16200000">
            <a:off x="150876" y="13687996"/>
            <a:ext cx="941832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one</a:t>
            </a:r>
          </a:p>
        </p:txBody>
      </p:sp>
      <p:cxnSp>
        <p:nvCxnSpPr>
          <p:cNvPr id="900" name="Connector 899"/>
          <p:cNvCxnSpPr/>
          <p:nvPr/>
        </p:nvCxnSpPr>
        <p:spPr>
          <a:xfrm>
            <a:off x="828446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>
            <a:off x="831646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>
            <a:off x="834847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>
            <a:off x="838047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>
            <a:off x="841248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844448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847648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850849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854049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857250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860450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863650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866851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>
            <a:off x="870051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873252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876452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879652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882853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886053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889254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892454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>
            <a:off x="895654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>
            <a:off x="898855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902055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>
            <a:off x="905256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>
            <a:off x="908456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911656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914857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918057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921258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924458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927658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>
            <a:off x="930859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>
            <a:off x="934059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937260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940460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>
            <a:off x="943660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>
            <a:off x="946861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>
            <a:off x="950061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953262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956462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959662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962863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966063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>
            <a:off x="969264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>
            <a:off x="972464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975664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978865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982065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985266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988466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991666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>
            <a:off x="994867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>
            <a:off x="998067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1001268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1004468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1007668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>
            <a:off x="1010869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>
            <a:off x="1014069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>
            <a:off x="1017270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1020470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>
            <a:off x="1023670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>
            <a:off x="1026871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>
            <a:off x="1030071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1033272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>
            <a:off x="1036472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>
            <a:off x="1039672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>
            <a:off x="1042873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>
            <a:off x="1046073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>
            <a:off x="1049274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>
            <a:off x="1052474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>
            <a:off x="1055674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>
            <a:off x="1058875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>
            <a:off x="1062075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>
            <a:off x="1065276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>
            <a:off x="1068476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>
            <a:off x="1071676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>
            <a:off x="10748772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>
            <a:off x="10780776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>
            <a:off x="10812780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>
            <a:off x="10844784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>
            <a:off x="10876788" y="2770632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 flipV="1">
            <a:off x="10908792" y="27706319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>
            <a:off x="10940796" y="27706319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V="1">
            <a:off x="10972800" y="27706318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>
            <a:off x="11004804" y="27706318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 flipV="1">
            <a:off x="11036808" y="27706317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>
            <a:off x="11068812" y="27706317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>
            <a:off x="11100816" y="27706317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V="1">
            <a:off x="11132820" y="27706316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>
            <a:off x="11164824" y="27706316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V="1">
            <a:off x="11196828" y="27706315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>
            <a:off x="11228832" y="27706315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V="1">
            <a:off x="11260836" y="27706314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>
            <a:off x="11292840" y="27706314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V="1">
            <a:off x="11324844" y="27706313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11356848" y="27706313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 flipV="1">
            <a:off x="11388852" y="27706312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>
            <a:off x="11420856" y="27706312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 flipV="1">
            <a:off x="11452860" y="27706311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>
            <a:off x="11484864" y="27706311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>
            <a:off x="11516868" y="27706311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V="1">
            <a:off x="11548872" y="27706310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>
            <a:off x="11580876" y="2770631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1612880" y="2770631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V="1">
            <a:off x="11644884" y="27706309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>
            <a:off x="11676888" y="27706309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>
            <a:off x="11708892" y="27706309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11740896" y="27706309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11772900" y="27706309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>
            <a:off x="11804904" y="27706309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>
            <a:off x="11836908" y="27706309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>
            <a:off x="11868912" y="2770631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>
            <a:off x="11900916" y="27706310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>
            <a:off x="11932920" y="27706310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>
            <a:off x="11964924" y="27706311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>
            <a:off x="11996928" y="27706311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>
            <a:off x="12028932" y="27706312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>
            <a:off x="12060936" y="27706313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>
            <a:off x="12092940" y="27706313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>
            <a:off x="12124944" y="27706314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>
            <a:off x="12156948" y="27706315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>
            <a:off x="12188952" y="27706316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>
            <a:off x="12220956" y="27706316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>
            <a:off x="12252960" y="27706317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>
            <a:off x="12284964" y="27706317"/>
            <a:ext cx="32004" cy="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12316968" y="27706316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12348972" y="27706315"/>
            <a:ext cx="32004" cy="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V="1">
            <a:off x="12380976" y="27706312"/>
            <a:ext cx="32004" cy="3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V="1">
            <a:off x="12412980" y="27706307"/>
            <a:ext cx="32004" cy="5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V="1">
            <a:off x="12444984" y="27706301"/>
            <a:ext cx="32004" cy="6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 flipV="1">
            <a:off x="12476988" y="27706292"/>
            <a:ext cx="32004" cy="9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 flipV="1">
            <a:off x="12508992" y="27706281"/>
            <a:ext cx="32004" cy="1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 flipV="1">
            <a:off x="12540996" y="27706271"/>
            <a:ext cx="32004" cy="1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>
            <a:off x="12573000" y="27706271"/>
            <a:ext cx="32004" cy="3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>
            <a:off x="12605004" y="27706274"/>
            <a:ext cx="32004" cy="46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12637008" y="26265685"/>
            <a:ext cx="32004" cy="1440635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 flipV="1">
            <a:off x="12669012" y="26253625"/>
            <a:ext cx="32004" cy="1206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 flipV="1">
            <a:off x="12701016" y="26241373"/>
            <a:ext cx="32004" cy="12252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 flipV="1">
            <a:off x="12733020" y="26229155"/>
            <a:ext cx="32004" cy="12218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 flipV="1">
            <a:off x="12765024" y="26217127"/>
            <a:ext cx="32004" cy="12028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 flipV="1">
            <a:off x="12797028" y="26205069"/>
            <a:ext cx="32004" cy="12058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 flipV="1">
            <a:off x="12829032" y="26192922"/>
            <a:ext cx="32004" cy="12147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 flipV="1">
            <a:off x="12861036" y="26180693"/>
            <a:ext cx="32004" cy="12229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 flipV="1">
            <a:off x="12893040" y="26168407"/>
            <a:ext cx="32004" cy="12286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 flipV="1">
            <a:off x="12925044" y="26156090"/>
            <a:ext cx="32004" cy="12317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 flipV="1">
            <a:off x="12957048" y="26143769"/>
            <a:ext cx="32004" cy="1232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 flipV="1">
            <a:off x="12989052" y="26131474"/>
            <a:ext cx="32004" cy="12295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 flipV="1">
            <a:off x="13021056" y="26119250"/>
            <a:ext cx="32004" cy="12224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 flipV="1">
            <a:off x="13053060" y="26107164"/>
            <a:ext cx="32004" cy="12086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V="1">
            <a:off x="13085064" y="26095306"/>
            <a:ext cx="32004" cy="11858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V="1">
            <a:off x="13117068" y="26083794"/>
            <a:ext cx="32004" cy="11512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 flipV="1">
            <a:off x="13149072" y="26072766"/>
            <a:ext cx="32004" cy="11028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 flipV="1">
            <a:off x="13181076" y="26062358"/>
            <a:ext cx="32004" cy="10408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V="1">
            <a:off x="13213080" y="26052680"/>
            <a:ext cx="32004" cy="9678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 flipV="1">
            <a:off x="13245084" y="26043773"/>
            <a:ext cx="32004" cy="8907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 flipV="1">
            <a:off x="13277088" y="26035578"/>
            <a:ext cx="32004" cy="8195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 flipV="1">
            <a:off x="13309092" y="26027933"/>
            <a:ext cx="32004" cy="7645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 flipV="1">
            <a:off x="13341096" y="26020596"/>
            <a:ext cx="32004" cy="7337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 flipV="1">
            <a:off x="13373100" y="26013309"/>
            <a:ext cx="32004" cy="7287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 flipV="1">
            <a:off x="13405104" y="26005876"/>
            <a:ext cx="32004" cy="7433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 flipV="1">
            <a:off x="13437108" y="25998204"/>
            <a:ext cx="32004" cy="7672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V="1">
            <a:off x="13469112" y="25990309"/>
            <a:ext cx="32004" cy="7895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 flipV="1">
            <a:off x="13501116" y="25982280"/>
            <a:ext cx="32004" cy="8029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 flipV="1">
            <a:off x="13533120" y="25974219"/>
            <a:ext cx="32004" cy="806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 flipV="1">
            <a:off x="13565124" y="25966209"/>
            <a:ext cx="32004" cy="801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V="1">
            <a:off x="13597128" y="25958290"/>
            <a:ext cx="32004" cy="7919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V="1">
            <a:off x="13629132" y="25950470"/>
            <a:ext cx="32004" cy="782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 flipV="1">
            <a:off x="13661136" y="25942727"/>
            <a:ext cx="32004" cy="7743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 flipV="1">
            <a:off x="13693140" y="25935033"/>
            <a:ext cx="32004" cy="7694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 flipV="1">
            <a:off x="13725144" y="25927357"/>
            <a:ext cx="32004" cy="7676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 flipV="1">
            <a:off x="13757148" y="25919676"/>
            <a:ext cx="32004" cy="768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 flipV="1">
            <a:off x="13789152" y="25911972"/>
            <a:ext cx="32004" cy="7704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V="1">
            <a:off x="13821156" y="25904238"/>
            <a:ext cx="32004" cy="7734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 flipV="1">
            <a:off x="13853160" y="25896469"/>
            <a:ext cx="32004" cy="7769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 flipV="1">
            <a:off x="13885164" y="25888670"/>
            <a:ext cx="32004" cy="7799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 flipV="1">
            <a:off x="13917168" y="25880843"/>
            <a:ext cx="32004" cy="7827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V="1">
            <a:off x="13949172" y="25872996"/>
            <a:ext cx="32004" cy="7847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 flipV="1">
            <a:off x="13981176" y="25865136"/>
            <a:ext cx="32004" cy="786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nector 1078"/>
          <p:cNvCxnSpPr/>
          <p:nvPr/>
        </p:nvCxnSpPr>
        <p:spPr>
          <a:xfrm flipV="1">
            <a:off x="14013180" y="25857268"/>
            <a:ext cx="32004" cy="7868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Connector 1079"/>
          <p:cNvCxnSpPr/>
          <p:nvPr/>
        </p:nvCxnSpPr>
        <p:spPr>
          <a:xfrm flipV="1">
            <a:off x="14045184" y="25849398"/>
            <a:ext cx="32004" cy="787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 1080"/>
          <p:cNvCxnSpPr/>
          <p:nvPr/>
        </p:nvCxnSpPr>
        <p:spPr>
          <a:xfrm flipV="1">
            <a:off x="14077188" y="25841531"/>
            <a:ext cx="32004" cy="7867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 1081"/>
          <p:cNvCxnSpPr/>
          <p:nvPr/>
        </p:nvCxnSpPr>
        <p:spPr>
          <a:xfrm flipV="1">
            <a:off x="14109192" y="25833670"/>
            <a:ext cx="32004" cy="786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 flipV="1">
            <a:off x="14141196" y="25825818"/>
            <a:ext cx="32004" cy="7852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 flipV="1">
            <a:off x="14173200" y="25817976"/>
            <a:ext cx="32004" cy="7842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 1084"/>
          <p:cNvCxnSpPr/>
          <p:nvPr/>
        </p:nvCxnSpPr>
        <p:spPr>
          <a:xfrm flipV="1">
            <a:off x="14205204" y="25810146"/>
            <a:ext cx="32004" cy="783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 flipV="1">
            <a:off x="14237208" y="25802326"/>
            <a:ext cx="32004" cy="782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 flipV="1">
            <a:off x="14269212" y="25794518"/>
            <a:ext cx="32004" cy="7808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 flipV="1">
            <a:off x="14301216" y="25786719"/>
            <a:ext cx="32004" cy="7799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 flipV="1">
            <a:off x="14333220" y="25778929"/>
            <a:ext cx="32004" cy="779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 flipV="1">
            <a:off x="14365224" y="25771148"/>
            <a:ext cx="32004" cy="778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 flipV="1">
            <a:off x="14397228" y="25763373"/>
            <a:ext cx="32004" cy="7775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 1091"/>
          <p:cNvCxnSpPr/>
          <p:nvPr/>
        </p:nvCxnSpPr>
        <p:spPr>
          <a:xfrm flipV="1">
            <a:off x="14429232" y="25755604"/>
            <a:ext cx="32004" cy="7769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Connector 1092"/>
          <p:cNvCxnSpPr/>
          <p:nvPr/>
        </p:nvCxnSpPr>
        <p:spPr>
          <a:xfrm flipV="1">
            <a:off x="14461236" y="25747840"/>
            <a:ext cx="32004" cy="7764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 flipV="1">
            <a:off x="14493240" y="25740079"/>
            <a:ext cx="32004" cy="776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 flipV="1">
            <a:off x="14525244" y="25732323"/>
            <a:ext cx="32004" cy="7756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 flipV="1">
            <a:off x="14557248" y="25724568"/>
            <a:ext cx="32004" cy="7755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 flipV="1">
            <a:off x="14589252" y="25716817"/>
            <a:ext cx="32004" cy="7751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 flipV="1">
            <a:off x="14621256" y="25709067"/>
            <a:ext cx="32004" cy="7750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 flipV="1">
            <a:off x="14653260" y="25701641"/>
            <a:ext cx="32004" cy="7426"/>
          </a:xfrm>
          <a:prstGeom prst="line">
            <a:avLst/>
          </a:prstGeom>
          <a:ln w="190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Connector 1099"/>
          <p:cNvCxnSpPr/>
          <p:nvPr/>
        </p:nvCxnSpPr>
        <p:spPr>
          <a:xfrm>
            <a:off x="828446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>
            <a:off x="831646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>
            <a:off x="834847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Connector 1102"/>
          <p:cNvCxnSpPr/>
          <p:nvPr/>
        </p:nvCxnSpPr>
        <p:spPr>
          <a:xfrm>
            <a:off x="838047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 1103"/>
          <p:cNvCxnSpPr/>
          <p:nvPr/>
        </p:nvCxnSpPr>
        <p:spPr>
          <a:xfrm>
            <a:off x="841248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Connector 1104"/>
          <p:cNvCxnSpPr/>
          <p:nvPr/>
        </p:nvCxnSpPr>
        <p:spPr>
          <a:xfrm>
            <a:off x="844448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Connector 1105"/>
          <p:cNvCxnSpPr/>
          <p:nvPr/>
        </p:nvCxnSpPr>
        <p:spPr>
          <a:xfrm>
            <a:off x="847648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Connector 1106"/>
          <p:cNvCxnSpPr/>
          <p:nvPr/>
        </p:nvCxnSpPr>
        <p:spPr>
          <a:xfrm>
            <a:off x="850849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Connector 1107"/>
          <p:cNvCxnSpPr/>
          <p:nvPr/>
        </p:nvCxnSpPr>
        <p:spPr>
          <a:xfrm>
            <a:off x="854049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nector 1108"/>
          <p:cNvCxnSpPr/>
          <p:nvPr/>
        </p:nvCxnSpPr>
        <p:spPr>
          <a:xfrm>
            <a:off x="857250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Connector 1109"/>
          <p:cNvCxnSpPr/>
          <p:nvPr/>
        </p:nvCxnSpPr>
        <p:spPr>
          <a:xfrm>
            <a:off x="860450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1" name="Connector 1110"/>
          <p:cNvCxnSpPr/>
          <p:nvPr/>
        </p:nvCxnSpPr>
        <p:spPr>
          <a:xfrm>
            <a:off x="863650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Connector 1111"/>
          <p:cNvCxnSpPr/>
          <p:nvPr/>
        </p:nvCxnSpPr>
        <p:spPr>
          <a:xfrm>
            <a:off x="866851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Connector 1112"/>
          <p:cNvCxnSpPr/>
          <p:nvPr/>
        </p:nvCxnSpPr>
        <p:spPr>
          <a:xfrm>
            <a:off x="870051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onnector 1113"/>
          <p:cNvCxnSpPr/>
          <p:nvPr/>
        </p:nvCxnSpPr>
        <p:spPr>
          <a:xfrm>
            <a:off x="873252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 1114"/>
          <p:cNvCxnSpPr/>
          <p:nvPr/>
        </p:nvCxnSpPr>
        <p:spPr>
          <a:xfrm>
            <a:off x="876452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Connector 1115"/>
          <p:cNvCxnSpPr/>
          <p:nvPr/>
        </p:nvCxnSpPr>
        <p:spPr>
          <a:xfrm>
            <a:off x="879652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Connector 1116"/>
          <p:cNvCxnSpPr/>
          <p:nvPr/>
        </p:nvCxnSpPr>
        <p:spPr>
          <a:xfrm>
            <a:off x="882853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Connector 1117"/>
          <p:cNvCxnSpPr/>
          <p:nvPr/>
        </p:nvCxnSpPr>
        <p:spPr>
          <a:xfrm>
            <a:off x="886053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Connector 1118"/>
          <p:cNvCxnSpPr/>
          <p:nvPr/>
        </p:nvCxnSpPr>
        <p:spPr>
          <a:xfrm>
            <a:off x="889254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0" name="Connector 1119"/>
          <p:cNvCxnSpPr/>
          <p:nvPr/>
        </p:nvCxnSpPr>
        <p:spPr>
          <a:xfrm>
            <a:off x="892454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1" name="Connector 1120"/>
          <p:cNvCxnSpPr/>
          <p:nvPr/>
        </p:nvCxnSpPr>
        <p:spPr>
          <a:xfrm>
            <a:off x="895654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Connector 1121"/>
          <p:cNvCxnSpPr/>
          <p:nvPr/>
        </p:nvCxnSpPr>
        <p:spPr>
          <a:xfrm>
            <a:off x="898855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3" name="Connector 1122"/>
          <p:cNvCxnSpPr/>
          <p:nvPr/>
        </p:nvCxnSpPr>
        <p:spPr>
          <a:xfrm>
            <a:off x="902055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Connector 1123"/>
          <p:cNvCxnSpPr/>
          <p:nvPr/>
        </p:nvCxnSpPr>
        <p:spPr>
          <a:xfrm>
            <a:off x="905256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Connector 1124"/>
          <p:cNvCxnSpPr/>
          <p:nvPr/>
        </p:nvCxnSpPr>
        <p:spPr>
          <a:xfrm>
            <a:off x="908456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Connector 1125"/>
          <p:cNvCxnSpPr/>
          <p:nvPr/>
        </p:nvCxnSpPr>
        <p:spPr>
          <a:xfrm>
            <a:off x="911656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Connector 1126"/>
          <p:cNvCxnSpPr/>
          <p:nvPr/>
        </p:nvCxnSpPr>
        <p:spPr>
          <a:xfrm>
            <a:off x="914857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 1127"/>
          <p:cNvCxnSpPr/>
          <p:nvPr/>
        </p:nvCxnSpPr>
        <p:spPr>
          <a:xfrm>
            <a:off x="918057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Connector 1128"/>
          <p:cNvCxnSpPr/>
          <p:nvPr/>
        </p:nvCxnSpPr>
        <p:spPr>
          <a:xfrm>
            <a:off x="921258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 1129"/>
          <p:cNvCxnSpPr/>
          <p:nvPr/>
        </p:nvCxnSpPr>
        <p:spPr>
          <a:xfrm>
            <a:off x="924458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onnector 1130"/>
          <p:cNvCxnSpPr/>
          <p:nvPr/>
        </p:nvCxnSpPr>
        <p:spPr>
          <a:xfrm>
            <a:off x="927658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 1131"/>
          <p:cNvCxnSpPr/>
          <p:nvPr/>
        </p:nvCxnSpPr>
        <p:spPr>
          <a:xfrm>
            <a:off x="930859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nector 1132"/>
          <p:cNvCxnSpPr/>
          <p:nvPr/>
        </p:nvCxnSpPr>
        <p:spPr>
          <a:xfrm>
            <a:off x="934059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onnector 1133"/>
          <p:cNvCxnSpPr/>
          <p:nvPr/>
        </p:nvCxnSpPr>
        <p:spPr>
          <a:xfrm>
            <a:off x="937260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Connector 1134"/>
          <p:cNvCxnSpPr/>
          <p:nvPr/>
        </p:nvCxnSpPr>
        <p:spPr>
          <a:xfrm>
            <a:off x="940460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Connector 1135"/>
          <p:cNvCxnSpPr/>
          <p:nvPr/>
        </p:nvCxnSpPr>
        <p:spPr>
          <a:xfrm>
            <a:off x="943660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>
            <a:off x="946861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>
            <a:off x="950061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Connector 1138"/>
          <p:cNvCxnSpPr/>
          <p:nvPr/>
        </p:nvCxnSpPr>
        <p:spPr>
          <a:xfrm>
            <a:off x="953262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Connector 1139"/>
          <p:cNvCxnSpPr/>
          <p:nvPr/>
        </p:nvCxnSpPr>
        <p:spPr>
          <a:xfrm>
            <a:off x="956462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Connector 1140"/>
          <p:cNvCxnSpPr/>
          <p:nvPr/>
        </p:nvCxnSpPr>
        <p:spPr>
          <a:xfrm>
            <a:off x="959662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Connector 1141"/>
          <p:cNvCxnSpPr/>
          <p:nvPr/>
        </p:nvCxnSpPr>
        <p:spPr>
          <a:xfrm>
            <a:off x="962863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Connector 1142"/>
          <p:cNvCxnSpPr/>
          <p:nvPr/>
        </p:nvCxnSpPr>
        <p:spPr>
          <a:xfrm>
            <a:off x="966063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Connector 1143"/>
          <p:cNvCxnSpPr/>
          <p:nvPr/>
        </p:nvCxnSpPr>
        <p:spPr>
          <a:xfrm>
            <a:off x="969264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Connector 1144"/>
          <p:cNvCxnSpPr/>
          <p:nvPr/>
        </p:nvCxnSpPr>
        <p:spPr>
          <a:xfrm>
            <a:off x="972464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Connector 1145"/>
          <p:cNvCxnSpPr/>
          <p:nvPr/>
        </p:nvCxnSpPr>
        <p:spPr>
          <a:xfrm>
            <a:off x="975664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7" name="Connector 1146"/>
          <p:cNvCxnSpPr/>
          <p:nvPr/>
        </p:nvCxnSpPr>
        <p:spPr>
          <a:xfrm>
            <a:off x="978865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Connector 1147"/>
          <p:cNvCxnSpPr/>
          <p:nvPr/>
        </p:nvCxnSpPr>
        <p:spPr>
          <a:xfrm>
            <a:off x="982065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Connector 1148"/>
          <p:cNvCxnSpPr/>
          <p:nvPr/>
        </p:nvCxnSpPr>
        <p:spPr>
          <a:xfrm>
            <a:off x="985266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Connector 1149"/>
          <p:cNvCxnSpPr/>
          <p:nvPr/>
        </p:nvCxnSpPr>
        <p:spPr>
          <a:xfrm>
            <a:off x="988466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Connector 1150"/>
          <p:cNvCxnSpPr/>
          <p:nvPr/>
        </p:nvCxnSpPr>
        <p:spPr>
          <a:xfrm>
            <a:off x="991666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2" name="Connector 1151"/>
          <p:cNvCxnSpPr/>
          <p:nvPr/>
        </p:nvCxnSpPr>
        <p:spPr>
          <a:xfrm>
            <a:off x="994867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Connector 1152"/>
          <p:cNvCxnSpPr/>
          <p:nvPr/>
        </p:nvCxnSpPr>
        <p:spPr>
          <a:xfrm>
            <a:off x="998067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001268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004468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Connector 1155"/>
          <p:cNvCxnSpPr/>
          <p:nvPr/>
        </p:nvCxnSpPr>
        <p:spPr>
          <a:xfrm>
            <a:off x="1007668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>
            <a:off x="1010869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>
            <a:off x="1014069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9" name="Connector 1158"/>
          <p:cNvCxnSpPr/>
          <p:nvPr/>
        </p:nvCxnSpPr>
        <p:spPr>
          <a:xfrm>
            <a:off x="1017270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Connector 1159"/>
          <p:cNvCxnSpPr/>
          <p:nvPr/>
        </p:nvCxnSpPr>
        <p:spPr>
          <a:xfrm>
            <a:off x="1020470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1" name="Connector 1160"/>
          <p:cNvCxnSpPr/>
          <p:nvPr/>
        </p:nvCxnSpPr>
        <p:spPr>
          <a:xfrm>
            <a:off x="1023670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Connector 1161"/>
          <p:cNvCxnSpPr/>
          <p:nvPr/>
        </p:nvCxnSpPr>
        <p:spPr>
          <a:xfrm>
            <a:off x="1026871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Connector 1162"/>
          <p:cNvCxnSpPr/>
          <p:nvPr/>
        </p:nvCxnSpPr>
        <p:spPr>
          <a:xfrm>
            <a:off x="1030071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4" name="Connector 1163"/>
          <p:cNvCxnSpPr/>
          <p:nvPr/>
        </p:nvCxnSpPr>
        <p:spPr>
          <a:xfrm>
            <a:off x="1033272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5" name="Connector 1164"/>
          <p:cNvCxnSpPr/>
          <p:nvPr/>
        </p:nvCxnSpPr>
        <p:spPr>
          <a:xfrm>
            <a:off x="1036472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Connector 1165"/>
          <p:cNvCxnSpPr/>
          <p:nvPr/>
        </p:nvCxnSpPr>
        <p:spPr>
          <a:xfrm>
            <a:off x="1039672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7" name="Connector 1166"/>
          <p:cNvCxnSpPr/>
          <p:nvPr/>
        </p:nvCxnSpPr>
        <p:spPr>
          <a:xfrm>
            <a:off x="1042873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8" name="Connector 1167"/>
          <p:cNvCxnSpPr/>
          <p:nvPr/>
        </p:nvCxnSpPr>
        <p:spPr>
          <a:xfrm>
            <a:off x="1046073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Connector 1168"/>
          <p:cNvCxnSpPr/>
          <p:nvPr/>
        </p:nvCxnSpPr>
        <p:spPr>
          <a:xfrm>
            <a:off x="1049274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>
            <a:off x="1052474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>
            <a:off x="1055674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nector 1171"/>
          <p:cNvCxnSpPr/>
          <p:nvPr/>
        </p:nvCxnSpPr>
        <p:spPr>
          <a:xfrm>
            <a:off x="1058875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nector 1172"/>
          <p:cNvCxnSpPr/>
          <p:nvPr/>
        </p:nvCxnSpPr>
        <p:spPr>
          <a:xfrm>
            <a:off x="1062075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Connector 1173"/>
          <p:cNvCxnSpPr/>
          <p:nvPr/>
        </p:nvCxnSpPr>
        <p:spPr>
          <a:xfrm>
            <a:off x="1065276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5" name="Connector 1174"/>
          <p:cNvCxnSpPr/>
          <p:nvPr/>
        </p:nvCxnSpPr>
        <p:spPr>
          <a:xfrm>
            <a:off x="1068476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 1175"/>
          <p:cNvCxnSpPr/>
          <p:nvPr/>
        </p:nvCxnSpPr>
        <p:spPr>
          <a:xfrm>
            <a:off x="1071676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Connector 1176"/>
          <p:cNvCxnSpPr/>
          <p:nvPr/>
        </p:nvCxnSpPr>
        <p:spPr>
          <a:xfrm>
            <a:off x="1074877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Connector 1177"/>
          <p:cNvCxnSpPr/>
          <p:nvPr/>
        </p:nvCxnSpPr>
        <p:spPr>
          <a:xfrm>
            <a:off x="1078077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Connector 1178"/>
          <p:cNvCxnSpPr/>
          <p:nvPr/>
        </p:nvCxnSpPr>
        <p:spPr>
          <a:xfrm>
            <a:off x="1081278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Connector 1179"/>
          <p:cNvCxnSpPr/>
          <p:nvPr/>
        </p:nvCxnSpPr>
        <p:spPr>
          <a:xfrm>
            <a:off x="1084478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Connector 1180"/>
          <p:cNvCxnSpPr/>
          <p:nvPr/>
        </p:nvCxnSpPr>
        <p:spPr>
          <a:xfrm>
            <a:off x="1087678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 1181"/>
          <p:cNvCxnSpPr/>
          <p:nvPr/>
        </p:nvCxnSpPr>
        <p:spPr>
          <a:xfrm>
            <a:off x="1090879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Connector 1182"/>
          <p:cNvCxnSpPr/>
          <p:nvPr/>
        </p:nvCxnSpPr>
        <p:spPr>
          <a:xfrm>
            <a:off x="1094079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Connector 1183"/>
          <p:cNvCxnSpPr/>
          <p:nvPr/>
        </p:nvCxnSpPr>
        <p:spPr>
          <a:xfrm>
            <a:off x="1097280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5" name="Connector 1184"/>
          <p:cNvCxnSpPr/>
          <p:nvPr/>
        </p:nvCxnSpPr>
        <p:spPr>
          <a:xfrm>
            <a:off x="1100480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 1185"/>
          <p:cNvCxnSpPr/>
          <p:nvPr/>
        </p:nvCxnSpPr>
        <p:spPr>
          <a:xfrm>
            <a:off x="1103680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Connector 1186"/>
          <p:cNvCxnSpPr/>
          <p:nvPr/>
        </p:nvCxnSpPr>
        <p:spPr>
          <a:xfrm>
            <a:off x="1106881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8" name="Connector 1187"/>
          <p:cNvCxnSpPr/>
          <p:nvPr/>
        </p:nvCxnSpPr>
        <p:spPr>
          <a:xfrm>
            <a:off x="1110081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9" name="Connector 1188"/>
          <p:cNvCxnSpPr/>
          <p:nvPr/>
        </p:nvCxnSpPr>
        <p:spPr>
          <a:xfrm>
            <a:off x="1113282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Connector 1189"/>
          <p:cNvCxnSpPr/>
          <p:nvPr/>
        </p:nvCxnSpPr>
        <p:spPr>
          <a:xfrm flipV="1">
            <a:off x="11164824" y="27706319"/>
            <a:ext cx="32004" cy="1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 1190"/>
          <p:cNvCxnSpPr/>
          <p:nvPr/>
        </p:nvCxnSpPr>
        <p:spPr>
          <a:xfrm>
            <a:off x="11196828" y="27706319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Connector 1191"/>
          <p:cNvCxnSpPr/>
          <p:nvPr/>
        </p:nvCxnSpPr>
        <p:spPr>
          <a:xfrm>
            <a:off x="11228832" y="27706319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Connector 1192"/>
          <p:cNvCxnSpPr/>
          <p:nvPr/>
        </p:nvCxnSpPr>
        <p:spPr>
          <a:xfrm flipV="1">
            <a:off x="11260836" y="27706318"/>
            <a:ext cx="32004" cy="1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Connector 1193"/>
          <p:cNvCxnSpPr/>
          <p:nvPr/>
        </p:nvCxnSpPr>
        <p:spPr>
          <a:xfrm>
            <a:off x="11292840" y="27706318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Connector 1194"/>
          <p:cNvCxnSpPr/>
          <p:nvPr/>
        </p:nvCxnSpPr>
        <p:spPr>
          <a:xfrm>
            <a:off x="11324844" y="27706318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>
            <a:off x="11356848" y="27706318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>
            <a:off x="11388852" y="27706318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nector 1197"/>
          <p:cNvCxnSpPr/>
          <p:nvPr/>
        </p:nvCxnSpPr>
        <p:spPr>
          <a:xfrm>
            <a:off x="11420856" y="27706318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 1198"/>
          <p:cNvCxnSpPr/>
          <p:nvPr/>
        </p:nvCxnSpPr>
        <p:spPr>
          <a:xfrm>
            <a:off x="11452860" y="27706318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0" name="Connector 1199"/>
          <p:cNvCxnSpPr/>
          <p:nvPr/>
        </p:nvCxnSpPr>
        <p:spPr>
          <a:xfrm>
            <a:off x="11484864" y="27706318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Connector 1200"/>
          <p:cNvCxnSpPr/>
          <p:nvPr/>
        </p:nvCxnSpPr>
        <p:spPr>
          <a:xfrm>
            <a:off x="11516868" y="27706318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 1201"/>
          <p:cNvCxnSpPr/>
          <p:nvPr/>
        </p:nvCxnSpPr>
        <p:spPr>
          <a:xfrm>
            <a:off x="11548872" y="27706318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Connector 1202"/>
          <p:cNvCxnSpPr/>
          <p:nvPr/>
        </p:nvCxnSpPr>
        <p:spPr>
          <a:xfrm>
            <a:off x="11580876" y="27706318"/>
            <a:ext cx="32004" cy="1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4" name="Connector 1203"/>
          <p:cNvCxnSpPr/>
          <p:nvPr/>
        </p:nvCxnSpPr>
        <p:spPr>
          <a:xfrm>
            <a:off x="11612880" y="27706319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5" name="Connector 1204"/>
          <p:cNvCxnSpPr/>
          <p:nvPr/>
        </p:nvCxnSpPr>
        <p:spPr>
          <a:xfrm>
            <a:off x="11644884" y="27706319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Connector 1205"/>
          <p:cNvCxnSpPr/>
          <p:nvPr/>
        </p:nvCxnSpPr>
        <p:spPr>
          <a:xfrm>
            <a:off x="11676888" y="27706319"/>
            <a:ext cx="32004" cy="1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Connector 1206"/>
          <p:cNvCxnSpPr/>
          <p:nvPr/>
        </p:nvCxnSpPr>
        <p:spPr>
          <a:xfrm>
            <a:off x="1170889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nector 1207"/>
          <p:cNvCxnSpPr/>
          <p:nvPr/>
        </p:nvCxnSpPr>
        <p:spPr>
          <a:xfrm>
            <a:off x="1174089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nector 1208"/>
          <p:cNvCxnSpPr/>
          <p:nvPr/>
        </p:nvCxnSpPr>
        <p:spPr>
          <a:xfrm>
            <a:off x="1177290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Connector 1209"/>
          <p:cNvCxnSpPr/>
          <p:nvPr/>
        </p:nvCxnSpPr>
        <p:spPr>
          <a:xfrm>
            <a:off x="1180490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Connector 1210"/>
          <p:cNvCxnSpPr/>
          <p:nvPr/>
        </p:nvCxnSpPr>
        <p:spPr>
          <a:xfrm>
            <a:off x="1183690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Connector 1211"/>
          <p:cNvCxnSpPr/>
          <p:nvPr/>
        </p:nvCxnSpPr>
        <p:spPr>
          <a:xfrm>
            <a:off x="1186891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 1212"/>
          <p:cNvCxnSpPr/>
          <p:nvPr/>
        </p:nvCxnSpPr>
        <p:spPr>
          <a:xfrm>
            <a:off x="1190091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nector 1213"/>
          <p:cNvCxnSpPr/>
          <p:nvPr/>
        </p:nvCxnSpPr>
        <p:spPr>
          <a:xfrm>
            <a:off x="1193292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Connector 1214"/>
          <p:cNvCxnSpPr/>
          <p:nvPr/>
        </p:nvCxnSpPr>
        <p:spPr>
          <a:xfrm>
            <a:off x="1196492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6" name="Connector 1215"/>
          <p:cNvCxnSpPr/>
          <p:nvPr/>
        </p:nvCxnSpPr>
        <p:spPr>
          <a:xfrm>
            <a:off x="1199692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nector 1216"/>
          <p:cNvCxnSpPr/>
          <p:nvPr/>
        </p:nvCxnSpPr>
        <p:spPr>
          <a:xfrm>
            <a:off x="1202893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8" name="Connector 1217"/>
          <p:cNvCxnSpPr/>
          <p:nvPr/>
        </p:nvCxnSpPr>
        <p:spPr>
          <a:xfrm>
            <a:off x="1206093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 1218"/>
          <p:cNvCxnSpPr/>
          <p:nvPr/>
        </p:nvCxnSpPr>
        <p:spPr>
          <a:xfrm>
            <a:off x="1209294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Connector 1219"/>
          <p:cNvCxnSpPr/>
          <p:nvPr/>
        </p:nvCxnSpPr>
        <p:spPr>
          <a:xfrm>
            <a:off x="1212494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1" name="Connector 1220"/>
          <p:cNvCxnSpPr/>
          <p:nvPr/>
        </p:nvCxnSpPr>
        <p:spPr>
          <a:xfrm>
            <a:off x="1215694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Connector 1221"/>
          <p:cNvCxnSpPr/>
          <p:nvPr/>
        </p:nvCxnSpPr>
        <p:spPr>
          <a:xfrm>
            <a:off x="1218895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 1222"/>
          <p:cNvCxnSpPr/>
          <p:nvPr/>
        </p:nvCxnSpPr>
        <p:spPr>
          <a:xfrm>
            <a:off x="1222095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4" name="Connector 1223"/>
          <p:cNvCxnSpPr/>
          <p:nvPr/>
        </p:nvCxnSpPr>
        <p:spPr>
          <a:xfrm>
            <a:off x="1225296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5" name="Connector 1224"/>
          <p:cNvCxnSpPr/>
          <p:nvPr/>
        </p:nvCxnSpPr>
        <p:spPr>
          <a:xfrm>
            <a:off x="1228496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231696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2348972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Connector 1227"/>
          <p:cNvCxnSpPr/>
          <p:nvPr/>
        </p:nvCxnSpPr>
        <p:spPr>
          <a:xfrm>
            <a:off x="12380976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 1228"/>
          <p:cNvCxnSpPr/>
          <p:nvPr/>
        </p:nvCxnSpPr>
        <p:spPr>
          <a:xfrm>
            <a:off x="1241298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Connector 1229"/>
          <p:cNvCxnSpPr/>
          <p:nvPr/>
        </p:nvCxnSpPr>
        <p:spPr>
          <a:xfrm>
            <a:off x="1244498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nector 1230"/>
          <p:cNvCxnSpPr/>
          <p:nvPr/>
        </p:nvCxnSpPr>
        <p:spPr>
          <a:xfrm>
            <a:off x="12476988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2" name="Connector 1231"/>
          <p:cNvCxnSpPr/>
          <p:nvPr/>
        </p:nvCxnSpPr>
        <p:spPr>
          <a:xfrm flipV="1">
            <a:off x="12508992" y="27706318"/>
            <a:ext cx="32004" cy="2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3" name="Connector 1232"/>
          <p:cNvCxnSpPr/>
          <p:nvPr/>
        </p:nvCxnSpPr>
        <p:spPr>
          <a:xfrm>
            <a:off x="12540996" y="27706318"/>
            <a:ext cx="32004" cy="2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nector 1233"/>
          <p:cNvCxnSpPr/>
          <p:nvPr/>
        </p:nvCxnSpPr>
        <p:spPr>
          <a:xfrm>
            <a:off x="12573000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5" name="Connector 1234"/>
          <p:cNvCxnSpPr/>
          <p:nvPr/>
        </p:nvCxnSpPr>
        <p:spPr>
          <a:xfrm>
            <a:off x="12605004" y="27706320"/>
            <a:ext cx="32004" cy="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6" name="Connector 1235"/>
          <p:cNvCxnSpPr/>
          <p:nvPr/>
        </p:nvCxnSpPr>
        <p:spPr>
          <a:xfrm flipV="1">
            <a:off x="12637008" y="26278378"/>
            <a:ext cx="32004" cy="1427942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 1236"/>
          <p:cNvCxnSpPr/>
          <p:nvPr/>
        </p:nvCxnSpPr>
        <p:spPr>
          <a:xfrm flipV="1">
            <a:off x="12669012" y="26270931"/>
            <a:ext cx="32004" cy="7447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Connector 1237"/>
          <p:cNvCxnSpPr/>
          <p:nvPr/>
        </p:nvCxnSpPr>
        <p:spPr>
          <a:xfrm flipV="1">
            <a:off x="12701016" y="26263796"/>
            <a:ext cx="32004" cy="7135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Connector 1238"/>
          <p:cNvCxnSpPr/>
          <p:nvPr/>
        </p:nvCxnSpPr>
        <p:spPr>
          <a:xfrm flipV="1">
            <a:off x="12733020" y="26256732"/>
            <a:ext cx="32004" cy="7064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nector 1239"/>
          <p:cNvCxnSpPr/>
          <p:nvPr/>
        </p:nvCxnSpPr>
        <p:spPr>
          <a:xfrm flipV="1">
            <a:off x="12765024" y="26249536"/>
            <a:ext cx="32004" cy="7196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1240"/>
          <p:cNvCxnSpPr/>
          <p:nvPr/>
        </p:nvCxnSpPr>
        <p:spPr>
          <a:xfrm flipV="1">
            <a:off x="12797028" y="26242015"/>
            <a:ext cx="32004" cy="7521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 1241"/>
          <p:cNvCxnSpPr/>
          <p:nvPr/>
        </p:nvCxnSpPr>
        <p:spPr>
          <a:xfrm flipV="1">
            <a:off x="12829032" y="26234193"/>
            <a:ext cx="32004" cy="7822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nector 1242"/>
          <p:cNvCxnSpPr/>
          <p:nvPr/>
        </p:nvCxnSpPr>
        <p:spPr>
          <a:xfrm flipV="1">
            <a:off x="12861036" y="26226185"/>
            <a:ext cx="32004" cy="8008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4" name="Connector 1243"/>
          <p:cNvCxnSpPr/>
          <p:nvPr/>
        </p:nvCxnSpPr>
        <p:spPr>
          <a:xfrm flipV="1">
            <a:off x="12893040" y="26218108"/>
            <a:ext cx="32004" cy="8077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Connector 1244"/>
          <p:cNvCxnSpPr/>
          <p:nvPr/>
        </p:nvCxnSpPr>
        <p:spPr>
          <a:xfrm flipV="1">
            <a:off x="12925044" y="26210055"/>
            <a:ext cx="32004" cy="8053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Connector 1245"/>
          <p:cNvCxnSpPr/>
          <p:nvPr/>
        </p:nvCxnSpPr>
        <p:spPr>
          <a:xfrm flipV="1">
            <a:off x="12957048" y="26202077"/>
            <a:ext cx="32004" cy="7978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Connector 1246"/>
          <p:cNvCxnSpPr/>
          <p:nvPr/>
        </p:nvCxnSpPr>
        <p:spPr>
          <a:xfrm flipV="1">
            <a:off x="12989052" y="26194191"/>
            <a:ext cx="32004" cy="7886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8" name="Connector 1247"/>
          <p:cNvCxnSpPr/>
          <p:nvPr/>
        </p:nvCxnSpPr>
        <p:spPr>
          <a:xfrm flipV="1">
            <a:off x="13021056" y="26186389"/>
            <a:ext cx="32004" cy="7802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Connector 1248"/>
          <p:cNvCxnSpPr/>
          <p:nvPr/>
        </p:nvCxnSpPr>
        <p:spPr>
          <a:xfrm flipV="1">
            <a:off x="13053060" y="26178654"/>
            <a:ext cx="32004" cy="7735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Connector 1249"/>
          <p:cNvCxnSpPr/>
          <p:nvPr/>
        </p:nvCxnSpPr>
        <p:spPr>
          <a:xfrm flipV="1">
            <a:off x="13085064" y="26170960"/>
            <a:ext cx="32004" cy="7694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1" name="Connector 1250"/>
          <p:cNvCxnSpPr/>
          <p:nvPr/>
        </p:nvCxnSpPr>
        <p:spPr>
          <a:xfrm flipV="1">
            <a:off x="13117068" y="26163284"/>
            <a:ext cx="32004" cy="7676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Connector 1251"/>
          <p:cNvCxnSpPr/>
          <p:nvPr/>
        </p:nvCxnSpPr>
        <p:spPr>
          <a:xfrm flipV="1">
            <a:off x="13149072" y="26155607"/>
            <a:ext cx="32004" cy="7677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 flipV="1">
            <a:off x="13181076" y="26147914"/>
            <a:ext cx="32004" cy="7693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4" name="Connector 1253"/>
          <p:cNvCxnSpPr/>
          <p:nvPr/>
        </p:nvCxnSpPr>
        <p:spPr>
          <a:xfrm flipV="1">
            <a:off x="13213080" y="26140198"/>
            <a:ext cx="32004" cy="7716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Connector 1254"/>
          <p:cNvCxnSpPr/>
          <p:nvPr/>
        </p:nvCxnSpPr>
        <p:spPr>
          <a:xfrm flipV="1">
            <a:off x="13245084" y="26132453"/>
            <a:ext cx="32004" cy="7745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6" name="Connector 1255"/>
          <p:cNvCxnSpPr/>
          <p:nvPr/>
        </p:nvCxnSpPr>
        <p:spPr>
          <a:xfrm flipV="1">
            <a:off x="13277088" y="26124679"/>
            <a:ext cx="32004" cy="7774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Connector 1256"/>
          <p:cNvCxnSpPr/>
          <p:nvPr/>
        </p:nvCxnSpPr>
        <p:spPr>
          <a:xfrm flipV="1">
            <a:off x="13309092" y="26116878"/>
            <a:ext cx="32004" cy="7801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8" name="Connector 1257"/>
          <p:cNvCxnSpPr/>
          <p:nvPr/>
        </p:nvCxnSpPr>
        <p:spPr>
          <a:xfrm flipV="1">
            <a:off x="13341096" y="26109053"/>
            <a:ext cx="32004" cy="7825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9" name="Connector 1258"/>
          <p:cNvCxnSpPr/>
          <p:nvPr/>
        </p:nvCxnSpPr>
        <p:spPr>
          <a:xfrm flipV="1">
            <a:off x="13373100" y="26101210"/>
            <a:ext cx="32004" cy="7843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0" name="Connector 1259"/>
          <p:cNvCxnSpPr/>
          <p:nvPr/>
        </p:nvCxnSpPr>
        <p:spPr>
          <a:xfrm flipV="1">
            <a:off x="13405104" y="26093353"/>
            <a:ext cx="32004" cy="7857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1" name="Connector 1260"/>
          <p:cNvCxnSpPr/>
          <p:nvPr/>
        </p:nvCxnSpPr>
        <p:spPr>
          <a:xfrm flipV="1">
            <a:off x="13437108" y="26085488"/>
            <a:ext cx="32004" cy="7865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Connector 1261"/>
          <p:cNvCxnSpPr/>
          <p:nvPr/>
        </p:nvCxnSpPr>
        <p:spPr>
          <a:xfrm flipV="1">
            <a:off x="13469112" y="26077620"/>
            <a:ext cx="32004" cy="7868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3" name="Connector 1262"/>
          <p:cNvCxnSpPr/>
          <p:nvPr/>
        </p:nvCxnSpPr>
        <p:spPr>
          <a:xfrm flipV="1">
            <a:off x="13501116" y="26069752"/>
            <a:ext cx="32004" cy="7868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4" name="Connector 1263"/>
          <p:cNvCxnSpPr/>
          <p:nvPr/>
        </p:nvCxnSpPr>
        <p:spPr>
          <a:xfrm flipV="1">
            <a:off x="13533120" y="26061887"/>
            <a:ext cx="32004" cy="7865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5" name="Connector 1264"/>
          <p:cNvCxnSpPr/>
          <p:nvPr/>
        </p:nvCxnSpPr>
        <p:spPr>
          <a:xfrm flipV="1">
            <a:off x="13565124" y="26054029"/>
            <a:ext cx="32004" cy="7858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6" name="Connector 1265"/>
          <p:cNvCxnSpPr/>
          <p:nvPr/>
        </p:nvCxnSpPr>
        <p:spPr>
          <a:xfrm flipV="1">
            <a:off x="13597128" y="26046180"/>
            <a:ext cx="32004" cy="7849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7" name="Connector 1266"/>
          <p:cNvCxnSpPr/>
          <p:nvPr/>
        </p:nvCxnSpPr>
        <p:spPr>
          <a:xfrm flipV="1">
            <a:off x="13629132" y="26038340"/>
            <a:ext cx="32004" cy="784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8" name="Connector 1267"/>
          <p:cNvCxnSpPr/>
          <p:nvPr/>
        </p:nvCxnSpPr>
        <p:spPr>
          <a:xfrm flipV="1">
            <a:off x="13661136" y="26030511"/>
            <a:ext cx="32004" cy="7829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9" name="Connector 1268"/>
          <p:cNvCxnSpPr/>
          <p:nvPr/>
        </p:nvCxnSpPr>
        <p:spPr>
          <a:xfrm flipV="1">
            <a:off x="13693140" y="26022691"/>
            <a:ext cx="32004" cy="782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0" name="Connector 1269"/>
          <p:cNvCxnSpPr/>
          <p:nvPr/>
        </p:nvCxnSpPr>
        <p:spPr>
          <a:xfrm flipV="1">
            <a:off x="13725144" y="26014882"/>
            <a:ext cx="32004" cy="7809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1" name="Connector 1270"/>
          <p:cNvCxnSpPr/>
          <p:nvPr/>
        </p:nvCxnSpPr>
        <p:spPr>
          <a:xfrm flipV="1">
            <a:off x="13757148" y="26007083"/>
            <a:ext cx="32004" cy="7799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2" name="Connector 1271"/>
          <p:cNvCxnSpPr/>
          <p:nvPr/>
        </p:nvCxnSpPr>
        <p:spPr>
          <a:xfrm flipV="1">
            <a:off x="13789152" y="25999292"/>
            <a:ext cx="32004" cy="7791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3" name="Connector 1272"/>
          <p:cNvCxnSpPr/>
          <p:nvPr/>
        </p:nvCxnSpPr>
        <p:spPr>
          <a:xfrm flipV="1">
            <a:off x="13821156" y="25991508"/>
            <a:ext cx="32004" cy="7784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4" name="Connector 1273"/>
          <p:cNvCxnSpPr/>
          <p:nvPr/>
        </p:nvCxnSpPr>
        <p:spPr>
          <a:xfrm flipV="1">
            <a:off x="13853160" y="25983730"/>
            <a:ext cx="32004" cy="7778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5" name="Connector 1274"/>
          <p:cNvCxnSpPr/>
          <p:nvPr/>
        </p:nvCxnSpPr>
        <p:spPr>
          <a:xfrm flipV="1">
            <a:off x="13885164" y="25975957"/>
            <a:ext cx="32004" cy="7773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6" name="Connector 1275"/>
          <p:cNvCxnSpPr/>
          <p:nvPr/>
        </p:nvCxnSpPr>
        <p:spPr>
          <a:xfrm flipV="1">
            <a:off x="13917168" y="25968187"/>
            <a:ext cx="32004" cy="777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7" name="Connector 1276"/>
          <p:cNvCxnSpPr/>
          <p:nvPr/>
        </p:nvCxnSpPr>
        <p:spPr>
          <a:xfrm flipV="1">
            <a:off x="13949172" y="25960420"/>
            <a:ext cx="32004" cy="7767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8" name="Connector 1277"/>
          <p:cNvCxnSpPr/>
          <p:nvPr/>
        </p:nvCxnSpPr>
        <p:spPr>
          <a:xfrm flipV="1">
            <a:off x="13981176" y="25952654"/>
            <a:ext cx="32004" cy="7766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9" name="Connector 1278"/>
          <p:cNvCxnSpPr/>
          <p:nvPr/>
        </p:nvCxnSpPr>
        <p:spPr>
          <a:xfrm flipV="1">
            <a:off x="14013180" y="25944887"/>
            <a:ext cx="32004" cy="7767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0" name="Connector 1279"/>
          <p:cNvCxnSpPr/>
          <p:nvPr/>
        </p:nvCxnSpPr>
        <p:spPr>
          <a:xfrm flipV="1">
            <a:off x="14045184" y="25937118"/>
            <a:ext cx="32004" cy="7769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1" name="Connector 1280"/>
          <p:cNvCxnSpPr/>
          <p:nvPr/>
        </p:nvCxnSpPr>
        <p:spPr>
          <a:xfrm flipV="1">
            <a:off x="14077188" y="25929348"/>
            <a:ext cx="32004" cy="777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 1281"/>
          <p:cNvCxnSpPr/>
          <p:nvPr/>
        </p:nvCxnSpPr>
        <p:spPr>
          <a:xfrm flipV="1">
            <a:off x="14109192" y="25921574"/>
            <a:ext cx="32004" cy="7774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3" name="Connector 1282"/>
          <p:cNvCxnSpPr/>
          <p:nvPr/>
        </p:nvCxnSpPr>
        <p:spPr>
          <a:xfrm flipV="1">
            <a:off x="14141196" y="25913796"/>
            <a:ext cx="32004" cy="7778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4" name="Connector 1283"/>
          <p:cNvCxnSpPr/>
          <p:nvPr/>
        </p:nvCxnSpPr>
        <p:spPr>
          <a:xfrm flipV="1">
            <a:off x="14173200" y="25906013"/>
            <a:ext cx="32004" cy="7783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5" name="Connector 1284"/>
          <p:cNvCxnSpPr/>
          <p:nvPr/>
        </p:nvCxnSpPr>
        <p:spPr>
          <a:xfrm flipV="1">
            <a:off x="14205204" y="25898225"/>
            <a:ext cx="32004" cy="7788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6" name="Connector 1285"/>
          <p:cNvCxnSpPr/>
          <p:nvPr/>
        </p:nvCxnSpPr>
        <p:spPr>
          <a:xfrm flipV="1">
            <a:off x="14237208" y="25890431"/>
            <a:ext cx="32004" cy="7794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7" name="Connector 1286"/>
          <p:cNvCxnSpPr/>
          <p:nvPr/>
        </p:nvCxnSpPr>
        <p:spPr>
          <a:xfrm flipV="1">
            <a:off x="14269212" y="25882631"/>
            <a:ext cx="32004" cy="780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8" name="Connector 1287"/>
          <p:cNvCxnSpPr/>
          <p:nvPr/>
        </p:nvCxnSpPr>
        <p:spPr>
          <a:xfrm flipV="1">
            <a:off x="14301216" y="25874825"/>
            <a:ext cx="32004" cy="7806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9" name="Connector 1288"/>
          <p:cNvCxnSpPr/>
          <p:nvPr/>
        </p:nvCxnSpPr>
        <p:spPr>
          <a:xfrm flipV="1">
            <a:off x="14333220" y="25867013"/>
            <a:ext cx="32004" cy="7812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0" name="Connector 1289"/>
          <p:cNvCxnSpPr/>
          <p:nvPr/>
        </p:nvCxnSpPr>
        <p:spPr>
          <a:xfrm flipV="1">
            <a:off x="14365224" y="25859194"/>
            <a:ext cx="32004" cy="7819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1" name="Connector 1290"/>
          <p:cNvCxnSpPr/>
          <p:nvPr/>
        </p:nvCxnSpPr>
        <p:spPr>
          <a:xfrm flipV="1">
            <a:off x="14397228" y="25851369"/>
            <a:ext cx="32004" cy="7825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2" name="Connector 1291"/>
          <p:cNvCxnSpPr/>
          <p:nvPr/>
        </p:nvCxnSpPr>
        <p:spPr>
          <a:xfrm flipV="1">
            <a:off x="14429232" y="25843537"/>
            <a:ext cx="32004" cy="7832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3" name="Connector 1292"/>
          <p:cNvCxnSpPr/>
          <p:nvPr/>
        </p:nvCxnSpPr>
        <p:spPr>
          <a:xfrm flipV="1">
            <a:off x="14461236" y="25835699"/>
            <a:ext cx="32004" cy="7838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4" name="Connector 1293"/>
          <p:cNvCxnSpPr/>
          <p:nvPr/>
        </p:nvCxnSpPr>
        <p:spPr>
          <a:xfrm flipV="1">
            <a:off x="14493240" y="25827856"/>
            <a:ext cx="32004" cy="7843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5" name="Connector 1294"/>
          <p:cNvCxnSpPr/>
          <p:nvPr/>
        </p:nvCxnSpPr>
        <p:spPr>
          <a:xfrm flipV="1">
            <a:off x="14525244" y="25820007"/>
            <a:ext cx="32004" cy="7849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 1295"/>
          <p:cNvCxnSpPr/>
          <p:nvPr/>
        </p:nvCxnSpPr>
        <p:spPr>
          <a:xfrm flipV="1">
            <a:off x="14557248" y="25812152"/>
            <a:ext cx="32004" cy="7855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 1296"/>
          <p:cNvCxnSpPr/>
          <p:nvPr/>
        </p:nvCxnSpPr>
        <p:spPr>
          <a:xfrm flipV="1">
            <a:off x="14589252" y="25804293"/>
            <a:ext cx="32004" cy="7859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8" name="Connector 1297"/>
          <p:cNvCxnSpPr/>
          <p:nvPr/>
        </p:nvCxnSpPr>
        <p:spPr>
          <a:xfrm flipV="1">
            <a:off x="14621256" y="25796430"/>
            <a:ext cx="32004" cy="7863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Connector 1298"/>
          <p:cNvCxnSpPr/>
          <p:nvPr/>
        </p:nvCxnSpPr>
        <p:spPr>
          <a:xfrm flipV="1">
            <a:off x="14653260" y="25788890"/>
            <a:ext cx="32004" cy="7540"/>
          </a:xfrm>
          <a:prstGeom prst="line">
            <a:avLst/>
          </a:prstGeom>
          <a:ln w="19050">
            <a:solidFill>
              <a:srgbClr val="B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0" name="TextBox 1299"/>
          <p:cNvSpPr txBox="1"/>
          <p:nvPr/>
        </p:nvSpPr>
        <p:spPr>
          <a:xfrm>
            <a:off x="310896" y="269748"/>
            <a:ext cx="11486007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Inside the surrogate: one evaluation of the shipped network, on two voxels of one run</a:t>
            </a:r>
          </a:p>
        </p:txBody>
      </p:sp>
      <p:sp>
        <p:nvSpPr>
          <p:cNvPr id="1301" name="TextBox 1300"/>
          <p:cNvSpPr txBox="1"/>
          <p:nvPr/>
        </p:nvSpPr>
        <p:spPr>
          <a:xfrm>
            <a:off x="310896" y="768096"/>
            <a:ext cx="11721465" cy="43525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Every number below is computed from the weights, the two scalings and the training box written into src/surrogateModel.hh, at two compositions the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shipped case passes through, so any line can be checked with a calculator. The fed voxel is drawn in blue and the starved one in red throughout.</a:t>
            </a:r>
          </a:p>
        </p:txBody>
      </p:sp>
      <p:sp>
        <p:nvSpPr>
          <p:cNvPr id="1302" name="TextBox 1301"/>
          <p:cNvSpPr txBox="1"/>
          <p:nvPr/>
        </p:nvSpPr>
        <p:spPr>
          <a:xfrm>
            <a:off x="658368" y="1261872"/>
            <a:ext cx="232714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acetate 1.00 mM, Fe3 0.50 mM</a:t>
            </a:r>
          </a:p>
        </p:txBody>
      </p:sp>
      <p:sp>
        <p:nvSpPr>
          <p:cNvPr id="1303" name="TextBox 1302"/>
          <p:cNvSpPr txBox="1"/>
          <p:nvPr/>
        </p:nvSpPr>
        <p:spPr>
          <a:xfrm>
            <a:off x="5413248" y="1261872"/>
            <a:ext cx="232714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acetate 0.20 mM, Fe3 0.05 mM</a:t>
            </a:r>
          </a:p>
        </p:txBody>
      </p:sp>
      <p:sp>
        <p:nvSpPr>
          <p:cNvPr id="1304" name="TextBox 1303"/>
          <p:cNvSpPr txBox="1"/>
          <p:nvPr/>
        </p:nvSpPr>
        <p:spPr>
          <a:xfrm>
            <a:off x="2592895" y="2061972"/>
            <a:ext cx="3409569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START:  one wet voxel that holds biomass</a:t>
            </a:r>
          </a:p>
        </p:txBody>
      </p:sp>
      <p:sp>
        <p:nvSpPr>
          <p:cNvPr id="1305" name="TextBox 1304"/>
          <p:cNvSpPr txBox="1"/>
          <p:nvPr/>
        </p:nvSpPr>
        <p:spPr>
          <a:xfrm>
            <a:off x="7644384" y="2103120"/>
            <a:ext cx="6739128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No linear program is solved here or anywhere else in the run. Everything this network knows about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cell it learned offline, from a few thousand programs solved before the simulation existed.</a:t>
            </a:r>
          </a:p>
        </p:txBody>
      </p:sp>
      <p:sp>
        <p:nvSpPr>
          <p:cNvPr id="1306" name="Rounded Rectangle 1305"/>
          <p:cNvSpPr/>
          <p:nvPr/>
        </p:nvSpPr>
        <p:spPr>
          <a:xfrm>
            <a:off x="1828800" y="47091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TextBox 1306"/>
          <p:cNvSpPr txBox="1"/>
          <p:nvPr/>
        </p:nvSpPr>
        <p:spPr>
          <a:xfrm>
            <a:off x="3152394" y="4635093"/>
            <a:ext cx="2802636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Build the input: the uptake bound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Monod allows here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7644384" y="341071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Consolas"/>
              </a:rPr>
              <a:t>substrate   Ks     Vmax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10781919" y="3419856"/>
            <a:ext cx="96697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E6DA4"/>
                </a:solidFill>
                <a:latin typeface="Calibri"/>
              </a:rPr>
              <a:t>the fed voxel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13934884" y="3419856"/>
            <a:ext cx="124472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B04A4A"/>
                </a:solidFill>
                <a:latin typeface="Calibri"/>
              </a:rPr>
              <a:t>the starved voxel</a:t>
            </a:r>
          </a:p>
        </p:txBody>
      </p:sp>
      <p:sp>
        <p:nvSpPr>
          <p:cNvPr id="1311" name="TextBox 1310"/>
          <p:cNvSpPr txBox="1"/>
          <p:nvPr/>
        </p:nvSpPr>
        <p:spPr>
          <a:xfrm>
            <a:off x="7644384" y="3703320"/>
            <a:ext cx="21214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acetate    0.05   8.0 </a:t>
            </a:r>
          </a:p>
        </p:txBody>
      </p:sp>
      <p:sp>
        <p:nvSpPr>
          <p:cNvPr id="1312" name="TextBox 1311"/>
          <p:cNvSpPr txBox="1"/>
          <p:nvPr/>
        </p:nvSpPr>
        <p:spPr>
          <a:xfrm>
            <a:off x="10524744" y="3703320"/>
            <a:ext cx="14813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E6DA4"/>
                </a:solidFill>
                <a:latin typeface="Consolas"/>
              </a:rPr>
              <a:t>1.00 -&gt;  7.6190</a:t>
            </a:r>
          </a:p>
        </p:txBody>
      </p:sp>
      <p:sp>
        <p:nvSpPr>
          <p:cNvPr id="1313" name="TextBox 1312"/>
          <p:cNvSpPr txBox="1"/>
          <p:nvPr/>
        </p:nvSpPr>
        <p:spPr>
          <a:xfrm>
            <a:off x="13816584" y="3703320"/>
            <a:ext cx="14813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B04A4A"/>
                </a:solidFill>
                <a:latin typeface="Consolas"/>
              </a:rPr>
              <a:t>0.20 -&gt;  6.4000</a:t>
            </a:r>
          </a:p>
        </p:txBody>
      </p:sp>
      <p:sp>
        <p:nvSpPr>
          <p:cNvPr id="1314" name="TextBox 1313"/>
          <p:cNvSpPr txBox="1"/>
          <p:nvPr/>
        </p:nvSpPr>
        <p:spPr>
          <a:xfrm>
            <a:off x="7644384" y="4014216"/>
            <a:ext cx="21214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Fe3        0.01   0.4 </a:t>
            </a:r>
          </a:p>
        </p:txBody>
      </p:sp>
      <p:sp>
        <p:nvSpPr>
          <p:cNvPr id="1315" name="TextBox 1314"/>
          <p:cNvSpPr txBox="1"/>
          <p:nvPr/>
        </p:nvSpPr>
        <p:spPr>
          <a:xfrm>
            <a:off x="10524744" y="4014216"/>
            <a:ext cx="14813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E6DA4"/>
                </a:solidFill>
                <a:latin typeface="Consolas"/>
              </a:rPr>
              <a:t>0.50 -&gt;  0.3922</a:t>
            </a:r>
          </a:p>
        </p:txBody>
      </p:sp>
      <p:sp>
        <p:nvSpPr>
          <p:cNvPr id="1316" name="TextBox 1315"/>
          <p:cNvSpPr txBox="1"/>
          <p:nvPr/>
        </p:nvSpPr>
        <p:spPr>
          <a:xfrm>
            <a:off x="13816584" y="4014216"/>
            <a:ext cx="14813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B04A4A"/>
                </a:solidFill>
                <a:latin typeface="Consolas"/>
              </a:rPr>
              <a:t>0.05 -&gt;  0.3333</a:t>
            </a:r>
          </a:p>
        </p:txBody>
      </p:sp>
      <p:sp>
        <p:nvSpPr>
          <p:cNvPr id="1317" name="TextBox 1316"/>
          <p:cNvSpPr txBox="1"/>
          <p:nvPr/>
        </p:nvSpPr>
        <p:spPr>
          <a:xfrm>
            <a:off x="7644384" y="4718304"/>
            <a:ext cx="6675120" cy="88388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v = Vmax C / (Ks + C), in mmol per gram dry weight per hour. The bound is then held under whatever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voxel could actually give up in one step, so a voxel with almost nothing left cannot be asked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for a rate it cannot supply. Vmax comes from the metabolic solver's own maximum uptake flux, which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is the same field both linear-program paths read, so switching an organism between them does not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silently change its limits.</a:t>
            </a:r>
          </a:p>
        </p:txBody>
      </p:sp>
      <p:sp>
        <p:nvSpPr>
          <p:cNvPr id="1318" name="TextBox 1317"/>
          <p:cNvSpPr txBox="1"/>
          <p:nvPr/>
        </p:nvSpPr>
        <p:spPr>
          <a:xfrm>
            <a:off x="7644384" y="5724144"/>
            <a:ext cx="6494526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04A4A"/>
                </a:solidFill>
                <a:latin typeface="Calibri"/>
              </a:rPr>
              <a:t>The sweep that made this network varied bounds on exchange reactions, so bounds are the units it</a:t>
            </a:r>
          </a:p>
          <a:p>
            <a:pPr algn="l"/>
            <a:r>
              <a:rPr sz="1250" b="0" i="0">
                <a:solidFill>
                  <a:srgbClr val="B04A4A"/>
                </a:solidFill>
                <a:latin typeface="Calibri"/>
              </a:rPr>
              <a:t>was fitted in. Handing it 1.00 and 0.50 instead of 7.6190 and 0.3922 would be a category error, and</a:t>
            </a:r>
          </a:p>
          <a:p>
            <a:pPr algn="l"/>
            <a:r>
              <a:rPr sz="1250" b="0" i="0">
                <a:solidFill>
                  <a:srgbClr val="B04A4A"/>
                </a:solidFill>
                <a:latin typeface="Calibri"/>
              </a:rPr>
              <a:t>nothing in the code could catch it: both pairs are inside the box and both return a number.</a:t>
            </a:r>
          </a:p>
        </p:txBody>
      </p:sp>
      <p:sp>
        <p:nvSpPr>
          <p:cNvPr id="1319" name="Rounded Rectangle 1318"/>
          <p:cNvSpPr/>
          <p:nvPr/>
        </p:nvSpPr>
        <p:spPr>
          <a:xfrm>
            <a:off x="1828800" y="82204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TextBox 1319"/>
          <p:cNvSpPr txBox="1"/>
          <p:nvPr/>
        </p:nvSpPr>
        <p:spPr>
          <a:xfrm>
            <a:off x="3294126" y="8146389"/>
            <a:ext cx="2519172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Hold each input inside the box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fit covered, and count it</a:t>
            </a:r>
          </a:p>
        </p:txBody>
      </p:sp>
      <p:sp>
        <p:nvSpPr>
          <p:cNvPr id="1321" name="TextBox 1320"/>
          <p:cNvSpPr txBox="1"/>
          <p:nvPr/>
        </p:nvSpPr>
        <p:spPr>
          <a:xfrm>
            <a:off x="7644384" y="7196328"/>
            <a:ext cx="40416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Consolas"/>
              </a:rPr>
              <a:t>input      lowest fitted     highest fitted</a:t>
            </a:r>
          </a:p>
        </p:txBody>
      </p:sp>
      <p:sp>
        <p:nvSpPr>
          <p:cNvPr id="1322" name="TextBox 1321"/>
          <p:cNvSpPr txBox="1"/>
          <p:nvPr/>
        </p:nvSpPr>
        <p:spPr>
          <a:xfrm>
            <a:off x="7644384" y="7470648"/>
            <a:ext cx="34930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acetate    0.00089015983    9.9979256</a:t>
            </a:r>
          </a:p>
        </p:txBody>
      </p:sp>
      <p:sp>
        <p:nvSpPr>
          <p:cNvPr id="1323" name="TextBox 1322"/>
          <p:cNvSpPr txBox="1"/>
          <p:nvPr/>
        </p:nvSpPr>
        <p:spPr>
          <a:xfrm>
            <a:off x="7644384" y="7726680"/>
            <a:ext cx="35844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Fe3        3.5130325e-05    0.49974581</a:t>
            </a:r>
          </a:p>
        </p:txBody>
      </p:sp>
      <p:sp>
        <p:nvSpPr>
          <p:cNvPr id="1324" name="TextBox 1323"/>
          <p:cNvSpPr txBox="1"/>
          <p:nvPr/>
        </p:nvSpPr>
        <p:spPr>
          <a:xfrm>
            <a:off x="7644384" y="8129016"/>
            <a:ext cx="51389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6DA4"/>
                </a:solidFill>
                <a:latin typeface="Consolas"/>
              </a:rPr>
              <a:t>fed        7.6190   0.3922   both inside: nothing moved</a:t>
            </a:r>
          </a:p>
        </p:txBody>
      </p:sp>
      <p:sp>
        <p:nvSpPr>
          <p:cNvPr id="1325" name="TextBox 1324"/>
          <p:cNvSpPr txBox="1"/>
          <p:nvPr/>
        </p:nvSpPr>
        <p:spPr>
          <a:xfrm>
            <a:off x="7644384" y="8385048"/>
            <a:ext cx="51389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04A4A"/>
                </a:solidFill>
                <a:latin typeface="Consolas"/>
              </a:rPr>
              <a:t>starved    6.4000   0.3333   both inside: nothing moved</a:t>
            </a:r>
          </a:p>
        </p:txBody>
      </p:sp>
      <p:sp>
        <p:nvSpPr>
          <p:cNvPr id="1326" name="TextBox 1325"/>
          <p:cNvSpPr txBox="1"/>
          <p:nvPr/>
        </p:nvSpPr>
        <p:spPr>
          <a:xfrm>
            <a:off x="7644384" y="8814816"/>
            <a:ext cx="6563106" cy="7059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One evaluation that moved anything counts once, not once per input: a two-input network counting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each value would report two hundred per cent of its evaluations as out of range. The end of the run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prints the percentage, and says plainly when it is large enough that the sweep should be widened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and the network fitted again.</a:t>
            </a:r>
          </a:p>
        </p:txBody>
      </p:sp>
      <p:sp>
        <p:nvSpPr>
          <p:cNvPr id="1327" name="Rounded Rectangle 1326"/>
          <p:cNvSpPr/>
          <p:nvPr/>
        </p:nvSpPr>
        <p:spPr>
          <a:xfrm>
            <a:off x="1828800" y="1116482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TextBox 1327"/>
          <p:cNvSpPr txBox="1"/>
          <p:nvPr/>
        </p:nvSpPr>
        <p:spPr>
          <a:xfrm>
            <a:off x="3388423" y="11090757"/>
            <a:ext cx="2330577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Put both inputs on the scale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network was trained in</a:t>
            </a:r>
          </a:p>
        </p:txBody>
      </p:sp>
      <p:sp>
        <p:nvSpPr>
          <p:cNvPr id="1329" name="TextBox 1328"/>
          <p:cNvSpPr txBox="1"/>
          <p:nvPr/>
        </p:nvSpPr>
        <p:spPr>
          <a:xfrm>
            <a:off x="7644384" y="10533888"/>
            <a:ext cx="55778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fed      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8833104" y="10524744"/>
            <a:ext cx="481431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E6DA4"/>
                </a:solidFill>
                <a:latin typeface="Consolas"/>
              </a:rPr>
              <a:t>( 7.6190 − 0.000890) x 0.200059 − 1  =  +0.524083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8833104" y="10762488"/>
            <a:ext cx="481431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E6DA4"/>
                </a:solidFill>
                <a:latin typeface="Consolas"/>
              </a:rPr>
              <a:t>( 0.3922 − 0.000035) x 4.002316 − 1  =  +0.569395</a:t>
            </a:r>
          </a:p>
        </p:txBody>
      </p:sp>
      <p:sp>
        <p:nvSpPr>
          <p:cNvPr id="1332" name="TextBox 1331"/>
          <p:cNvSpPr txBox="1"/>
          <p:nvPr/>
        </p:nvSpPr>
        <p:spPr>
          <a:xfrm>
            <a:off x="7644384" y="11045952"/>
            <a:ext cx="69608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starved  </a:t>
            </a:r>
          </a:p>
        </p:txBody>
      </p:sp>
      <p:sp>
        <p:nvSpPr>
          <p:cNvPr id="1333" name="TextBox 1332"/>
          <p:cNvSpPr txBox="1"/>
          <p:nvPr/>
        </p:nvSpPr>
        <p:spPr>
          <a:xfrm>
            <a:off x="8833104" y="11036808"/>
            <a:ext cx="481431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04A4A"/>
                </a:solidFill>
                <a:latin typeface="Consolas"/>
              </a:rPr>
              <a:t>( 6.4000 − 0.000890) x 0.200059 − 1  =  +0.280201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8833104" y="11274552"/>
            <a:ext cx="481431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04A4A"/>
                </a:solidFill>
                <a:latin typeface="Consolas"/>
              </a:rPr>
              <a:t>( 0.3333 − 0.000035) x 4.002316 − 1  =  +0.333965</a:t>
            </a:r>
          </a:p>
        </p:txBody>
      </p:sp>
      <p:sp>
        <p:nvSpPr>
          <p:cNvPr id="1335" name="TextBox 1334"/>
          <p:cNvSpPr txBox="1"/>
          <p:nvPr/>
        </p:nvSpPr>
        <p:spPr>
          <a:xfrm>
            <a:off x="7644384" y="11649456"/>
            <a:ext cx="6235065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offsets and gains are the two lines that also define the box above: lowest fitted value is the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offset, and highest is the offset plus two over the gain. A file that carried the weights without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them would be unusable, which is why the loader refuses one.</a:t>
            </a:r>
          </a:p>
        </p:txBody>
      </p:sp>
      <p:sp>
        <p:nvSpPr>
          <p:cNvPr id="1336" name="Rounded Rectangle 1335"/>
          <p:cNvSpPr/>
          <p:nvPr/>
        </p:nvSpPr>
        <p:spPr>
          <a:xfrm>
            <a:off x="1828800" y="1538935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TextBox 1336"/>
          <p:cNvSpPr txBox="1"/>
          <p:nvPr/>
        </p:nvSpPr>
        <p:spPr>
          <a:xfrm>
            <a:off x="3400425" y="15315285"/>
            <a:ext cx="2306574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Four layers of ten, then one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linear output</a:t>
            </a:r>
          </a:p>
        </p:txBody>
      </p:sp>
      <p:sp>
        <p:nvSpPr>
          <p:cNvPr id="1338" name="TextBox 1337"/>
          <p:cNvSpPr txBox="1"/>
          <p:nvPr/>
        </p:nvSpPr>
        <p:spPr>
          <a:xfrm>
            <a:off x="9073705" y="13331952"/>
            <a:ext cx="100012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6DA4"/>
                </a:solidFill>
                <a:latin typeface="Calibri"/>
              </a:rPr>
              <a:t>the fed voxel</a:t>
            </a:r>
          </a:p>
        </p:txBody>
      </p:sp>
      <p:sp>
        <p:nvSpPr>
          <p:cNvPr id="1339" name="TextBox 1338"/>
          <p:cNvSpPr txBox="1"/>
          <p:nvPr/>
        </p:nvSpPr>
        <p:spPr>
          <a:xfrm>
            <a:off x="7739253" y="16463772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in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8459914" y="1646377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1</a:t>
            </a:r>
          </a:p>
        </p:txBody>
      </p:sp>
      <p:sp>
        <p:nvSpPr>
          <p:cNvPr id="1341" name="TextBox 1340"/>
          <p:cNvSpPr txBox="1"/>
          <p:nvPr/>
        </p:nvSpPr>
        <p:spPr>
          <a:xfrm>
            <a:off x="9136570" y="1646377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2</a:t>
            </a:r>
          </a:p>
        </p:txBody>
      </p:sp>
      <p:sp>
        <p:nvSpPr>
          <p:cNvPr id="1342" name="TextBox 1341"/>
          <p:cNvSpPr txBox="1"/>
          <p:nvPr/>
        </p:nvSpPr>
        <p:spPr>
          <a:xfrm>
            <a:off x="9813226" y="1646377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3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10489882" y="1646377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4</a:t>
            </a:r>
          </a:p>
        </p:txBody>
      </p:sp>
      <p:sp>
        <p:nvSpPr>
          <p:cNvPr id="1344" name="TextBox 1343"/>
          <p:cNvSpPr txBox="1"/>
          <p:nvPr/>
        </p:nvSpPr>
        <p:spPr>
          <a:xfrm>
            <a:off x="11078527" y="16463772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out</a:t>
            </a:r>
          </a:p>
        </p:txBody>
      </p:sp>
      <p:sp>
        <p:nvSpPr>
          <p:cNvPr id="1345" name="TextBox 1344"/>
          <p:cNvSpPr txBox="1"/>
          <p:nvPr/>
        </p:nvSpPr>
        <p:spPr>
          <a:xfrm>
            <a:off x="11356848" y="14895576"/>
            <a:ext cx="78181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6DA4"/>
                </a:solidFill>
                <a:latin typeface="Consolas"/>
              </a:rPr>
              <a:t>+0.5103</a:t>
            </a:r>
          </a:p>
        </p:txBody>
      </p:sp>
      <p:sp>
        <p:nvSpPr>
          <p:cNvPr id="1346" name="TextBox 1345"/>
          <p:cNvSpPr txBox="1"/>
          <p:nvPr/>
        </p:nvSpPr>
        <p:spPr>
          <a:xfrm>
            <a:off x="7722679" y="16687800"/>
            <a:ext cx="3702177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7 of the 40 hidden units saturated, 3 of them in the last layer</a:t>
            </a:r>
          </a:p>
        </p:txBody>
      </p:sp>
      <p:sp>
        <p:nvSpPr>
          <p:cNvPr id="1347" name="TextBox 1346"/>
          <p:cNvSpPr txBox="1"/>
          <p:nvPr/>
        </p:nvSpPr>
        <p:spPr>
          <a:xfrm>
            <a:off x="13638276" y="13331952"/>
            <a:ext cx="128930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04A4A"/>
                </a:solidFill>
                <a:latin typeface="Calibri"/>
              </a:rPr>
              <a:t>the starved voxel</a:t>
            </a:r>
          </a:p>
        </p:txBody>
      </p:sp>
      <p:sp>
        <p:nvSpPr>
          <p:cNvPr id="1348" name="TextBox 1347"/>
          <p:cNvSpPr txBox="1"/>
          <p:nvPr/>
        </p:nvSpPr>
        <p:spPr>
          <a:xfrm>
            <a:off x="12448413" y="16463772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in</a:t>
            </a:r>
          </a:p>
        </p:txBody>
      </p:sp>
      <p:sp>
        <p:nvSpPr>
          <p:cNvPr id="1349" name="TextBox 1348"/>
          <p:cNvSpPr txBox="1"/>
          <p:nvPr/>
        </p:nvSpPr>
        <p:spPr>
          <a:xfrm>
            <a:off x="13169074" y="1646377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1</a:t>
            </a:r>
          </a:p>
        </p:txBody>
      </p:sp>
      <p:sp>
        <p:nvSpPr>
          <p:cNvPr id="1350" name="TextBox 1349"/>
          <p:cNvSpPr txBox="1"/>
          <p:nvPr/>
        </p:nvSpPr>
        <p:spPr>
          <a:xfrm>
            <a:off x="13845730" y="1646377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2</a:t>
            </a:r>
          </a:p>
        </p:txBody>
      </p:sp>
      <p:sp>
        <p:nvSpPr>
          <p:cNvPr id="1351" name="TextBox 1350"/>
          <p:cNvSpPr txBox="1"/>
          <p:nvPr/>
        </p:nvSpPr>
        <p:spPr>
          <a:xfrm>
            <a:off x="14522386" y="1646377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3</a:t>
            </a:r>
          </a:p>
        </p:txBody>
      </p:sp>
      <p:sp>
        <p:nvSpPr>
          <p:cNvPr id="1352" name="TextBox 1351"/>
          <p:cNvSpPr txBox="1"/>
          <p:nvPr/>
        </p:nvSpPr>
        <p:spPr>
          <a:xfrm>
            <a:off x="15199042" y="1646377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4</a:t>
            </a:r>
          </a:p>
        </p:txBody>
      </p:sp>
      <p:sp>
        <p:nvSpPr>
          <p:cNvPr id="1353" name="TextBox 1352"/>
          <p:cNvSpPr txBox="1"/>
          <p:nvPr/>
        </p:nvSpPr>
        <p:spPr>
          <a:xfrm>
            <a:off x="15787687" y="16463772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out</a:t>
            </a:r>
          </a:p>
        </p:txBody>
      </p:sp>
      <p:sp>
        <p:nvSpPr>
          <p:cNvPr id="1354" name="TextBox 1353"/>
          <p:cNvSpPr txBox="1"/>
          <p:nvPr/>
        </p:nvSpPr>
        <p:spPr>
          <a:xfrm>
            <a:off x="16066008" y="14895576"/>
            <a:ext cx="78181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04A4A"/>
                </a:solidFill>
                <a:latin typeface="Consolas"/>
              </a:rPr>
              <a:t>-1.0000</a:t>
            </a:r>
          </a:p>
        </p:txBody>
      </p:sp>
      <p:sp>
        <p:nvSpPr>
          <p:cNvPr id="1355" name="TextBox 1354"/>
          <p:cNvSpPr txBox="1"/>
          <p:nvPr/>
        </p:nvSpPr>
        <p:spPr>
          <a:xfrm>
            <a:off x="12394692" y="16687800"/>
            <a:ext cx="3776472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10 of the 40 hidden units saturated, 6 of them in the last layer</a:t>
            </a:r>
          </a:p>
        </p:txBody>
      </p:sp>
      <p:sp>
        <p:nvSpPr>
          <p:cNvPr id="1356" name="TextBox 1355"/>
          <p:cNvSpPr txBox="1"/>
          <p:nvPr/>
        </p:nvSpPr>
        <p:spPr>
          <a:xfrm>
            <a:off x="7644384" y="16971264"/>
            <a:ext cx="6751701" cy="121066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Each unit adds up the units before it with its own weights, adds its own bias, and puts the total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through the same S-shaped curve, which flattens at minus one and plus one. A unit drawn with a heavy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ring has reached one of those flats: it is saturated, and can no longer tell one input from another.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Both voxels have some. The difference is where they are. In the starved voxel six of the last layer's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ten units are pinned, against three in the fed one, and the output unit, which does no curve at all,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lands at -1.0000: exactly the bottom of the range the fit was scaled into. The network is not saying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this voxel grows slowly. It is saying the answer is off the bottom of what it was ever shown.</a:t>
            </a:r>
          </a:p>
        </p:txBody>
      </p:sp>
      <p:sp>
        <p:nvSpPr>
          <p:cNvPr id="1357" name="Rounded Rectangle 1356"/>
          <p:cNvSpPr/>
          <p:nvPr/>
        </p:nvSpPr>
        <p:spPr>
          <a:xfrm>
            <a:off x="1828800" y="199064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3138106" y="19832421"/>
            <a:ext cx="2831211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Undo the output scaling, and floor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what comes out</a:t>
            </a:r>
          </a:p>
        </p:txBody>
      </p:sp>
      <p:sp>
        <p:nvSpPr>
          <p:cNvPr id="1359" name="TextBox 1358"/>
          <p:cNvSpPr txBox="1"/>
          <p:nvPr/>
        </p:nvSpPr>
        <p:spPr>
          <a:xfrm>
            <a:off x="7644384" y="19001232"/>
            <a:ext cx="55778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fed      </a:t>
            </a:r>
          </a:p>
        </p:txBody>
      </p:sp>
      <p:sp>
        <p:nvSpPr>
          <p:cNvPr id="1360" name="TextBox 1359"/>
          <p:cNvSpPr txBox="1"/>
          <p:nvPr/>
        </p:nvSpPr>
        <p:spPr>
          <a:xfrm>
            <a:off x="8833104" y="18992088"/>
            <a:ext cx="41422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E6DA4"/>
                </a:solidFill>
                <a:latin typeface="Consolas"/>
              </a:rPr>
              <a:t>(+0.510287 + 1) / 37.918168  =  +3.983e-02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8833104" y="19229832"/>
            <a:ext cx="45262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E6DA4"/>
                </a:solidFill>
                <a:latin typeface="Consolas"/>
              </a:rPr>
              <a:t>above the floor  -&gt;  growth = 0.03983 per hour</a:t>
            </a:r>
          </a:p>
        </p:txBody>
      </p:sp>
      <p:sp>
        <p:nvSpPr>
          <p:cNvPr id="1362" name="TextBox 1361"/>
          <p:cNvSpPr txBox="1"/>
          <p:nvPr/>
        </p:nvSpPr>
        <p:spPr>
          <a:xfrm>
            <a:off x="7644384" y="19568160"/>
            <a:ext cx="69608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starved  </a:t>
            </a:r>
          </a:p>
        </p:txBody>
      </p:sp>
      <p:sp>
        <p:nvSpPr>
          <p:cNvPr id="1363" name="TextBox 1362"/>
          <p:cNvSpPr txBox="1"/>
          <p:nvPr/>
        </p:nvSpPr>
        <p:spPr>
          <a:xfrm>
            <a:off x="8833104" y="19559016"/>
            <a:ext cx="414223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04A4A"/>
                </a:solidFill>
                <a:latin typeface="Consolas"/>
              </a:rPr>
              <a:t>(-1.000015 + 1) / 37.918168  =  -3.937e-07</a:t>
            </a:r>
          </a:p>
        </p:txBody>
      </p:sp>
      <p:sp>
        <p:nvSpPr>
          <p:cNvPr id="1364" name="TextBox 1363"/>
          <p:cNvSpPr txBox="1"/>
          <p:nvPr/>
        </p:nvSpPr>
        <p:spPr>
          <a:xfrm>
            <a:off x="8833104" y="19796760"/>
            <a:ext cx="510235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04A4A"/>
                </a:solidFill>
                <a:latin typeface="Consolas"/>
              </a:rPr>
              <a:t>not above the floor  -&gt;  growth = exactly 0 per hour</a:t>
            </a:r>
          </a:p>
        </p:txBody>
      </p:sp>
      <p:sp>
        <p:nvSpPr>
          <p:cNvPr id="1365" name="TextBox 1364"/>
          <p:cNvSpPr txBox="1"/>
          <p:nvPr/>
        </p:nvSpPr>
        <p:spPr>
          <a:xfrm>
            <a:off x="7644384" y="20317968"/>
            <a:ext cx="6631686" cy="87416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floor is written as "not greater than a hundred-millionth", which also catches a value that is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not a number. The starved voxel is why it is there: its answer de-scales to a small negative rate,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which is not a slow cell but an arithmetic leftover, and passing it on would grow biomass backwards.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If the file says the output was fitted in logarithms, ten is raised to it first. The shipped network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was not, so that line does nothing here. Flux outputs, if the file carries any, are checked and dropped.</a:t>
            </a:r>
          </a:p>
        </p:txBody>
      </p:sp>
      <p:sp>
        <p:nvSpPr>
          <p:cNvPr id="1366" name="Rounded Rectangle 1365"/>
          <p:cNvSpPr/>
          <p:nvPr/>
        </p:nvSpPr>
        <p:spPr>
          <a:xfrm>
            <a:off x="1828800" y="230063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3302698" y="22932237"/>
            <a:ext cx="2502027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Grow, or decay, and take the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substrate the bound asked for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7644384" y="22238208"/>
            <a:ext cx="55778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fed      </a:t>
            </a:r>
          </a:p>
        </p:txBody>
      </p:sp>
      <p:sp>
        <p:nvSpPr>
          <p:cNvPr id="1369" name="TextBox 1368"/>
          <p:cNvSpPr txBox="1"/>
          <p:nvPr/>
        </p:nvSpPr>
        <p:spPr>
          <a:xfrm>
            <a:off x="8833104" y="22229064"/>
            <a:ext cx="366217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E6DA4"/>
                </a:solidFill>
                <a:latin typeface="Consolas"/>
              </a:rPr>
              <a:t>growth 0.03983  -&gt;  biomass increases</a:t>
            </a:r>
          </a:p>
        </p:txBody>
      </p:sp>
      <p:sp>
        <p:nvSpPr>
          <p:cNvPr id="1370" name="TextBox 1369"/>
          <p:cNvSpPr txBox="1"/>
          <p:nvPr/>
        </p:nvSpPr>
        <p:spPr>
          <a:xfrm>
            <a:off x="8833104" y="22466808"/>
            <a:ext cx="433425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E6DA4"/>
                </a:solidFill>
                <a:latin typeface="Consolas"/>
              </a:rPr>
              <a:t>draw on acetate and Fe3  =   7.6190   0.3922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7644384" y="22768560"/>
            <a:ext cx="69608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starved  </a:t>
            </a:r>
          </a:p>
        </p:txBody>
      </p:sp>
      <p:sp>
        <p:nvSpPr>
          <p:cNvPr id="1372" name="TextBox 1371"/>
          <p:cNvSpPr txBox="1"/>
          <p:nvPr/>
        </p:nvSpPr>
        <p:spPr>
          <a:xfrm>
            <a:off x="8833104" y="22759416"/>
            <a:ext cx="356616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04A4A"/>
                </a:solidFill>
                <a:latin typeface="Consolas"/>
              </a:rPr>
              <a:t>growth 0  -&gt;  biomass decays at 0.01</a:t>
            </a:r>
          </a:p>
        </p:txBody>
      </p:sp>
      <p:sp>
        <p:nvSpPr>
          <p:cNvPr id="1373" name="TextBox 1372"/>
          <p:cNvSpPr txBox="1"/>
          <p:nvPr/>
        </p:nvSpPr>
        <p:spPr>
          <a:xfrm>
            <a:off x="8833104" y="22997160"/>
            <a:ext cx="433425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04A4A"/>
                </a:solidFill>
                <a:latin typeface="Consolas"/>
              </a:rPr>
              <a:t>draw on acetate and Fe3  =   6.4000   0.3333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7644384" y="23463504"/>
            <a:ext cx="6783705" cy="7059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draw is the bound from step 1, unchanged: the network returned growth and nothing that names a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substrate, so the solver keeps its own Monod estimate as the uptake. Summed over every organism in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voxel and then held under what the voxel holds, once, so two organisms cannot each take all of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it. This is also why the path can consume but cannot excrete.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3478149" y="25219609"/>
            <a:ext cx="1639062" cy="40142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more organisms here,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more voxels?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2655189" y="26494740"/>
            <a:ext cx="328498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STOP:  back to the solve loop of Figure 1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4352544" y="26019252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378" name="TextBox 1377"/>
          <p:cNvSpPr txBox="1"/>
          <p:nvPr/>
        </p:nvSpPr>
        <p:spPr>
          <a:xfrm>
            <a:off x="1863090" y="25164288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379" name="TextBox 1378"/>
          <p:cNvSpPr txBox="1"/>
          <p:nvPr/>
        </p:nvSpPr>
        <p:spPr>
          <a:xfrm>
            <a:off x="7552944" y="24816816"/>
            <a:ext cx="488175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what this network actually learned, drawn across the whole of its box</a:t>
            </a:r>
          </a:p>
        </p:txBody>
      </p:sp>
      <p:sp>
        <p:nvSpPr>
          <p:cNvPr id="1380" name="TextBox 1379"/>
          <p:cNvSpPr txBox="1"/>
          <p:nvPr/>
        </p:nvSpPr>
        <p:spPr>
          <a:xfrm>
            <a:off x="7786116" y="27601164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0.00</a:t>
            </a:r>
          </a:p>
        </p:txBody>
      </p:sp>
      <p:sp>
        <p:nvSpPr>
          <p:cNvPr id="1381" name="TextBox 1380"/>
          <p:cNvSpPr txBox="1"/>
          <p:nvPr/>
        </p:nvSpPr>
        <p:spPr>
          <a:xfrm>
            <a:off x="7786116" y="26784300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0.02</a:t>
            </a:r>
          </a:p>
        </p:txBody>
      </p:sp>
      <p:sp>
        <p:nvSpPr>
          <p:cNvPr id="1382" name="TextBox 1381"/>
          <p:cNvSpPr txBox="1"/>
          <p:nvPr/>
        </p:nvSpPr>
        <p:spPr>
          <a:xfrm>
            <a:off x="7786116" y="25967436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0.04</a:t>
            </a:r>
          </a:p>
        </p:txBody>
      </p:sp>
      <p:sp>
        <p:nvSpPr>
          <p:cNvPr id="1383" name="TextBox 1382"/>
          <p:cNvSpPr txBox="1"/>
          <p:nvPr/>
        </p:nvSpPr>
        <p:spPr>
          <a:xfrm>
            <a:off x="7786116" y="25150572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0.06</a:t>
            </a:r>
          </a:p>
        </p:txBody>
      </p:sp>
      <p:sp>
        <p:nvSpPr>
          <p:cNvPr id="1384" name="TextBox 1383"/>
          <p:cNvSpPr txBox="1"/>
          <p:nvPr/>
        </p:nvSpPr>
        <p:spPr>
          <a:xfrm>
            <a:off x="8185594" y="2772918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0</a:t>
            </a:r>
          </a:p>
        </p:txBody>
      </p:sp>
      <p:sp>
        <p:nvSpPr>
          <p:cNvPr id="1385" name="TextBox 1384"/>
          <p:cNvSpPr txBox="1"/>
          <p:nvPr/>
        </p:nvSpPr>
        <p:spPr>
          <a:xfrm>
            <a:off x="9465754" y="2772918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2</a:t>
            </a:r>
          </a:p>
        </p:txBody>
      </p:sp>
      <p:sp>
        <p:nvSpPr>
          <p:cNvPr id="1386" name="TextBox 1385"/>
          <p:cNvSpPr txBox="1"/>
          <p:nvPr/>
        </p:nvSpPr>
        <p:spPr>
          <a:xfrm>
            <a:off x="10745914" y="2772918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4</a:t>
            </a:r>
          </a:p>
        </p:txBody>
      </p:sp>
      <p:sp>
        <p:nvSpPr>
          <p:cNvPr id="1387" name="TextBox 1386"/>
          <p:cNvSpPr txBox="1"/>
          <p:nvPr/>
        </p:nvSpPr>
        <p:spPr>
          <a:xfrm>
            <a:off x="12026074" y="2772918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6</a:t>
            </a:r>
          </a:p>
        </p:txBody>
      </p:sp>
      <p:sp>
        <p:nvSpPr>
          <p:cNvPr id="1388" name="TextBox 1387"/>
          <p:cNvSpPr txBox="1"/>
          <p:nvPr/>
        </p:nvSpPr>
        <p:spPr>
          <a:xfrm>
            <a:off x="13306234" y="2772918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8</a:t>
            </a:r>
          </a:p>
        </p:txBody>
      </p:sp>
      <p:sp>
        <p:nvSpPr>
          <p:cNvPr id="1389" name="TextBox 1388"/>
          <p:cNvSpPr txBox="1"/>
          <p:nvPr/>
        </p:nvSpPr>
        <p:spPr>
          <a:xfrm>
            <a:off x="14542389" y="27729180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10</a:t>
            </a:r>
          </a:p>
        </p:txBody>
      </p:sp>
      <p:sp>
        <p:nvSpPr>
          <p:cNvPr id="1390" name="TextBox 1389"/>
          <p:cNvSpPr txBox="1"/>
          <p:nvPr/>
        </p:nvSpPr>
        <p:spPr>
          <a:xfrm>
            <a:off x="13060680" y="25492483"/>
            <a:ext cx="1225296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E6DA4"/>
                </a:solidFill>
                <a:latin typeface="Calibri"/>
              </a:rPr>
              <a:t>fed voxel</a:t>
            </a:r>
          </a:p>
          <a:p>
            <a:pPr algn="ctr"/>
            <a:r>
              <a:rPr sz="1150" b="1" i="0">
                <a:solidFill>
                  <a:srgbClr val="2E6DA4"/>
                </a:solidFill>
                <a:latin typeface="Calibri"/>
              </a:rPr>
              <a:t> 7.6190 -&gt; 0.03983</a:t>
            </a:r>
          </a:p>
        </p:txBody>
      </p:sp>
      <p:sp>
        <p:nvSpPr>
          <p:cNvPr id="1391" name="TextBox 1390"/>
          <p:cNvSpPr txBox="1"/>
          <p:nvPr/>
        </p:nvSpPr>
        <p:spPr>
          <a:xfrm>
            <a:off x="11498008" y="27283867"/>
            <a:ext cx="924687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04A4A"/>
                </a:solidFill>
                <a:latin typeface="Calibri"/>
              </a:rPr>
              <a:t>starved voxel</a:t>
            </a:r>
          </a:p>
          <a:p>
            <a:pPr algn="ctr"/>
            <a:r>
              <a:rPr sz="1150" b="1" i="0">
                <a:solidFill>
                  <a:srgbClr val="B04A4A"/>
                </a:solidFill>
                <a:latin typeface="Calibri"/>
              </a:rPr>
              <a:t> 6.4000 -&gt; 0</a:t>
            </a:r>
          </a:p>
        </p:txBody>
      </p:sp>
      <p:sp>
        <p:nvSpPr>
          <p:cNvPr id="1392" name="TextBox 1391"/>
          <p:cNvSpPr txBox="1"/>
          <p:nvPr/>
        </p:nvSpPr>
        <p:spPr>
          <a:xfrm>
            <a:off x="11551368" y="25392888"/>
            <a:ext cx="1075563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1">
                <a:solidFill>
                  <a:srgbClr val="7F7F7F"/>
                </a:solidFill>
                <a:latin typeface="Calibri"/>
              </a:rPr>
              <a:t>the step, at 6.84</a:t>
            </a:r>
          </a:p>
        </p:txBody>
      </p:sp>
      <p:sp>
        <p:nvSpPr>
          <p:cNvPr id="1393" name="TextBox 1392"/>
          <p:cNvSpPr txBox="1"/>
          <p:nvPr/>
        </p:nvSpPr>
        <p:spPr>
          <a:xfrm>
            <a:off x="8982265" y="27971496"/>
            <a:ext cx="5005197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acetate uptake bound handed in, in mmol per gram dry weight per hour</a:t>
            </a:r>
          </a:p>
        </p:txBody>
      </p:sp>
      <p:sp>
        <p:nvSpPr>
          <p:cNvPr id="1394" name="TextBox 1393"/>
          <p:cNvSpPr txBox="1"/>
          <p:nvPr/>
        </p:nvSpPr>
        <p:spPr>
          <a:xfrm rot="16200000">
            <a:off x="7013448" y="26370724"/>
            <a:ext cx="1225296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growth, per hour</a:t>
            </a:r>
          </a:p>
        </p:txBody>
      </p:sp>
      <p:sp>
        <p:nvSpPr>
          <p:cNvPr id="1395" name="TextBox 1394"/>
          <p:cNvSpPr txBox="1"/>
          <p:nvPr/>
        </p:nvSpPr>
        <p:spPr>
          <a:xfrm>
            <a:off x="7552944" y="28273248"/>
            <a:ext cx="8063865" cy="15471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Both curves are the shipped weights, swept across the whole fitted range of the first input, with the second held at each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voxel's own value. The two squares are the two voxels above. The shape is the point. Below an acetate bound of about 6.84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network returns the bottom of the range it was fitted into, which de-scales to zero; above it, growth rises almost in a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straight line to the edge of the box. The change between the two happens inside five hundredths of a unit, so a voxel can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cross it in a single reaction step, and a colony drawing its own acetate down will.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Whatever the training rows held there, the fit has turned it into a step, and nothing in the file can tell a reader whether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that step is the cell's maintenance demand or the edge of the sweep. That is the question to ask of any surrogate before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trusting a run that sits near it, and it is why the offline sweep in the yellow band of Figure 3 is worth running.</a:t>
            </a:r>
          </a:p>
        </p:txBody>
      </p:sp>
      <p:sp>
        <p:nvSpPr>
          <p:cNvPr id="1396" name="TextBox 1395"/>
          <p:cNvSpPr txBox="1"/>
          <p:nvPr/>
        </p:nvSpPr>
        <p:spPr>
          <a:xfrm>
            <a:off x="1869376" y="473659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97" name="TextBox 1396"/>
          <p:cNvSpPr txBox="1"/>
          <p:nvPr/>
        </p:nvSpPr>
        <p:spPr>
          <a:xfrm>
            <a:off x="1869376" y="8247888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1869376" y="11192256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1869376" y="15416784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00" name="TextBox 1399"/>
          <p:cNvSpPr txBox="1"/>
          <p:nvPr/>
        </p:nvSpPr>
        <p:spPr>
          <a:xfrm>
            <a:off x="1869376" y="19933920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01" name="TextBox 1400"/>
          <p:cNvSpPr txBox="1"/>
          <p:nvPr/>
        </p:nvSpPr>
        <p:spPr>
          <a:xfrm>
            <a:off x="1868805" y="23033736"/>
            <a:ext cx="19431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02" name="Rounded Rectangle 1401"/>
          <p:cNvSpPr/>
          <p:nvPr/>
        </p:nvSpPr>
        <p:spPr>
          <a:xfrm>
            <a:off x="13097256" y="260155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333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Rounded Rectangle 1402"/>
          <p:cNvSpPr/>
          <p:nvPr/>
        </p:nvSpPr>
        <p:spPr>
          <a:xfrm>
            <a:off x="12316968" y="276423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04A4A"/>
          </a:solidFill>
          <a:ln w="1333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