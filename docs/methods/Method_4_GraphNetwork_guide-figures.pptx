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7772400"/>
  <p:notesSz cx="77724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365760" y="128016"/>
            <a:ext cx="8412480" cy="365760"/>
          </a:xfrm>
          <a:prstGeom prst="rect">
            <a:avLst/>
          </a:prstGeom>
          <a:noFill/>
          <a:ln/>
        </p:spPr>
        <p:txBody>
          <a:bodyPr wrap="square" lIns="0" tIns="0" rIns="0" bIns="0" rtlCol="0" anchor="ctr"/>
          <a:lstStyle/>
          <a:p>
            <a:pPr indent="0" marL="0">
              <a:buNone/>
            </a:pPr>
            <a:r>
              <a:rPr lang="en-US" sz="1700" b="1" dirty="0">
                <a:solidFill>
                  <a:srgbClr val="202020"/>
                </a:solidFill>
                <a:latin typeface="Calibri" pitchFamily="34" charset="0"/>
                <a:ea typeface="Calibri" pitchFamily="34" charset="-122"/>
                <a:cs typeface="Calibri" pitchFamily="34" charset="-120"/>
              </a:rPr>
              <a:t>CompLaB3D solve loop: where the graph network runs</a:t>
            </a:r>
            <a:endParaRPr lang="en-US" sz="1700" dirty="0"/>
          </a:p>
        </p:txBody>
      </p:sp>
      <p:sp>
        <p:nvSpPr>
          <p:cNvPr id="3" name="Text 1"/>
          <p:cNvSpPr/>
          <p:nvPr/>
        </p:nvSpPr>
        <p:spPr>
          <a:xfrm>
            <a:off x="6812280" y="566928"/>
            <a:ext cx="2103120" cy="256032"/>
          </a:xfrm>
          <a:prstGeom prst="rect">
            <a:avLst/>
          </a:prstGeom>
          <a:solidFill>
            <a:srgbClr val="BDD7EE"/>
          </a:solidFill>
          <a:ln w="9525">
            <a:solidFill>
              <a:srgbClr val="9AA5B1"/>
            </a:solidFill>
          </a:ln>
        </p:spPr>
        <p:txBody>
          <a:bodyPr wrap="square" lIns="0" tIns="0" rIns="0" bIns="0" rtlCol="0" anchor="ctr"/>
          <a:lstStyle/>
          <a:p>
            <a:pPr algn="ctr" indent="0" marL="0">
              <a:buNone/>
            </a:pPr>
            <a:r>
              <a:rPr lang="en-US" sz="950" i="1" dirty="0">
                <a:solidFill>
                  <a:srgbClr val="202020"/>
                </a:solidFill>
                <a:latin typeface="Calibri" pitchFamily="34" charset="0"/>
                <a:ea typeface="Calibri" pitchFamily="34" charset="-122"/>
                <a:cs typeface="Calibri" pitchFamily="34" charset="-120"/>
              </a:rPr>
              <a:t>Model I/O and setup</a:t>
            </a:r>
            <a:endParaRPr lang="en-US" sz="950" dirty="0"/>
          </a:p>
        </p:txBody>
      </p:sp>
      <p:sp>
        <p:nvSpPr>
          <p:cNvPr id="4" name="Text 2"/>
          <p:cNvSpPr/>
          <p:nvPr/>
        </p:nvSpPr>
        <p:spPr>
          <a:xfrm>
            <a:off x="6812280" y="877824"/>
            <a:ext cx="2103120" cy="256032"/>
          </a:xfrm>
          <a:prstGeom prst="rect">
            <a:avLst/>
          </a:prstGeom>
          <a:solidFill>
            <a:srgbClr val="F8CBAD"/>
          </a:solidFill>
          <a:ln w="9525">
            <a:solidFill>
              <a:srgbClr val="9AA5B1"/>
            </a:solidFill>
          </a:ln>
        </p:spPr>
        <p:txBody>
          <a:bodyPr wrap="square" lIns="0" tIns="0" rIns="0" bIns="0" rtlCol="0" anchor="ctr"/>
          <a:lstStyle/>
          <a:p>
            <a:pPr algn="ctr" indent="0" marL="0">
              <a:buNone/>
            </a:pPr>
            <a:r>
              <a:rPr lang="en-US" sz="950" i="1" dirty="0">
                <a:solidFill>
                  <a:srgbClr val="202020"/>
                </a:solidFill>
                <a:latin typeface="Calibri" pitchFamily="34" charset="0"/>
                <a:ea typeface="Calibri" pitchFamily="34" charset="-122"/>
                <a:cs typeface="Calibri" pitchFamily="34" charset="-120"/>
              </a:rPr>
              <a:t>Flow solver (D3Q19)</a:t>
            </a:r>
            <a:endParaRPr lang="en-US" sz="950" dirty="0"/>
          </a:p>
        </p:txBody>
      </p:sp>
      <p:sp>
        <p:nvSpPr>
          <p:cNvPr id="5" name="Text 3"/>
          <p:cNvSpPr/>
          <p:nvPr/>
        </p:nvSpPr>
        <p:spPr>
          <a:xfrm>
            <a:off x="6812280" y="1188720"/>
            <a:ext cx="2103120" cy="256032"/>
          </a:xfrm>
          <a:prstGeom prst="rect">
            <a:avLst/>
          </a:prstGeom>
          <a:solidFill>
            <a:srgbClr val="C6E0B4"/>
          </a:solidFill>
          <a:ln w="9525">
            <a:solidFill>
              <a:srgbClr val="9AA5B1"/>
            </a:solidFill>
          </a:ln>
        </p:spPr>
        <p:txBody>
          <a:bodyPr wrap="square" lIns="0" tIns="0" rIns="0" bIns="0" rtlCol="0" anchor="ctr"/>
          <a:lstStyle/>
          <a:p>
            <a:pPr algn="ctr" indent="0" marL="0">
              <a:buNone/>
            </a:pPr>
            <a:r>
              <a:rPr lang="en-US" sz="950" i="1" dirty="0">
                <a:solidFill>
                  <a:srgbClr val="202020"/>
                </a:solidFill>
                <a:latin typeface="Calibri" pitchFamily="34" charset="0"/>
                <a:ea typeface="Calibri" pitchFamily="34" charset="-122"/>
                <a:cs typeface="Calibri" pitchFamily="34" charset="-120"/>
              </a:rPr>
              <a:t>Transport solver (D3Q7)</a:t>
            </a:r>
            <a:endParaRPr lang="en-US" sz="950" dirty="0"/>
          </a:p>
        </p:txBody>
      </p:sp>
      <p:sp>
        <p:nvSpPr>
          <p:cNvPr id="6" name="Text 4"/>
          <p:cNvSpPr/>
          <p:nvPr/>
        </p:nvSpPr>
        <p:spPr>
          <a:xfrm>
            <a:off x="6812280" y="1499616"/>
            <a:ext cx="2103120" cy="256032"/>
          </a:xfrm>
          <a:prstGeom prst="rect">
            <a:avLst/>
          </a:prstGeom>
          <a:solidFill>
            <a:srgbClr val="E4D3F5"/>
          </a:solidFill>
          <a:ln w="9525">
            <a:solidFill>
              <a:srgbClr val="9AA5B1"/>
            </a:solidFill>
          </a:ln>
        </p:spPr>
        <p:txBody>
          <a:bodyPr wrap="square" lIns="0" tIns="0" rIns="0" bIns="0" rtlCol="0" anchor="ctr"/>
          <a:lstStyle/>
          <a:p>
            <a:pPr algn="ctr" indent="0" marL="0">
              <a:buNone/>
            </a:pPr>
            <a:r>
              <a:rPr lang="en-US" sz="950" i="1" dirty="0">
                <a:solidFill>
                  <a:srgbClr val="202020"/>
                </a:solidFill>
                <a:latin typeface="Calibri" pitchFamily="34" charset="0"/>
                <a:ea typeface="Calibri" pitchFamily="34" charset="-122"/>
                <a:cs typeface="Calibri" pitchFamily="34" charset="-120"/>
              </a:rPr>
              <a:t>Reaction solver</a:t>
            </a:r>
            <a:endParaRPr lang="en-US" sz="950" dirty="0"/>
          </a:p>
        </p:txBody>
      </p:sp>
      <p:sp>
        <p:nvSpPr>
          <p:cNvPr id="7" name="Text 5"/>
          <p:cNvSpPr/>
          <p:nvPr/>
        </p:nvSpPr>
        <p:spPr>
          <a:xfrm>
            <a:off x="6812280" y="1810512"/>
            <a:ext cx="2103120" cy="256032"/>
          </a:xfrm>
          <a:prstGeom prst="rect">
            <a:avLst/>
          </a:prstGeom>
          <a:solidFill>
            <a:srgbClr val="FFE699"/>
          </a:solidFill>
          <a:ln w="9525">
            <a:solidFill>
              <a:srgbClr val="9AA5B1"/>
            </a:solidFill>
          </a:ln>
        </p:spPr>
        <p:txBody>
          <a:bodyPr wrap="square" lIns="0" tIns="0" rIns="0" bIns="0" rtlCol="0" anchor="ctr"/>
          <a:lstStyle/>
          <a:p>
            <a:pPr algn="ctr" indent="0" marL="0">
              <a:buNone/>
            </a:pPr>
            <a:r>
              <a:rPr lang="en-US" sz="950" i="1" dirty="0">
                <a:solidFill>
                  <a:srgbClr val="202020"/>
                </a:solidFill>
                <a:latin typeface="Calibri" pitchFamily="34" charset="0"/>
                <a:ea typeface="Calibri" pitchFamily="34" charset="-122"/>
                <a:cs typeface="Calibri" pitchFamily="34" charset="-120"/>
              </a:rPr>
              <a:t>Mineral solver (VOP)</a:t>
            </a:r>
            <a:endParaRPr lang="en-US" sz="950" dirty="0"/>
          </a:p>
        </p:txBody>
      </p:sp>
      <p:sp>
        <p:nvSpPr>
          <p:cNvPr id="8" name="Text 6"/>
          <p:cNvSpPr/>
          <p:nvPr/>
        </p:nvSpPr>
        <p:spPr>
          <a:xfrm>
            <a:off x="1325880" y="566928"/>
            <a:ext cx="3108960" cy="365760"/>
          </a:xfrm>
          <a:prstGeom prst="rect">
            <a:avLst/>
          </a:prstGeom>
          <a:solidFill>
            <a:srgbClr val="BDD7EE"/>
          </a:solidFill>
          <a:ln w="12700">
            <a:solidFill>
              <a:srgbClr val="7F7F7F"/>
            </a:solidFill>
            <a:prstDash val="solid"/>
          </a:ln>
        </p:spPr>
        <p:txBody>
          <a:bodyPr wrap="square" lIns="0" tIns="0" rIns="0" bIns="0" rtlCol="0" anchor="ctr"/>
          <a:lstStyle/>
          <a:p>
            <a:pPr algn="ctr" indent="0" marL="0">
              <a:buNone/>
            </a:pPr>
            <a:r>
              <a:rPr lang="en-US" sz="1050" dirty="0">
                <a:solidFill>
                  <a:srgbClr val="202020"/>
                </a:solidFill>
                <a:latin typeface="Calibri" pitchFamily="34" charset="0"/>
                <a:ea typeface="Calibri" pitchFamily="34" charset="-122"/>
                <a:cs typeface="Calibri" pitchFamily="34" charset="-120"/>
              </a:rPr>
              <a:t>Load XML configuration</a:t>
            </a:r>
            <a:endParaRPr lang="en-US" sz="1050" dirty="0"/>
          </a:p>
          <a:p>
            <a:pPr algn="ctr" indent="0" marL="0">
              <a:buNone/>
            </a:pPr>
            <a:r>
              <a:rPr lang="en-US" sz="1050" dirty="0">
                <a:solidFill>
                  <a:srgbClr val="202020"/>
                </a:solidFill>
                <a:latin typeface="Calibri" pitchFamily="34" charset="0"/>
                <a:ea typeface="Calibri" pitchFamily="34" charset="-122"/>
                <a:cs typeface="Calibri" pitchFamily="34" charset="-120"/>
              </a:rPr>
              <a:t>&amp; initialize the simulation conditions</a:t>
            </a:r>
            <a:endParaRPr lang="en-US" sz="1050" dirty="0"/>
          </a:p>
        </p:txBody>
      </p:sp>
      <p:sp>
        <p:nvSpPr>
          <p:cNvPr id="9" name="Shape 7"/>
          <p:cNvSpPr/>
          <p:nvPr/>
        </p:nvSpPr>
        <p:spPr>
          <a:xfrm>
            <a:off x="2880360" y="932688"/>
            <a:ext cx="0" cy="118872"/>
          </a:xfrm>
          <a:prstGeom prst="line">
            <a:avLst/>
          </a:prstGeom>
          <a:noFill/>
          <a:ln w="15875">
            <a:solidFill>
              <a:srgbClr val="595959"/>
            </a:solidFill>
            <a:prstDash val="solid"/>
            <a:tailEnd type="triangle"/>
          </a:ln>
        </p:spPr>
      </p:sp>
      <p:sp>
        <p:nvSpPr>
          <p:cNvPr id="10" name="Text 8"/>
          <p:cNvSpPr/>
          <p:nvPr/>
        </p:nvSpPr>
        <p:spPr>
          <a:xfrm>
            <a:off x="1325880" y="1051560"/>
            <a:ext cx="3108960" cy="365760"/>
          </a:xfrm>
          <a:prstGeom prst="rect">
            <a:avLst/>
          </a:prstGeom>
          <a:solidFill>
            <a:srgbClr val="F8CBAD"/>
          </a:solidFill>
          <a:ln w="12700">
            <a:solidFill>
              <a:srgbClr val="7F7F7F"/>
            </a:solidFill>
            <a:prstDash val="solid"/>
          </a:ln>
        </p:spPr>
        <p:txBody>
          <a:bodyPr wrap="square" lIns="0" tIns="0" rIns="0" bIns="0" rtlCol="0" anchor="ctr"/>
          <a:lstStyle/>
          <a:p>
            <a:pPr algn="ctr" indent="0" marL="0">
              <a:buNone/>
            </a:pPr>
            <a:r>
              <a:rPr lang="en-US" sz="1050" dirty="0">
                <a:solidFill>
                  <a:srgbClr val="202020"/>
                </a:solidFill>
                <a:latin typeface="Calibri" pitchFamily="34" charset="0"/>
                <a:ea typeface="Calibri" pitchFamily="34" charset="-122"/>
                <a:cs typeface="Calibri" pitchFamily="34" charset="-120"/>
              </a:rPr>
              <a:t>Run flow simulation to steady state</a:t>
            </a:r>
            <a:endParaRPr lang="en-US" sz="1050" dirty="0"/>
          </a:p>
        </p:txBody>
      </p:sp>
      <p:sp>
        <p:nvSpPr>
          <p:cNvPr id="11" name="Shape 9"/>
          <p:cNvSpPr/>
          <p:nvPr/>
        </p:nvSpPr>
        <p:spPr>
          <a:xfrm>
            <a:off x="2880360" y="1417320"/>
            <a:ext cx="0" cy="118872"/>
          </a:xfrm>
          <a:prstGeom prst="line">
            <a:avLst/>
          </a:prstGeom>
          <a:noFill/>
          <a:ln w="15875">
            <a:solidFill>
              <a:srgbClr val="595959"/>
            </a:solidFill>
            <a:prstDash val="solid"/>
            <a:tailEnd type="triangle"/>
          </a:ln>
        </p:spPr>
      </p:sp>
      <p:sp>
        <p:nvSpPr>
          <p:cNvPr id="12" name="Text 10"/>
          <p:cNvSpPr/>
          <p:nvPr/>
        </p:nvSpPr>
        <p:spPr>
          <a:xfrm>
            <a:off x="1325880" y="1536192"/>
            <a:ext cx="3108960" cy="365760"/>
          </a:xfrm>
          <a:prstGeom prst="rect">
            <a:avLst/>
          </a:prstGeom>
          <a:solidFill>
            <a:srgbClr val="C6E0B4"/>
          </a:solidFill>
          <a:ln w="12700">
            <a:solidFill>
              <a:srgbClr val="7F7F7F"/>
            </a:solidFill>
            <a:prstDash val="solid"/>
          </a:ln>
        </p:spPr>
        <p:txBody>
          <a:bodyPr wrap="square" lIns="0" tIns="0" rIns="0" bIns="0" rtlCol="0" anchor="ctr"/>
          <a:lstStyle/>
          <a:p>
            <a:pPr algn="ctr" indent="0" marL="0">
              <a:buNone/>
            </a:pPr>
            <a:r>
              <a:rPr lang="en-US" sz="1050" dirty="0">
                <a:solidFill>
                  <a:srgbClr val="202020"/>
                </a:solidFill>
                <a:latin typeface="Calibri" pitchFamily="34" charset="0"/>
                <a:ea typeface="Calibri" pitchFamily="34" charset="-122"/>
                <a:cs typeface="Calibri" pitchFamily="34" charset="-120"/>
              </a:rPr>
              <a:t>Execute collision step for transport</a:t>
            </a:r>
            <a:endParaRPr lang="en-US" sz="1050" dirty="0"/>
          </a:p>
        </p:txBody>
      </p:sp>
      <p:sp>
        <p:nvSpPr>
          <p:cNvPr id="13" name="Shape 11"/>
          <p:cNvSpPr/>
          <p:nvPr/>
        </p:nvSpPr>
        <p:spPr>
          <a:xfrm>
            <a:off x="2880360" y="1901952"/>
            <a:ext cx="0" cy="118872"/>
          </a:xfrm>
          <a:prstGeom prst="line">
            <a:avLst/>
          </a:prstGeom>
          <a:noFill/>
          <a:ln w="15875">
            <a:solidFill>
              <a:srgbClr val="595959"/>
            </a:solidFill>
            <a:prstDash val="solid"/>
            <a:tailEnd type="triangle"/>
          </a:ln>
        </p:spPr>
      </p:sp>
      <p:sp>
        <p:nvSpPr>
          <p:cNvPr id="14" name="Text 12"/>
          <p:cNvSpPr/>
          <p:nvPr/>
        </p:nvSpPr>
        <p:spPr>
          <a:xfrm>
            <a:off x="1325880" y="2020824"/>
            <a:ext cx="3108960" cy="365760"/>
          </a:xfrm>
          <a:prstGeom prst="rect">
            <a:avLst/>
          </a:prstGeom>
          <a:solidFill>
            <a:srgbClr val="E4D3F5"/>
          </a:solidFill>
          <a:ln w="12700">
            <a:solidFill>
              <a:srgbClr val="7F7F7F"/>
            </a:solidFill>
            <a:prstDash val="solid"/>
          </a:ln>
        </p:spPr>
        <p:txBody>
          <a:bodyPr wrap="square" lIns="0" tIns="0" rIns="0" bIns="0" rtlCol="0" anchor="ctr"/>
          <a:lstStyle/>
          <a:p>
            <a:pPr algn="ctr" indent="0" marL="0">
              <a:buNone/>
            </a:pPr>
            <a:r>
              <a:rPr lang="en-US" sz="1050" dirty="0">
                <a:solidFill>
                  <a:srgbClr val="202020"/>
                </a:solidFill>
                <a:latin typeface="Calibri" pitchFamily="34" charset="0"/>
                <a:ea typeface="Calibri" pitchFamily="34" charset="-122"/>
                <a:cs typeface="Calibri" pitchFamily="34" charset="-120"/>
              </a:rPr>
              <a:t>Abiotic reaction kinetics</a:t>
            </a:r>
            <a:endParaRPr lang="en-US" sz="1050" dirty="0"/>
          </a:p>
        </p:txBody>
      </p:sp>
      <p:sp>
        <p:nvSpPr>
          <p:cNvPr id="15" name="Shape 13"/>
          <p:cNvSpPr/>
          <p:nvPr/>
        </p:nvSpPr>
        <p:spPr>
          <a:xfrm>
            <a:off x="2880360" y="2386584"/>
            <a:ext cx="0" cy="118872"/>
          </a:xfrm>
          <a:prstGeom prst="line">
            <a:avLst/>
          </a:prstGeom>
          <a:noFill/>
          <a:ln w="15875">
            <a:solidFill>
              <a:srgbClr val="595959"/>
            </a:solidFill>
            <a:prstDash val="solid"/>
            <a:tailEnd type="triangle"/>
          </a:ln>
        </p:spPr>
      </p:sp>
      <p:sp>
        <p:nvSpPr>
          <p:cNvPr id="16" name="Text 14"/>
          <p:cNvSpPr/>
          <p:nvPr/>
        </p:nvSpPr>
        <p:spPr>
          <a:xfrm>
            <a:off x="1325880" y="2505456"/>
            <a:ext cx="3108960" cy="365760"/>
          </a:xfrm>
          <a:prstGeom prst="rect">
            <a:avLst/>
          </a:prstGeom>
          <a:solidFill>
            <a:srgbClr val="F2B2B2"/>
          </a:solidFill>
          <a:ln w="22225">
            <a:solidFill>
              <a:srgbClr val="B04A4A"/>
            </a:solidFill>
          </a:ln>
        </p:spPr>
        <p:txBody>
          <a:bodyPr wrap="square" lIns="0" tIns="0" rIns="0" bIns="0" rtlCol="0" anchor="ctr"/>
          <a:lstStyle/>
          <a:p>
            <a:pPr algn="ctr" indent="0" marL="0">
              <a:buNone/>
            </a:pPr>
            <a:r>
              <a:rPr lang="en-US" sz="1050" b="1" dirty="0">
                <a:solidFill>
                  <a:srgbClr val="202020"/>
                </a:solidFill>
                <a:latin typeface="Calibri" pitchFamily="34" charset="0"/>
                <a:ea typeface="Calibri" pitchFamily="34" charset="-122"/>
                <a:cs typeface="Calibri" pitchFamily="34" charset="-120"/>
              </a:rPr>
              <a:t>Biotic reaction: one rate path per organism</a:t>
            </a:r>
            <a:endParaRPr lang="en-US" sz="1050" dirty="0"/>
          </a:p>
        </p:txBody>
      </p:sp>
      <p:sp>
        <p:nvSpPr>
          <p:cNvPr id="17" name="Shape 15"/>
          <p:cNvSpPr/>
          <p:nvPr/>
        </p:nvSpPr>
        <p:spPr>
          <a:xfrm>
            <a:off x="2880360" y="2871216"/>
            <a:ext cx="0" cy="118872"/>
          </a:xfrm>
          <a:prstGeom prst="line">
            <a:avLst/>
          </a:prstGeom>
          <a:noFill/>
          <a:ln w="15875">
            <a:solidFill>
              <a:srgbClr val="595959"/>
            </a:solidFill>
            <a:prstDash val="solid"/>
            <a:tailEnd type="triangle"/>
          </a:ln>
        </p:spPr>
      </p:sp>
      <p:sp>
        <p:nvSpPr>
          <p:cNvPr id="18" name="Text 16"/>
          <p:cNvSpPr/>
          <p:nvPr/>
        </p:nvSpPr>
        <p:spPr>
          <a:xfrm>
            <a:off x="1325880" y="2990088"/>
            <a:ext cx="3108960" cy="365760"/>
          </a:xfrm>
          <a:prstGeom prst="rect">
            <a:avLst/>
          </a:prstGeom>
          <a:solidFill>
            <a:srgbClr val="E4D3F5"/>
          </a:solidFill>
          <a:ln w="12700">
            <a:solidFill>
              <a:srgbClr val="7F7F7F"/>
            </a:solidFill>
            <a:prstDash val="dash"/>
          </a:ln>
        </p:spPr>
        <p:txBody>
          <a:bodyPr wrap="square" lIns="0" tIns="0" rIns="0" bIns="0" rtlCol="0" anchor="ctr"/>
          <a:lstStyle/>
          <a:p>
            <a:pPr algn="ctr" indent="0" marL="0">
              <a:buNone/>
            </a:pPr>
            <a:r>
              <a:rPr lang="en-US" sz="1050" dirty="0">
                <a:solidFill>
                  <a:srgbClr val="202020"/>
                </a:solidFill>
                <a:latin typeface="Calibri" pitchFamily="34" charset="0"/>
                <a:ea typeface="Calibri" pitchFamily="34" charset="-122"/>
                <a:cs typeface="Calibri" pitchFamily="34" charset="-120"/>
              </a:rPr>
              <a:t>Equilibrium chemistry</a:t>
            </a:r>
            <a:endParaRPr lang="en-US" sz="1050" dirty="0"/>
          </a:p>
        </p:txBody>
      </p:sp>
      <p:sp>
        <p:nvSpPr>
          <p:cNvPr id="19" name="Shape 17"/>
          <p:cNvSpPr/>
          <p:nvPr/>
        </p:nvSpPr>
        <p:spPr>
          <a:xfrm>
            <a:off x="2880360" y="3355848"/>
            <a:ext cx="0" cy="118872"/>
          </a:xfrm>
          <a:prstGeom prst="line">
            <a:avLst/>
          </a:prstGeom>
          <a:noFill/>
          <a:ln w="15875">
            <a:solidFill>
              <a:srgbClr val="595959"/>
            </a:solidFill>
            <a:prstDash val="solid"/>
            <a:tailEnd type="triangle"/>
          </a:ln>
        </p:spPr>
      </p:sp>
      <p:sp>
        <p:nvSpPr>
          <p:cNvPr id="20" name="Text 18"/>
          <p:cNvSpPr/>
          <p:nvPr/>
        </p:nvSpPr>
        <p:spPr>
          <a:xfrm>
            <a:off x="1325880" y="3474720"/>
            <a:ext cx="3108960" cy="365760"/>
          </a:xfrm>
          <a:prstGeom prst="rect">
            <a:avLst/>
          </a:prstGeom>
          <a:solidFill>
            <a:srgbClr val="FFE699"/>
          </a:solidFill>
          <a:ln w="12700">
            <a:solidFill>
              <a:srgbClr val="7F7F7F"/>
            </a:solidFill>
            <a:prstDash val="solid"/>
          </a:ln>
        </p:spPr>
        <p:txBody>
          <a:bodyPr wrap="square" lIns="0" tIns="0" rIns="0" bIns="0" rtlCol="0" anchor="ctr"/>
          <a:lstStyle/>
          <a:p>
            <a:pPr algn="ctr" indent="0" marL="0">
              <a:buNone/>
            </a:pPr>
            <a:r>
              <a:rPr lang="en-US" sz="1050" dirty="0">
                <a:solidFill>
                  <a:srgbClr val="202020"/>
                </a:solidFill>
                <a:latin typeface="Calibri" pitchFamily="34" charset="0"/>
                <a:ea typeface="Calibri" pitchFamily="34" charset="-122"/>
                <a:cs typeface="Calibri" pitchFamily="34" charset="-120"/>
              </a:rPr>
              <a:t>Surface reactions on wetted voxels:</a:t>
            </a:r>
            <a:endParaRPr lang="en-US" sz="1050" dirty="0"/>
          </a:p>
          <a:p>
            <a:pPr algn="ctr" indent="0" marL="0">
              <a:buNone/>
            </a:pPr>
            <a:r>
              <a:rPr lang="en-US" sz="1050" dirty="0">
                <a:solidFill>
                  <a:srgbClr val="202020"/>
                </a:solidFill>
                <a:latin typeface="Calibri" pitchFamily="34" charset="0"/>
                <a:ea typeface="Calibri" pitchFamily="34" charset="-122"/>
                <a:cs typeface="Calibri" pitchFamily="34" charset="-120"/>
              </a:rPr>
              <a:t>precipitation and dissolution</a:t>
            </a:r>
            <a:endParaRPr lang="en-US" sz="1050" dirty="0"/>
          </a:p>
        </p:txBody>
      </p:sp>
      <p:sp>
        <p:nvSpPr>
          <p:cNvPr id="21" name="Shape 19"/>
          <p:cNvSpPr/>
          <p:nvPr/>
        </p:nvSpPr>
        <p:spPr>
          <a:xfrm>
            <a:off x="2880360" y="3840480"/>
            <a:ext cx="0" cy="118872"/>
          </a:xfrm>
          <a:prstGeom prst="line">
            <a:avLst/>
          </a:prstGeom>
          <a:noFill/>
          <a:ln w="15875">
            <a:solidFill>
              <a:srgbClr val="595959"/>
            </a:solidFill>
            <a:prstDash val="solid"/>
            <a:tailEnd type="triangle"/>
          </a:ln>
        </p:spPr>
      </p:sp>
      <p:sp>
        <p:nvSpPr>
          <p:cNvPr id="22" name="Text 20"/>
          <p:cNvSpPr/>
          <p:nvPr/>
        </p:nvSpPr>
        <p:spPr>
          <a:xfrm>
            <a:off x="1325880" y="3959352"/>
            <a:ext cx="3108960" cy="365760"/>
          </a:xfrm>
          <a:prstGeom prst="rect">
            <a:avLst/>
          </a:prstGeom>
          <a:solidFill>
            <a:srgbClr val="C6E0B4"/>
          </a:solidFill>
          <a:ln w="12700">
            <a:solidFill>
              <a:srgbClr val="7F7F7F"/>
            </a:solidFill>
            <a:prstDash val="solid"/>
          </a:ln>
        </p:spPr>
        <p:txBody>
          <a:bodyPr wrap="square" lIns="0" tIns="0" rIns="0" bIns="0" rtlCol="0" anchor="ctr"/>
          <a:lstStyle/>
          <a:p>
            <a:pPr algn="ctr" indent="0" marL="0">
              <a:buNone/>
            </a:pPr>
            <a:r>
              <a:rPr lang="en-US" sz="1050" dirty="0">
                <a:solidFill>
                  <a:srgbClr val="202020"/>
                </a:solidFill>
                <a:latin typeface="Calibri" pitchFamily="34" charset="0"/>
                <a:ea typeface="Calibri" pitchFamily="34" charset="-122"/>
                <a:cs typeface="Calibri" pitchFamily="34" charset="-120"/>
              </a:rPr>
              <a:t>CA biomass expansion</a:t>
            </a:r>
            <a:endParaRPr lang="en-US" sz="1050" dirty="0"/>
          </a:p>
        </p:txBody>
      </p:sp>
      <p:sp>
        <p:nvSpPr>
          <p:cNvPr id="23" name="Shape 21"/>
          <p:cNvSpPr/>
          <p:nvPr/>
        </p:nvSpPr>
        <p:spPr>
          <a:xfrm>
            <a:off x="2880360" y="4325112"/>
            <a:ext cx="0" cy="118872"/>
          </a:xfrm>
          <a:prstGeom prst="line">
            <a:avLst/>
          </a:prstGeom>
          <a:noFill/>
          <a:ln w="15875">
            <a:solidFill>
              <a:srgbClr val="595959"/>
            </a:solidFill>
            <a:prstDash val="solid"/>
            <a:tailEnd type="triangle"/>
          </a:ln>
        </p:spPr>
      </p:sp>
      <p:sp>
        <p:nvSpPr>
          <p:cNvPr id="24" name="Text 22"/>
          <p:cNvSpPr/>
          <p:nvPr/>
        </p:nvSpPr>
        <p:spPr>
          <a:xfrm>
            <a:off x="1325880" y="4443984"/>
            <a:ext cx="3108960" cy="365760"/>
          </a:xfrm>
          <a:prstGeom prst="rect">
            <a:avLst/>
          </a:prstGeom>
          <a:solidFill>
            <a:srgbClr val="FFE699"/>
          </a:solidFill>
          <a:ln w="12700">
            <a:solidFill>
              <a:srgbClr val="7F7F7F"/>
            </a:solidFill>
            <a:prstDash val="solid"/>
          </a:ln>
        </p:spPr>
        <p:txBody>
          <a:bodyPr wrap="square" lIns="0" tIns="0" rIns="0" bIns="0" rtlCol="0" anchor="ctr"/>
          <a:lstStyle/>
          <a:p>
            <a:pPr algn="ctr" indent="0" marL="0">
              <a:buNone/>
            </a:pPr>
            <a:r>
              <a:rPr lang="en-US" sz="1050" dirty="0">
                <a:solidFill>
                  <a:srgbClr val="202020"/>
                </a:solidFill>
                <a:latin typeface="Calibri" pitchFamily="34" charset="0"/>
                <a:ea typeface="Calibri" pitchFamily="34" charset="-122"/>
                <a:cs typeface="Calibri" pitchFamily="34" charset="-120"/>
              </a:rPr>
              <a:t>Mineral node update: seal full voxels,</a:t>
            </a:r>
            <a:endParaRPr lang="en-US" sz="1050" dirty="0"/>
          </a:p>
          <a:p>
            <a:pPr algn="ctr" indent="0" marL="0">
              <a:buNone/>
            </a:pPr>
            <a:r>
              <a:rPr lang="en-US" sz="1050" dirty="0">
                <a:solidFill>
                  <a:srgbClr val="202020"/>
                </a:solidFill>
                <a:latin typeface="Calibri" pitchFamily="34" charset="0"/>
                <a:ea typeface="Calibri" pitchFamily="34" charset="-122"/>
                <a:cs typeface="Calibri" pitchFamily="34" charset="-120"/>
              </a:rPr>
              <a:t>reopen emptied voxels</a:t>
            </a:r>
            <a:endParaRPr lang="en-US" sz="1050" dirty="0"/>
          </a:p>
        </p:txBody>
      </p:sp>
      <p:sp>
        <p:nvSpPr>
          <p:cNvPr id="25" name="Shape 23"/>
          <p:cNvSpPr/>
          <p:nvPr/>
        </p:nvSpPr>
        <p:spPr>
          <a:xfrm>
            <a:off x="2880360" y="4809744"/>
            <a:ext cx="0" cy="118872"/>
          </a:xfrm>
          <a:prstGeom prst="line">
            <a:avLst/>
          </a:prstGeom>
          <a:noFill/>
          <a:ln w="15875">
            <a:solidFill>
              <a:srgbClr val="595959"/>
            </a:solidFill>
            <a:prstDash val="solid"/>
            <a:tailEnd type="triangle"/>
          </a:ln>
        </p:spPr>
      </p:sp>
      <p:sp>
        <p:nvSpPr>
          <p:cNvPr id="26" name="Text 24"/>
          <p:cNvSpPr/>
          <p:nvPr/>
        </p:nvSpPr>
        <p:spPr>
          <a:xfrm>
            <a:off x="1920240" y="4928616"/>
            <a:ext cx="1920240" cy="530352"/>
          </a:xfrm>
          <a:prstGeom prst="diamond">
            <a:avLst/>
          </a:prstGeom>
          <a:solidFill>
            <a:srgbClr val="FFFFFF"/>
          </a:solidFill>
          <a:ln w="12700">
            <a:solidFill>
              <a:srgbClr val="7F7F7F"/>
            </a:solidFill>
          </a:ln>
        </p:spPr>
        <p:txBody>
          <a:bodyPr wrap="square" lIns="0" tIns="0" rIns="0" bIns="0" rtlCol="0" anchor="ctr"/>
          <a:lstStyle/>
          <a:p>
            <a:pPr algn="ctr" indent="0" marL="0">
              <a:buNone/>
            </a:pPr>
            <a:r>
              <a:rPr lang="en-US" sz="950" dirty="0">
                <a:solidFill>
                  <a:srgbClr val="202020"/>
                </a:solidFill>
                <a:latin typeface="Calibri" pitchFamily="34" charset="0"/>
                <a:ea typeface="Calibri" pitchFamily="34" charset="-122"/>
                <a:cs typeface="Calibri" pitchFamily="34" charset="-120"/>
              </a:rPr>
              <a:t>Pore geometry</a:t>
            </a:r>
            <a:endParaRPr lang="en-US" sz="950" dirty="0"/>
          </a:p>
          <a:p>
            <a:pPr algn="ctr" indent="0" marL="0">
              <a:buNone/>
            </a:pPr>
            <a:r>
              <a:rPr lang="en-US" sz="950" dirty="0">
                <a:solidFill>
                  <a:srgbClr val="202020"/>
                </a:solidFill>
                <a:latin typeface="Calibri" pitchFamily="34" charset="0"/>
                <a:ea typeface="Calibri" pitchFamily="34" charset="-122"/>
                <a:cs typeface="Calibri" pitchFamily="34" charset="-120"/>
              </a:rPr>
              <a:t>changed?</a:t>
            </a:r>
            <a:endParaRPr lang="en-US" sz="950" dirty="0"/>
          </a:p>
        </p:txBody>
      </p:sp>
      <p:sp>
        <p:nvSpPr>
          <p:cNvPr id="27" name="Text 25"/>
          <p:cNvSpPr/>
          <p:nvPr/>
        </p:nvSpPr>
        <p:spPr>
          <a:xfrm>
            <a:off x="3977640" y="4946904"/>
            <a:ext cx="1828800" cy="365760"/>
          </a:xfrm>
          <a:prstGeom prst="rect">
            <a:avLst/>
          </a:prstGeom>
          <a:solidFill>
            <a:srgbClr val="F8CBAD"/>
          </a:solidFill>
          <a:ln w="12700">
            <a:solidFill>
              <a:srgbClr val="7F7F7F"/>
            </a:solidFill>
          </a:ln>
        </p:spPr>
        <p:txBody>
          <a:bodyPr wrap="square" lIns="0" tIns="0" rIns="0" bIns="0" rtlCol="0" anchor="ctr"/>
          <a:lstStyle/>
          <a:p>
            <a:pPr algn="ctr" indent="0" marL="0">
              <a:buNone/>
            </a:pPr>
            <a:r>
              <a:rPr lang="en-US" sz="1000" dirty="0">
                <a:solidFill>
                  <a:srgbClr val="202020"/>
                </a:solidFill>
                <a:latin typeface="Calibri" pitchFamily="34" charset="0"/>
                <a:ea typeface="Calibri" pitchFamily="34" charset="-122"/>
                <a:cs typeface="Calibri" pitchFamily="34" charset="-120"/>
              </a:rPr>
              <a:t>Re-solve steady-state flow field</a:t>
            </a:r>
            <a:endParaRPr lang="en-US" sz="1000" dirty="0"/>
          </a:p>
        </p:txBody>
      </p:sp>
      <p:sp>
        <p:nvSpPr>
          <p:cNvPr id="28" name="Shape 26"/>
          <p:cNvSpPr/>
          <p:nvPr/>
        </p:nvSpPr>
        <p:spPr>
          <a:xfrm>
            <a:off x="3840480" y="5193792"/>
            <a:ext cx="137160" cy="0"/>
          </a:xfrm>
          <a:prstGeom prst="line">
            <a:avLst/>
          </a:prstGeom>
          <a:noFill/>
          <a:ln w="15875">
            <a:solidFill>
              <a:srgbClr val="595959"/>
            </a:solidFill>
            <a:prstDash val="solid"/>
            <a:tailEnd type="triangle"/>
          </a:ln>
        </p:spPr>
      </p:sp>
      <p:sp>
        <p:nvSpPr>
          <p:cNvPr id="29" name="Text 27"/>
          <p:cNvSpPr txBox="1"/>
          <p:nvPr/>
        </p:nvSpPr>
        <p:spPr>
          <a:xfrm>
            <a:off x="3931920" y="4974336"/>
            <a:ext cx="457200" cy="182880"/>
          </a:xfrm>
          <a:prstGeom prst="rect">
            <a:avLst/>
          </a:prstGeom>
          <a:noFill/>
          <a:ln/>
        </p:spPr>
        <p:txBody>
          <a:bodyPr wrap="square" lIns="0" tIns="0" rIns="0" bIns="0" rtlCol="0" anchor="ctr"/>
          <a:lstStyle/>
          <a:p>
            <a:pPr indent="0" marL="0">
              <a:buNone/>
            </a:pPr>
            <a:r>
              <a:rPr lang="en-US" sz="900" dirty="0">
                <a:solidFill>
                  <a:srgbClr val="606060"/>
                </a:solidFill>
                <a:latin typeface="Calibri" pitchFamily="34" charset="0"/>
                <a:ea typeface="Calibri" pitchFamily="34" charset="-122"/>
                <a:cs typeface="Calibri" pitchFamily="34" charset="-120"/>
              </a:rPr>
              <a:t>Yes</a:t>
            </a:r>
            <a:endParaRPr lang="en-US" sz="900" dirty="0"/>
          </a:p>
        </p:txBody>
      </p:sp>
      <p:sp>
        <p:nvSpPr>
          <p:cNvPr id="30" name="Shape 28"/>
          <p:cNvSpPr/>
          <p:nvPr/>
        </p:nvSpPr>
        <p:spPr>
          <a:xfrm>
            <a:off x="2880360" y="5458968"/>
            <a:ext cx="0" cy="118872"/>
          </a:xfrm>
          <a:prstGeom prst="line">
            <a:avLst/>
          </a:prstGeom>
          <a:noFill/>
          <a:ln w="15875">
            <a:solidFill>
              <a:srgbClr val="595959"/>
            </a:solidFill>
            <a:prstDash val="solid"/>
            <a:tailEnd type="triangle"/>
          </a:ln>
        </p:spPr>
      </p:sp>
      <p:sp>
        <p:nvSpPr>
          <p:cNvPr id="31" name="Text 29"/>
          <p:cNvSpPr txBox="1"/>
          <p:nvPr/>
        </p:nvSpPr>
        <p:spPr>
          <a:xfrm>
            <a:off x="2971800" y="5440680"/>
            <a:ext cx="457200" cy="182880"/>
          </a:xfrm>
          <a:prstGeom prst="rect">
            <a:avLst/>
          </a:prstGeom>
          <a:noFill/>
          <a:ln/>
        </p:spPr>
        <p:txBody>
          <a:bodyPr wrap="square" lIns="0" tIns="0" rIns="0" bIns="0" rtlCol="0" anchor="ctr"/>
          <a:lstStyle/>
          <a:p>
            <a:pPr indent="0" marL="0">
              <a:buNone/>
            </a:pPr>
            <a:r>
              <a:rPr lang="en-US" sz="900" dirty="0">
                <a:solidFill>
                  <a:srgbClr val="606060"/>
                </a:solidFill>
                <a:latin typeface="Calibri" pitchFamily="34" charset="0"/>
                <a:ea typeface="Calibri" pitchFamily="34" charset="-122"/>
                <a:cs typeface="Calibri" pitchFamily="34" charset="-120"/>
              </a:rPr>
              <a:t>No</a:t>
            </a:r>
            <a:endParaRPr lang="en-US" sz="900" dirty="0"/>
          </a:p>
        </p:txBody>
      </p:sp>
      <p:sp>
        <p:nvSpPr>
          <p:cNvPr id="32" name="Text 30"/>
          <p:cNvSpPr/>
          <p:nvPr/>
        </p:nvSpPr>
        <p:spPr>
          <a:xfrm>
            <a:off x="1325880" y="5577840"/>
            <a:ext cx="3108960" cy="365760"/>
          </a:xfrm>
          <a:prstGeom prst="rect">
            <a:avLst/>
          </a:prstGeom>
          <a:solidFill>
            <a:srgbClr val="C6E0B4"/>
          </a:solidFill>
          <a:ln w="12700">
            <a:solidFill>
              <a:srgbClr val="7F7F7F"/>
            </a:solidFill>
            <a:prstDash val="solid"/>
          </a:ln>
        </p:spPr>
        <p:txBody>
          <a:bodyPr wrap="square" lIns="0" tIns="0" rIns="0" bIns="0" rtlCol="0" anchor="ctr"/>
          <a:lstStyle/>
          <a:p>
            <a:pPr algn="ctr" indent="0" marL="0">
              <a:buNone/>
            </a:pPr>
            <a:r>
              <a:rPr lang="en-US" sz="1050" dirty="0">
                <a:solidFill>
                  <a:srgbClr val="202020"/>
                </a:solidFill>
                <a:latin typeface="Calibri" pitchFamily="34" charset="0"/>
                <a:ea typeface="Calibri" pitchFamily="34" charset="-122"/>
                <a:cs typeface="Calibri" pitchFamily="34" charset="-120"/>
              </a:rPr>
              <a:t>Streaming step (D3Q7)</a:t>
            </a:r>
            <a:endParaRPr lang="en-US" sz="1050" dirty="0"/>
          </a:p>
          <a:p>
            <a:pPr algn="ctr" indent="0" marL="0">
              <a:buNone/>
            </a:pPr>
            <a:r>
              <a:rPr lang="en-US" sz="1050" dirty="0">
                <a:solidFill>
                  <a:srgbClr val="202020"/>
                </a:solidFill>
                <a:latin typeface="Calibri" pitchFamily="34" charset="0"/>
                <a:ea typeface="Calibri" pitchFamily="34" charset="-122"/>
                <a:cs typeface="Calibri" pitchFamily="34" charset="-120"/>
              </a:rPr>
              <a:t>&amp; apply boundary conditions</a:t>
            </a:r>
            <a:endParaRPr lang="en-US" sz="1050" dirty="0"/>
          </a:p>
        </p:txBody>
      </p:sp>
      <p:sp>
        <p:nvSpPr>
          <p:cNvPr id="33" name="Shape 31"/>
          <p:cNvSpPr/>
          <p:nvPr/>
        </p:nvSpPr>
        <p:spPr>
          <a:xfrm>
            <a:off x="4892040" y="5312664"/>
            <a:ext cx="0" cy="448056"/>
          </a:xfrm>
          <a:prstGeom prst="line">
            <a:avLst/>
          </a:prstGeom>
          <a:noFill/>
          <a:ln w="15875">
            <a:solidFill>
              <a:srgbClr val="595959"/>
            </a:solidFill>
            <a:prstDash val="solid"/>
          </a:ln>
        </p:spPr>
      </p:sp>
      <p:sp>
        <p:nvSpPr>
          <p:cNvPr id="34" name="Shape 32"/>
          <p:cNvSpPr/>
          <p:nvPr/>
        </p:nvSpPr>
        <p:spPr>
          <a:xfrm>
            <a:off x="4434840" y="5760720"/>
            <a:ext cx="457200" cy="0"/>
          </a:xfrm>
          <a:prstGeom prst="line">
            <a:avLst/>
          </a:prstGeom>
          <a:noFill/>
          <a:ln w="15875">
            <a:solidFill>
              <a:srgbClr val="595959"/>
            </a:solidFill>
            <a:prstDash val="solid"/>
            <a:headEnd type="triangle"/>
          </a:ln>
        </p:spPr>
      </p:sp>
      <p:sp>
        <p:nvSpPr>
          <p:cNvPr id="35" name="Shape 33"/>
          <p:cNvSpPr/>
          <p:nvPr/>
        </p:nvSpPr>
        <p:spPr>
          <a:xfrm>
            <a:off x="2880360" y="5943600"/>
            <a:ext cx="0" cy="118872"/>
          </a:xfrm>
          <a:prstGeom prst="line">
            <a:avLst/>
          </a:prstGeom>
          <a:noFill/>
          <a:ln w="15875">
            <a:solidFill>
              <a:srgbClr val="595959"/>
            </a:solidFill>
            <a:prstDash val="solid"/>
            <a:tailEnd type="triangle"/>
          </a:ln>
        </p:spPr>
      </p:sp>
      <p:sp>
        <p:nvSpPr>
          <p:cNvPr id="36" name="Text 34"/>
          <p:cNvSpPr/>
          <p:nvPr/>
        </p:nvSpPr>
        <p:spPr>
          <a:xfrm>
            <a:off x="1920240" y="6062472"/>
            <a:ext cx="1920240" cy="530352"/>
          </a:xfrm>
          <a:prstGeom prst="diamond">
            <a:avLst/>
          </a:prstGeom>
          <a:solidFill>
            <a:srgbClr val="FFFFFF"/>
          </a:solidFill>
          <a:ln w="12700">
            <a:solidFill>
              <a:srgbClr val="7F7F7F"/>
            </a:solidFill>
          </a:ln>
        </p:spPr>
        <p:txBody>
          <a:bodyPr wrap="square" lIns="0" tIns="0" rIns="0" bIns="0" rtlCol="0" anchor="ctr"/>
          <a:lstStyle/>
          <a:p>
            <a:pPr algn="ctr" indent="0" marL="0">
              <a:buNone/>
            </a:pPr>
            <a:r>
              <a:rPr lang="en-US" sz="950" dirty="0">
                <a:solidFill>
                  <a:srgbClr val="202020"/>
                </a:solidFill>
                <a:latin typeface="Calibri" pitchFamily="34" charset="0"/>
                <a:ea typeface="Calibri" pitchFamily="34" charset="-122"/>
                <a:cs typeface="Calibri" pitchFamily="34" charset="-120"/>
              </a:rPr>
              <a:t>Output save step</a:t>
            </a:r>
            <a:endParaRPr lang="en-US" sz="950" dirty="0"/>
          </a:p>
          <a:p>
            <a:pPr algn="ctr" indent="0" marL="0">
              <a:buNone/>
            </a:pPr>
            <a:r>
              <a:rPr lang="en-US" sz="950" dirty="0">
                <a:solidFill>
                  <a:srgbClr val="202020"/>
                </a:solidFill>
                <a:latin typeface="Calibri" pitchFamily="34" charset="0"/>
                <a:ea typeface="Calibri" pitchFamily="34" charset="-122"/>
                <a:cs typeface="Calibri" pitchFamily="34" charset="-120"/>
              </a:rPr>
              <a:t>reached?</a:t>
            </a:r>
            <a:endParaRPr lang="en-US" sz="950" dirty="0"/>
          </a:p>
        </p:txBody>
      </p:sp>
      <p:sp>
        <p:nvSpPr>
          <p:cNvPr id="37" name="Text 35"/>
          <p:cNvSpPr/>
          <p:nvPr/>
        </p:nvSpPr>
        <p:spPr>
          <a:xfrm>
            <a:off x="3977640" y="6080760"/>
            <a:ext cx="1828800" cy="365760"/>
          </a:xfrm>
          <a:prstGeom prst="rect">
            <a:avLst/>
          </a:prstGeom>
          <a:solidFill>
            <a:srgbClr val="BDD7EE"/>
          </a:solidFill>
          <a:ln w="12700">
            <a:solidFill>
              <a:srgbClr val="7F7F7F"/>
            </a:solidFill>
          </a:ln>
        </p:spPr>
        <p:txBody>
          <a:bodyPr wrap="square" lIns="0" tIns="0" rIns="0" bIns="0" rtlCol="0" anchor="ctr"/>
          <a:lstStyle/>
          <a:p>
            <a:pPr algn="ctr" indent="0" marL="0">
              <a:buNone/>
            </a:pPr>
            <a:r>
              <a:rPr lang="en-US" sz="1000" dirty="0">
                <a:solidFill>
                  <a:srgbClr val="202020"/>
                </a:solidFill>
                <a:latin typeface="Calibri" pitchFamily="34" charset="0"/>
                <a:ea typeface="Calibri" pitchFamily="34" charset="-122"/>
                <a:cs typeface="Calibri" pitchFamily="34" charset="-120"/>
              </a:rPr>
              <a:t>Write output files (VTI)</a:t>
            </a:r>
            <a:endParaRPr lang="en-US" sz="1000" dirty="0"/>
          </a:p>
        </p:txBody>
      </p:sp>
      <p:sp>
        <p:nvSpPr>
          <p:cNvPr id="38" name="Shape 36"/>
          <p:cNvSpPr/>
          <p:nvPr/>
        </p:nvSpPr>
        <p:spPr>
          <a:xfrm>
            <a:off x="3840480" y="6327648"/>
            <a:ext cx="137160" cy="0"/>
          </a:xfrm>
          <a:prstGeom prst="line">
            <a:avLst/>
          </a:prstGeom>
          <a:noFill/>
          <a:ln w="15875">
            <a:solidFill>
              <a:srgbClr val="595959"/>
            </a:solidFill>
            <a:prstDash val="solid"/>
            <a:tailEnd type="triangle"/>
          </a:ln>
        </p:spPr>
      </p:sp>
      <p:sp>
        <p:nvSpPr>
          <p:cNvPr id="39" name="Text 37"/>
          <p:cNvSpPr txBox="1"/>
          <p:nvPr/>
        </p:nvSpPr>
        <p:spPr>
          <a:xfrm>
            <a:off x="3931920" y="6108192"/>
            <a:ext cx="457200" cy="182880"/>
          </a:xfrm>
          <a:prstGeom prst="rect">
            <a:avLst/>
          </a:prstGeom>
          <a:noFill/>
          <a:ln/>
        </p:spPr>
        <p:txBody>
          <a:bodyPr wrap="square" lIns="0" tIns="0" rIns="0" bIns="0" rtlCol="0" anchor="ctr"/>
          <a:lstStyle/>
          <a:p>
            <a:pPr indent="0" marL="0">
              <a:buNone/>
            </a:pPr>
            <a:r>
              <a:rPr lang="en-US" sz="900" dirty="0">
                <a:solidFill>
                  <a:srgbClr val="606060"/>
                </a:solidFill>
                <a:latin typeface="Calibri" pitchFamily="34" charset="0"/>
                <a:ea typeface="Calibri" pitchFamily="34" charset="-122"/>
                <a:cs typeface="Calibri" pitchFamily="34" charset="-120"/>
              </a:rPr>
              <a:t>Yes</a:t>
            </a:r>
            <a:endParaRPr lang="en-US" sz="900" dirty="0"/>
          </a:p>
        </p:txBody>
      </p:sp>
      <p:sp>
        <p:nvSpPr>
          <p:cNvPr id="40" name="Shape 38"/>
          <p:cNvSpPr/>
          <p:nvPr/>
        </p:nvSpPr>
        <p:spPr>
          <a:xfrm>
            <a:off x="2880360" y="6592824"/>
            <a:ext cx="0" cy="118872"/>
          </a:xfrm>
          <a:prstGeom prst="line">
            <a:avLst/>
          </a:prstGeom>
          <a:noFill/>
          <a:ln w="15875">
            <a:solidFill>
              <a:srgbClr val="595959"/>
            </a:solidFill>
            <a:prstDash val="solid"/>
            <a:tailEnd type="triangle"/>
          </a:ln>
        </p:spPr>
      </p:sp>
      <p:sp>
        <p:nvSpPr>
          <p:cNvPr id="41" name="Text 39"/>
          <p:cNvSpPr txBox="1"/>
          <p:nvPr/>
        </p:nvSpPr>
        <p:spPr>
          <a:xfrm>
            <a:off x="2971800" y="6574536"/>
            <a:ext cx="457200" cy="182880"/>
          </a:xfrm>
          <a:prstGeom prst="rect">
            <a:avLst/>
          </a:prstGeom>
          <a:noFill/>
          <a:ln/>
        </p:spPr>
        <p:txBody>
          <a:bodyPr wrap="square" lIns="0" tIns="0" rIns="0" bIns="0" rtlCol="0" anchor="ctr"/>
          <a:lstStyle/>
          <a:p>
            <a:pPr indent="0" marL="0">
              <a:buNone/>
            </a:pPr>
            <a:r>
              <a:rPr lang="en-US" sz="900" dirty="0">
                <a:solidFill>
                  <a:srgbClr val="606060"/>
                </a:solidFill>
                <a:latin typeface="Calibri" pitchFamily="34" charset="0"/>
                <a:ea typeface="Calibri" pitchFamily="34" charset="-122"/>
                <a:cs typeface="Calibri" pitchFamily="34" charset="-120"/>
              </a:rPr>
              <a:t>No</a:t>
            </a:r>
            <a:endParaRPr lang="en-US" sz="900" dirty="0"/>
          </a:p>
        </p:txBody>
      </p:sp>
      <p:sp>
        <p:nvSpPr>
          <p:cNvPr id="42" name="Text 40"/>
          <p:cNvSpPr/>
          <p:nvPr/>
        </p:nvSpPr>
        <p:spPr>
          <a:xfrm>
            <a:off x="1920240" y="6711696"/>
            <a:ext cx="1920240" cy="530352"/>
          </a:xfrm>
          <a:prstGeom prst="diamond">
            <a:avLst/>
          </a:prstGeom>
          <a:solidFill>
            <a:srgbClr val="FFFFFF"/>
          </a:solidFill>
          <a:ln w="12700">
            <a:solidFill>
              <a:srgbClr val="7F7F7F"/>
            </a:solidFill>
          </a:ln>
        </p:spPr>
        <p:txBody>
          <a:bodyPr wrap="square" lIns="0" tIns="0" rIns="0" bIns="0" rtlCol="0" anchor="ctr"/>
          <a:lstStyle/>
          <a:p>
            <a:pPr algn="ctr" indent="0" marL="0">
              <a:buNone/>
            </a:pPr>
            <a:r>
              <a:rPr lang="en-US" sz="950" dirty="0">
                <a:solidFill>
                  <a:srgbClr val="202020"/>
                </a:solidFill>
                <a:latin typeface="Calibri" pitchFamily="34" charset="0"/>
                <a:ea typeface="Calibri" pitchFamily="34" charset="-122"/>
                <a:cs typeface="Calibri" pitchFamily="34" charset="-120"/>
              </a:rPr>
              <a:t>Max time steps</a:t>
            </a:r>
            <a:endParaRPr lang="en-US" sz="950" dirty="0"/>
          </a:p>
          <a:p>
            <a:pPr algn="ctr" indent="0" marL="0">
              <a:buNone/>
            </a:pPr>
            <a:r>
              <a:rPr lang="en-US" sz="950" dirty="0">
                <a:solidFill>
                  <a:srgbClr val="202020"/>
                </a:solidFill>
                <a:latin typeface="Calibri" pitchFamily="34" charset="0"/>
                <a:ea typeface="Calibri" pitchFamily="34" charset="-122"/>
                <a:cs typeface="Calibri" pitchFamily="34" charset="-120"/>
              </a:rPr>
              <a:t>reached?</a:t>
            </a:r>
            <a:endParaRPr lang="en-US" sz="950" dirty="0"/>
          </a:p>
        </p:txBody>
      </p:sp>
      <p:sp>
        <p:nvSpPr>
          <p:cNvPr id="43" name="Shape 41"/>
          <p:cNvSpPr/>
          <p:nvPr/>
        </p:nvSpPr>
        <p:spPr>
          <a:xfrm>
            <a:off x="4892040" y="6446520"/>
            <a:ext cx="0" cy="192024"/>
          </a:xfrm>
          <a:prstGeom prst="line">
            <a:avLst/>
          </a:prstGeom>
          <a:noFill/>
          <a:ln w="15875">
            <a:solidFill>
              <a:srgbClr val="595959"/>
            </a:solidFill>
            <a:prstDash val="solid"/>
          </a:ln>
        </p:spPr>
      </p:sp>
      <p:sp>
        <p:nvSpPr>
          <p:cNvPr id="44" name="Shape 42"/>
          <p:cNvSpPr/>
          <p:nvPr/>
        </p:nvSpPr>
        <p:spPr>
          <a:xfrm>
            <a:off x="3566160" y="6638544"/>
            <a:ext cx="1325880" cy="0"/>
          </a:xfrm>
          <a:prstGeom prst="line">
            <a:avLst/>
          </a:prstGeom>
          <a:noFill/>
          <a:ln w="15875">
            <a:solidFill>
              <a:srgbClr val="595959"/>
            </a:solidFill>
            <a:prstDash val="solid"/>
            <a:headEnd type="triangle"/>
          </a:ln>
        </p:spPr>
      </p:sp>
      <p:sp>
        <p:nvSpPr>
          <p:cNvPr id="45" name="Shape 43"/>
          <p:cNvSpPr/>
          <p:nvPr/>
        </p:nvSpPr>
        <p:spPr>
          <a:xfrm>
            <a:off x="475488" y="6976872"/>
            <a:ext cx="1444752" cy="0"/>
          </a:xfrm>
          <a:prstGeom prst="line">
            <a:avLst/>
          </a:prstGeom>
          <a:noFill/>
          <a:ln w="15875">
            <a:solidFill>
              <a:srgbClr val="595959"/>
            </a:solidFill>
            <a:prstDash val="solid"/>
            <a:headEnd type="triangle"/>
          </a:ln>
        </p:spPr>
      </p:sp>
      <p:sp>
        <p:nvSpPr>
          <p:cNvPr id="46" name="Shape 44"/>
          <p:cNvSpPr/>
          <p:nvPr/>
        </p:nvSpPr>
        <p:spPr>
          <a:xfrm>
            <a:off x="475488" y="1719072"/>
            <a:ext cx="0" cy="5257800"/>
          </a:xfrm>
          <a:prstGeom prst="line">
            <a:avLst/>
          </a:prstGeom>
          <a:noFill/>
          <a:ln w="15875">
            <a:solidFill>
              <a:srgbClr val="595959"/>
            </a:solidFill>
            <a:prstDash val="solid"/>
          </a:ln>
        </p:spPr>
      </p:sp>
      <p:sp>
        <p:nvSpPr>
          <p:cNvPr id="47" name="Shape 45"/>
          <p:cNvSpPr/>
          <p:nvPr/>
        </p:nvSpPr>
        <p:spPr>
          <a:xfrm>
            <a:off x="475488" y="1719072"/>
            <a:ext cx="850392" cy="0"/>
          </a:xfrm>
          <a:prstGeom prst="line">
            <a:avLst/>
          </a:prstGeom>
          <a:noFill/>
          <a:ln w="15875">
            <a:solidFill>
              <a:srgbClr val="595959"/>
            </a:solidFill>
            <a:prstDash val="solid"/>
            <a:tailEnd type="triangle"/>
          </a:ln>
        </p:spPr>
      </p:sp>
      <p:sp>
        <p:nvSpPr>
          <p:cNvPr id="48" name="Text 46"/>
          <p:cNvSpPr txBox="1"/>
          <p:nvPr/>
        </p:nvSpPr>
        <p:spPr>
          <a:xfrm>
            <a:off x="530352" y="6757416"/>
            <a:ext cx="457200" cy="182880"/>
          </a:xfrm>
          <a:prstGeom prst="rect">
            <a:avLst/>
          </a:prstGeom>
          <a:noFill/>
          <a:ln/>
        </p:spPr>
        <p:txBody>
          <a:bodyPr wrap="square" lIns="0" tIns="0" rIns="0" bIns="0" rtlCol="0" anchor="ctr"/>
          <a:lstStyle/>
          <a:p>
            <a:pPr indent="0" marL="0">
              <a:buNone/>
            </a:pPr>
            <a:r>
              <a:rPr lang="en-US" sz="900" dirty="0">
                <a:solidFill>
                  <a:srgbClr val="606060"/>
                </a:solidFill>
                <a:latin typeface="Calibri" pitchFamily="34" charset="0"/>
                <a:ea typeface="Calibri" pitchFamily="34" charset="-122"/>
                <a:cs typeface="Calibri" pitchFamily="34" charset="-120"/>
              </a:rPr>
              <a:t>No</a:t>
            </a:r>
            <a:endParaRPr lang="en-US" sz="900" dirty="0"/>
          </a:p>
        </p:txBody>
      </p:sp>
      <p:sp>
        <p:nvSpPr>
          <p:cNvPr id="49" name="Text 47"/>
          <p:cNvSpPr txBox="1"/>
          <p:nvPr/>
        </p:nvSpPr>
        <p:spPr>
          <a:xfrm>
            <a:off x="512064" y="4123944"/>
            <a:ext cx="548640" cy="237744"/>
          </a:xfrm>
          <a:prstGeom prst="rect">
            <a:avLst/>
          </a:prstGeom>
          <a:noFill/>
          <a:ln/>
        </p:spPr>
        <p:txBody>
          <a:bodyPr wrap="square" lIns="0" tIns="0" rIns="0" bIns="0" rtlCol="0" anchor="ctr"/>
          <a:lstStyle/>
          <a:p>
            <a:pPr indent="0" marL="0">
              <a:buNone/>
            </a:pPr>
            <a:r>
              <a:rPr lang="en-US" sz="1100" b="1" dirty="0">
                <a:solidFill>
                  <a:srgbClr val="202020"/>
                </a:solidFill>
                <a:latin typeface="Calibri" pitchFamily="34" charset="0"/>
                <a:ea typeface="Calibri" pitchFamily="34" charset="-122"/>
                <a:cs typeface="Calibri" pitchFamily="34" charset="-120"/>
              </a:rPr>
              <a:t>+ Δt</a:t>
            </a:r>
            <a:endParaRPr lang="en-US" sz="1100" dirty="0"/>
          </a:p>
        </p:txBody>
      </p:sp>
      <p:sp>
        <p:nvSpPr>
          <p:cNvPr id="50" name="Shape 48"/>
          <p:cNvSpPr/>
          <p:nvPr/>
        </p:nvSpPr>
        <p:spPr>
          <a:xfrm>
            <a:off x="2880360" y="7242048"/>
            <a:ext cx="0" cy="118872"/>
          </a:xfrm>
          <a:prstGeom prst="line">
            <a:avLst/>
          </a:prstGeom>
          <a:noFill/>
          <a:ln w="15875">
            <a:solidFill>
              <a:srgbClr val="595959"/>
            </a:solidFill>
            <a:prstDash val="solid"/>
            <a:tailEnd type="triangle"/>
          </a:ln>
        </p:spPr>
      </p:sp>
      <p:sp>
        <p:nvSpPr>
          <p:cNvPr id="51" name="Text 49"/>
          <p:cNvSpPr txBox="1"/>
          <p:nvPr/>
        </p:nvSpPr>
        <p:spPr>
          <a:xfrm>
            <a:off x="2971800" y="7223760"/>
            <a:ext cx="457200" cy="182880"/>
          </a:xfrm>
          <a:prstGeom prst="rect">
            <a:avLst/>
          </a:prstGeom>
          <a:noFill/>
          <a:ln/>
        </p:spPr>
        <p:txBody>
          <a:bodyPr wrap="square" lIns="0" tIns="0" rIns="0" bIns="0" rtlCol="0" anchor="ctr"/>
          <a:lstStyle/>
          <a:p>
            <a:pPr indent="0" marL="0">
              <a:buNone/>
            </a:pPr>
            <a:r>
              <a:rPr lang="en-US" sz="900" dirty="0">
                <a:solidFill>
                  <a:srgbClr val="606060"/>
                </a:solidFill>
                <a:latin typeface="Calibri" pitchFamily="34" charset="0"/>
                <a:ea typeface="Calibri" pitchFamily="34" charset="-122"/>
                <a:cs typeface="Calibri" pitchFamily="34" charset="-120"/>
              </a:rPr>
              <a:t>Yes</a:t>
            </a:r>
            <a:endParaRPr lang="en-US" sz="900" dirty="0"/>
          </a:p>
        </p:txBody>
      </p:sp>
      <p:sp>
        <p:nvSpPr>
          <p:cNvPr id="52" name="Text 50"/>
          <p:cNvSpPr/>
          <p:nvPr/>
        </p:nvSpPr>
        <p:spPr>
          <a:xfrm>
            <a:off x="2423160" y="7360920"/>
            <a:ext cx="914400" cy="310896"/>
          </a:xfrm>
          <a:prstGeom prst="ellipse">
            <a:avLst/>
          </a:prstGeom>
          <a:solidFill>
            <a:srgbClr val="F8A5A5"/>
          </a:solidFill>
          <a:ln w="12700">
            <a:solidFill>
              <a:srgbClr val="C05252"/>
            </a:solidFill>
          </a:ln>
        </p:spPr>
        <p:txBody>
          <a:bodyPr wrap="square" lIns="0" tIns="0" rIns="0" bIns="0" rtlCol="0" anchor="ctr"/>
          <a:lstStyle/>
          <a:p>
            <a:pPr algn="ctr" indent="0" marL="0">
              <a:buNone/>
            </a:pPr>
            <a:r>
              <a:rPr lang="en-US" sz="1100" b="1" dirty="0">
                <a:solidFill>
                  <a:srgbClr val="202020"/>
                </a:solidFill>
                <a:latin typeface="Calibri" pitchFamily="34" charset="0"/>
                <a:ea typeface="Calibri" pitchFamily="34" charset="-122"/>
                <a:cs typeface="Calibri" pitchFamily="34" charset="-120"/>
              </a:rPr>
              <a:t>End</a:t>
            </a:r>
            <a:endParaRPr lang="en-US" sz="1100" dirty="0"/>
          </a:p>
        </p:txBody>
      </p:sp>
      <p:sp>
        <p:nvSpPr>
          <p:cNvPr id="53" name="Shape 51"/>
          <p:cNvSpPr/>
          <p:nvPr/>
        </p:nvSpPr>
        <p:spPr>
          <a:xfrm>
            <a:off x="5943600" y="2212848"/>
            <a:ext cx="3017520" cy="3611880"/>
          </a:xfrm>
          <a:prstGeom prst="rect">
            <a:avLst/>
          </a:prstGeom>
          <a:solidFill>
            <a:srgbClr val="FBFBFD"/>
          </a:solidFill>
          <a:ln w="12700">
            <a:solidFill>
              <a:srgbClr val="9AA5B1"/>
            </a:solidFill>
            <a:prstDash val="dash"/>
          </a:ln>
        </p:spPr>
      </p:sp>
      <p:sp>
        <p:nvSpPr>
          <p:cNvPr id="54" name="Text 52"/>
          <p:cNvSpPr txBox="1"/>
          <p:nvPr/>
        </p:nvSpPr>
        <p:spPr>
          <a:xfrm>
            <a:off x="6053328" y="2286000"/>
            <a:ext cx="2798064" cy="237744"/>
          </a:xfrm>
          <a:prstGeom prst="rect">
            <a:avLst/>
          </a:prstGeom>
          <a:noFill/>
          <a:ln/>
        </p:spPr>
        <p:txBody>
          <a:bodyPr wrap="square" lIns="0" tIns="0" rIns="0" bIns="0" rtlCol="0" anchor="ctr"/>
          <a:lstStyle/>
          <a:p>
            <a:pPr indent="0" marL="0">
              <a:buNone/>
            </a:pPr>
            <a:r>
              <a:rPr lang="en-US" sz="1000" b="1" dirty="0">
                <a:solidFill>
                  <a:srgbClr val="202020"/>
                </a:solidFill>
                <a:latin typeface="Calibri" pitchFamily="34" charset="0"/>
                <a:ea typeface="Calibri" pitchFamily="34" charset="-122"/>
                <a:cs typeface="Calibri" pitchFamily="34" charset="-120"/>
              </a:rPr>
              <a:t>inside the biotic reaction step, per organism</a:t>
            </a:r>
            <a:endParaRPr lang="en-US" sz="1000" dirty="0"/>
          </a:p>
        </p:txBody>
      </p:sp>
      <p:sp>
        <p:nvSpPr>
          <p:cNvPr id="55" name="Text 53"/>
          <p:cNvSpPr txBox="1"/>
          <p:nvPr/>
        </p:nvSpPr>
        <p:spPr>
          <a:xfrm>
            <a:off x="6053328" y="2514600"/>
            <a:ext cx="2798064" cy="384048"/>
          </a:xfrm>
          <a:prstGeom prst="rect">
            <a:avLst/>
          </a:prstGeom>
          <a:noFill/>
          <a:ln/>
        </p:spPr>
        <p:txBody>
          <a:bodyPr wrap="square" lIns="0" tIns="0" rIns="0" bIns="0" rtlCol="0" anchor="ctr"/>
          <a:lstStyle/>
          <a:p>
            <a:pPr indent="0" marL="0">
              <a:buNone/>
            </a:pPr>
            <a:r>
              <a:rPr lang="en-US" sz="850" i="1" dirty="0">
                <a:solidFill>
                  <a:srgbClr val="606060"/>
                </a:solidFill>
                <a:latin typeface="Calibri" pitchFamily="34" charset="0"/>
                <a:ea typeface="Calibri" pitchFamily="34" charset="-122"/>
                <a:cs typeface="Calibri" pitchFamily="34" charset="-120"/>
              </a:rPr>
              <a:t>interchangeable: each takes the local concentrations and</a:t>
            </a:r>
            <a:endParaRPr lang="en-US" sz="850" dirty="0"/>
          </a:p>
          <a:p>
            <a:pPr indent="0" marL="0">
              <a:buNone/>
            </a:pPr>
            <a:r>
              <a:rPr lang="en-US" sz="850" i="1" dirty="0">
                <a:solidFill>
                  <a:srgbClr val="606060"/>
                </a:solidFill>
                <a:latin typeface="Calibri" pitchFamily="34" charset="0"/>
                <a:ea typeface="Calibri" pitchFamily="34" charset="-122"/>
                <a:cs typeface="Calibri" pitchFamily="34" charset="-120"/>
              </a:rPr>
              <a:t>returns a growth rate and the source terms transport needs</a:t>
            </a:r>
            <a:endParaRPr lang="en-US" sz="850" dirty="0"/>
          </a:p>
        </p:txBody>
      </p:sp>
      <p:sp>
        <p:nvSpPr>
          <p:cNvPr id="56" name="Text 54"/>
          <p:cNvSpPr/>
          <p:nvPr/>
        </p:nvSpPr>
        <p:spPr>
          <a:xfrm>
            <a:off x="6089904" y="2962656"/>
            <a:ext cx="2724912" cy="265176"/>
          </a:xfrm>
          <a:prstGeom prst="rect">
            <a:avLst/>
          </a:prstGeom>
          <a:solidFill>
            <a:srgbClr val="EFEFF3"/>
          </a:solidFill>
          <a:ln w="9525">
            <a:solidFill>
              <a:srgbClr val="D5D5DD"/>
            </a:solidFill>
          </a:ln>
        </p:spPr>
        <p:txBody>
          <a:bodyPr wrap="square" lIns="0" tIns="0" rIns="0" bIns="0" rtlCol="0" anchor="ctr"/>
          <a:lstStyle/>
          <a:p>
            <a:pPr algn="ctr" indent="0" marL="0">
              <a:buNone/>
            </a:pPr>
            <a:r>
              <a:rPr lang="en-US" sz="900" dirty="0">
                <a:solidFill>
                  <a:srgbClr val="202020"/>
                </a:solidFill>
                <a:latin typeface="Calibri" pitchFamily="34" charset="0"/>
                <a:ea typeface="Calibri" pitchFamily="34" charset="-122"/>
                <a:cs typeface="Calibri" pitchFamily="34" charset="-120"/>
              </a:rPr>
              <a:t>compiled kinetics</a:t>
            </a:r>
            <a:endParaRPr lang="en-US" sz="900" dirty="0"/>
          </a:p>
        </p:txBody>
      </p:sp>
      <p:sp>
        <p:nvSpPr>
          <p:cNvPr id="57" name="Text 55"/>
          <p:cNvSpPr/>
          <p:nvPr/>
        </p:nvSpPr>
        <p:spPr>
          <a:xfrm>
            <a:off x="6089904" y="3273552"/>
            <a:ext cx="2724912" cy="265176"/>
          </a:xfrm>
          <a:prstGeom prst="rect">
            <a:avLst/>
          </a:prstGeom>
          <a:solidFill>
            <a:srgbClr val="EFEFF3"/>
          </a:solidFill>
          <a:ln w="9525">
            <a:solidFill>
              <a:srgbClr val="D5D5DD"/>
            </a:solidFill>
          </a:ln>
        </p:spPr>
        <p:txBody>
          <a:bodyPr wrap="square" lIns="0" tIns="0" rIns="0" bIns="0" rtlCol="0" anchor="ctr"/>
          <a:lstStyle/>
          <a:p>
            <a:pPr algn="ctr" indent="0" marL="0">
              <a:buNone/>
            </a:pPr>
            <a:r>
              <a:rPr lang="en-US" sz="900" dirty="0">
                <a:solidFill>
                  <a:srgbClr val="202020"/>
                </a:solidFill>
                <a:latin typeface="Calibri" pitchFamily="34" charset="0"/>
                <a:ea typeface="Calibri" pitchFamily="34" charset="-122"/>
                <a:cs typeface="Calibri" pitchFamily="34" charset="-120"/>
              </a:rPr>
              <a:t>flux balance analysis (GLPK / COBRApy)</a:t>
            </a:r>
            <a:endParaRPr lang="en-US" sz="900" dirty="0"/>
          </a:p>
        </p:txBody>
      </p:sp>
      <p:sp>
        <p:nvSpPr>
          <p:cNvPr id="58" name="Text 56"/>
          <p:cNvSpPr/>
          <p:nvPr/>
        </p:nvSpPr>
        <p:spPr>
          <a:xfrm>
            <a:off x="6089904" y="3584448"/>
            <a:ext cx="2724912" cy="265176"/>
          </a:xfrm>
          <a:prstGeom prst="rect">
            <a:avLst/>
          </a:prstGeom>
          <a:solidFill>
            <a:srgbClr val="EFEFF3"/>
          </a:solidFill>
          <a:ln w="9525">
            <a:solidFill>
              <a:srgbClr val="D5D5DD"/>
            </a:solidFill>
          </a:ln>
        </p:spPr>
        <p:txBody>
          <a:bodyPr wrap="square" lIns="0" tIns="0" rIns="0" bIns="0" rtlCol="0" anchor="ctr"/>
          <a:lstStyle/>
          <a:p>
            <a:pPr algn="ctr" indent="0" marL="0">
              <a:buNone/>
            </a:pPr>
            <a:r>
              <a:rPr lang="en-US" sz="900" dirty="0">
                <a:solidFill>
                  <a:srgbClr val="202020"/>
                </a:solidFill>
                <a:latin typeface="Calibri" pitchFamily="34" charset="0"/>
                <a:ea typeface="Calibri" pitchFamily="34" charset="-122"/>
                <a:cs typeface="Calibri" pitchFamily="34" charset="-120"/>
              </a:rPr>
              <a:t>surrogate network</a:t>
            </a:r>
            <a:endParaRPr lang="en-US" sz="900" dirty="0"/>
          </a:p>
        </p:txBody>
      </p:sp>
      <p:sp>
        <p:nvSpPr>
          <p:cNvPr id="59" name="Text 57"/>
          <p:cNvSpPr/>
          <p:nvPr/>
        </p:nvSpPr>
        <p:spPr>
          <a:xfrm>
            <a:off x="6089904" y="3895344"/>
            <a:ext cx="2724912" cy="265176"/>
          </a:xfrm>
          <a:prstGeom prst="rect">
            <a:avLst/>
          </a:prstGeom>
          <a:solidFill>
            <a:srgbClr val="EFEFF3"/>
          </a:solidFill>
          <a:ln w="9525">
            <a:solidFill>
              <a:srgbClr val="D5D5DD"/>
            </a:solidFill>
          </a:ln>
        </p:spPr>
        <p:txBody>
          <a:bodyPr wrap="square" lIns="0" tIns="0" rIns="0" bIns="0" rtlCol="0" anchor="ctr"/>
          <a:lstStyle/>
          <a:p>
            <a:pPr algn="ctr" indent="0" marL="0">
              <a:buNone/>
            </a:pPr>
            <a:r>
              <a:rPr lang="en-US" sz="900" dirty="0">
                <a:solidFill>
                  <a:srgbClr val="202020"/>
                </a:solidFill>
                <a:latin typeface="Calibri" pitchFamily="34" charset="0"/>
                <a:ea typeface="Calibri" pitchFamily="34" charset="-122"/>
                <a:cs typeface="Calibri" pitchFamily="34" charset="-120"/>
              </a:rPr>
              <a:t>symbolic rate law</a:t>
            </a:r>
            <a:endParaRPr lang="en-US" sz="900" dirty="0"/>
          </a:p>
        </p:txBody>
      </p:sp>
      <p:sp>
        <p:nvSpPr>
          <p:cNvPr id="60" name="Text 58"/>
          <p:cNvSpPr/>
          <p:nvPr/>
        </p:nvSpPr>
        <p:spPr>
          <a:xfrm>
            <a:off x="6089904" y="4206240"/>
            <a:ext cx="2724912" cy="265176"/>
          </a:xfrm>
          <a:prstGeom prst="rect">
            <a:avLst/>
          </a:prstGeom>
          <a:solidFill>
            <a:srgbClr val="F2B2B2"/>
          </a:solidFill>
          <a:ln w="19050">
            <a:solidFill>
              <a:srgbClr val="B04A4A"/>
            </a:solidFill>
          </a:ln>
        </p:spPr>
        <p:txBody>
          <a:bodyPr wrap="square" lIns="0" tIns="0" rIns="0" bIns="0" rtlCol="0" anchor="ctr"/>
          <a:lstStyle/>
          <a:p>
            <a:pPr algn="ctr" indent="0" marL="0">
              <a:buNone/>
            </a:pPr>
            <a:r>
              <a:rPr lang="en-US" sz="900" b="1" dirty="0">
                <a:solidFill>
                  <a:srgbClr val="202020"/>
                </a:solidFill>
                <a:latin typeface="Calibri" pitchFamily="34" charset="0"/>
                <a:ea typeface="Calibri" pitchFamily="34" charset="-122"/>
                <a:cs typeface="Calibri" pitchFamily="34" charset="-120"/>
              </a:rPr>
              <a:t>graph network</a:t>
            </a:r>
            <a:endParaRPr lang="en-US" sz="900" dirty="0"/>
          </a:p>
        </p:txBody>
      </p:sp>
      <p:sp>
        <p:nvSpPr>
          <p:cNvPr id="61" name="Text 59"/>
          <p:cNvSpPr txBox="1"/>
          <p:nvPr/>
        </p:nvSpPr>
        <p:spPr>
          <a:xfrm>
            <a:off x="6089904" y="4663440"/>
            <a:ext cx="2724912" cy="201168"/>
          </a:xfrm>
          <a:prstGeom prst="rect">
            <a:avLst/>
          </a:prstGeom>
          <a:noFill/>
          <a:ln/>
        </p:spPr>
        <p:txBody>
          <a:bodyPr wrap="square" lIns="0" tIns="0" rIns="0" bIns="0" rtlCol="0" anchor="ctr"/>
          <a:lstStyle/>
          <a:p>
            <a:pPr indent="0" marL="0">
              <a:buNone/>
            </a:pPr>
            <a:r>
              <a:rPr lang="en-US" sz="850" b="1" dirty="0">
                <a:solidFill>
                  <a:srgbClr val="B04A4A"/>
                </a:solidFill>
                <a:latin typeface="Calibri" pitchFamily="34" charset="0"/>
                <a:ea typeface="Calibri" pitchFamily="34" charset="-122"/>
                <a:cs typeface="Calibri" pitchFamily="34" charset="-120"/>
              </a:rPr>
              <a:t>when it is a graph network:</a:t>
            </a:r>
            <a:endParaRPr lang="en-US" sz="850" dirty="0"/>
          </a:p>
        </p:txBody>
      </p:sp>
      <p:sp>
        <p:nvSpPr>
          <p:cNvPr id="62" name="Text 60"/>
          <p:cNvSpPr txBox="1"/>
          <p:nvPr/>
        </p:nvSpPr>
        <p:spPr>
          <a:xfrm>
            <a:off x="6144768" y="4901184"/>
            <a:ext cx="2651760" cy="214884"/>
          </a:xfrm>
          <a:prstGeom prst="rect">
            <a:avLst/>
          </a:prstGeom>
          <a:noFill/>
          <a:ln/>
        </p:spPr>
        <p:txBody>
          <a:bodyPr wrap="square" lIns="0" tIns="0" rIns="0" bIns="0" rtlCol="0" anchor="ctr"/>
          <a:lstStyle/>
          <a:p>
            <a:pPr indent="0" marL="0">
              <a:buNone/>
            </a:pPr>
            <a:r>
              <a:rPr lang="en-US" sz="850" dirty="0">
                <a:solidFill>
                  <a:srgbClr val="202020"/>
                </a:solidFill>
                <a:latin typeface="Calibri" pitchFamily="34" charset="0"/>
                <a:ea typeface="Calibri" pitchFamily="34" charset="-122"/>
                <a:cs typeface="Calibri" pitchFamily="34" charset="-120"/>
              </a:rPr>
              <a:t>the network was fitted once, offline</a:t>
            </a:r>
            <a:endParaRPr lang="en-US" sz="850" dirty="0"/>
          </a:p>
        </p:txBody>
      </p:sp>
      <p:sp>
        <p:nvSpPr>
          <p:cNvPr id="63" name="Text 61"/>
          <p:cNvSpPr txBox="1"/>
          <p:nvPr/>
        </p:nvSpPr>
        <p:spPr>
          <a:xfrm>
            <a:off x="6144768" y="5116068"/>
            <a:ext cx="2651760" cy="214884"/>
          </a:xfrm>
          <a:prstGeom prst="rect">
            <a:avLst/>
          </a:prstGeom>
          <a:noFill/>
          <a:ln/>
        </p:spPr>
        <p:txBody>
          <a:bodyPr wrap="square" lIns="0" tIns="0" rIns="0" bIns="0" rtlCol="0" anchor="ctr"/>
          <a:lstStyle/>
          <a:p>
            <a:pPr indent="0" marL="0">
              <a:buNone/>
            </a:pPr>
            <a:r>
              <a:rPr lang="en-US" sz="850" dirty="0">
                <a:solidFill>
                  <a:srgbClr val="202020"/>
                </a:solidFill>
                <a:latin typeface="Calibri" pitchFamily="34" charset="0"/>
                <a:ea typeface="Calibri" pitchFamily="34" charset="-122"/>
                <a:cs typeface="Calibri" pitchFamily="34" charset="-120"/>
              </a:rPr>
              <a:t>per voxel: scale, two rounds, read out</a:t>
            </a:r>
            <a:endParaRPr lang="en-US" sz="850" dirty="0"/>
          </a:p>
        </p:txBody>
      </p:sp>
      <p:sp>
        <p:nvSpPr>
          <p:cNvPr id="64" name="Text 62"/>
          <p:cNvSpPr txBox="1"/>
          <p:nvPr/>
        </p:nvSpPr>
        <p:spPr>
          <a:xfrm>
            <a:off x="6144768" y="5330952"/>
            <a:ext cx="2651760" cy="214884"/>
          </a:xfrm>
          <a:prstGeom prst="rect">
            <a:avLst/>
          </a:prstGeom>
          <a:noFill/>
          <a:ln/>
        </p:spPr>
        <p:txBody>
          <a:bodyPr wrap="square" lIns="0" tIns="0" rIns="0" bIns="0" rtlCol="0" anchor="ctr"/>
          <a:lstStyle/>
          <a:p>
            <a:pPr indent="0" marL="0">
              <a:buNone/>
            </a:pPr>
            <a:r>
              <a:rPr lang="en-US" sz="850" dirty="0">
                <a:solidFill>
                  <a:srgbClr val="202020"/>
                </a:solidFill>
                <a:latin typeface="Calibri" pitchFamily="34" charset="0"/>
                <a:ea typeface="Calibri" pitchFamily="34" charset="-122"/>
                <a:cs typeface="Calibri" pitchFamily="34" charset="-120"/>
              </a:rPr>
              <a:t>returns a rate for EVERY species, not just growth</a:t>
            </a:r>
            <a:endParaRPr lang="en-US" sz="850" dirty="0"/>
          </a:p>
        </p:txBody>
      </p:sp>
      <p:sp>
        <p:nvSpPr>
          <p:cNvPr id="65" name="Text 63"/>
          <p:cNvSpPr txBox="1"/>
          <p:nvPr/>
        </p:nvSpPr>
        <p:spPr>
          <a:xfrm>
            <a:off x="6144768" y="5545836"/>
            <a:ext cx="2651760" cy="214884"/>
          </a:xfrm>
          <a:prstGeom prst="rect">
            <a:avLst/>
          </a:prstGeom>
          <a:noFill/>
          <a:ln/>
        </p:spPr>
        <p:txBody>
          <a:bodyPr wrap="square" lIns="0" tIns="0" rIns="0" bIns="0" rtlCol="0" anchor="ctr"/>
          <a:lstStyle/>
          <a:p>
            <a:pPr indent="0" marL="0">
              <a:buNone/>
            </a:pPr>
            <a:r>
              <a:rPr lang="en-US" sz="850" dirty="0">
                <a:solidFill>
                  <a:srgbClr val="202020"/>
                </a:solidFill>
                <a:latin typeface="Calibri" pitchFamily="34" charset="0"/>
                <a:ea typeface="Calibri" pitchFamily="34" charset="-122"/>
                <a:cs typeface="Calibri" pitchFamily="34" charset="-120"/>
              </a:rPr>
              <a:t>the stoichiometry is structure, not something learned</a:t>
            </a:r>
            <a:endParaRPr lang="en-US" sz="850" dirty="0"/>
          </a:p>
        </p:txBody>
      </p:sp>
      <p:sp>
        <p:nvSpPr>
          <p:cNvPr id="66" name="Shape 64"/>
          <p:cNvSpPr/>
          <p:nvPr/>
        </p:nvSpPr>
        <p:spPr>
          <a:xfrm>
            <a:off x="4434840" y="2688336"/>
            <a:ext cx="1508760" cy="-18288"/>
          </a:xfrm>
          <a:prstGeom prst="line">
            <a:avLst/>
          </a:prstGeom>
          <a:noFill/>
          <a:ln w="12700">
            <a:solidFill>
              <a:srgbClr val="B04A4A"/>
            </a:solidFill>
            <a:prstDash val="dash"/>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365760" y="128016"/>
            <a:ext cx="8412480" cy="365760"/>
          </a:xfrm>
          <a:prstGeom prst="rect">
            <a:avLst/>
          </a:prstGeom>
          <a:noFill/>
          <a:ln/>
        </p:spPr>
        <p:txBody>
          <a:bodyPr wrap="square" lIns="0" tIns="0" rIns="0" bIns="0" rtlCol="0" anchor="t"/>
          <a:lstStyle/>
          <a:p>
            <a:pPr algn="l" indent="0" marL="0">
              <a:buNone/>
            </a:pPr>
            <a:r>
              <a:rPr lang="en-US" sz="1700" b="1" dirty="0">
                <a:solidFill>
                  <a:srgbClr val="202020"/>
                </a:solidFill>
                <a:latin typeface="Calibri" pitchFamily="34" charset="0"/>
                <a:ea typeface="Calibri" pitchFamily="34" charset="-122"/>
                <a:cs typeface="Calibri" pitchFamily="34" charset="-120"/>
              </a:rPr>
              <a:t>The reaction network, drawn as a graph</a:t>
            </a:r>
            <a:endParaRPr lang="en-US" sz="1700" dirty="0"/>
          </a:p>
        </p:txBody>
      </p:sp>
      <p:sp>
        <p:nvSpPr>
          <p:cNvPr id="3" name="Text 1"/>
          <p:cNvSpPr txBox="1"/>
          <p:nvPr/>
        </p:nvSpPr>
        <p:spPr>
          <a:xfrm>
            <a:off x="365760" y="512064"/>
            <a:ext cx="8412480" cy="420624"/>
          </a:xfrm>
          <a:prstGeom prst="rect">
            <a:avLst/>
          </a:prstGeom>
          <a:noFill/>
          <a:ln/>
        </p:spPr>
        <p:txBody>
          <a:bodyPr wrap="square" lIns="0" tIns="0" rIns="0" bIns="0" rtlCol="0" anchor="t"/>
          <a:lstStyle/>
          <a:p>
            <a:pPr algn="l" indent="0" marL="0">
              <a:buNone/>
            </a:pPr>
            <a:r>
              <a:rPr lang="en-US" sz="950" i="1" dirty="0">
                <a:solidFill>
                  <a:srgbClr val="606060"/>
                </a:solidFill>
                <a:latin typeface="Calibri" pitchFamily="34" charset="0"/>
                <a:ea typeface="Calibri" pitchFamily="34" charset="-122"/>
                <a:cs typeface="Calibri" pitchFamily="34" charset="-120"/>
              </a:rPr>
              <a:t>Two reactions and five species. Every edge is one non-zero entry of the stoichiometric matrix, and carries that number as its weight.</a:t>
            </a:r>
            <a:endParaRPr lang="en-US" sz="950" dirty="0"/>
          </a:p>
        </p:txBody>
      </p:sp>
      <p:sp>
        <p:nvSpPr>
          <p:cNvPr id="4" name="Shape 2"/>
          <p:cNvSpPr/>
          <p:nvPr/>
        </p:nvSpPr>
        <p:spPr>
          <a:xfrm>
            <a:off x="411480" y="932688"/>
            <a:ext cx="4069080" cy="530352"/>
          </a:xfrm>
          <a:prstGeom prst="rect">
            <a:avLst/>
          </a:prstGeom>
          <a:solidFill>
            <a:srgbClr val="F7F7F9"/>
          </a:solidFill>
          <a:ln w="12700">
            <a:solidFill>
              <a:srgbClr val="BFBFBF"/>
            </a:solidFill>
            <a:prstDash val="solid"/>
          </a:ln>
        </p:spPr>
      </p:sp>
      <p:sp>
        <p:nvSpPr>
          <p:cNvPr id="5" name="Text 3"/>
          <p:cNvSpPr txBox="1"/>
          <p:nvPr/>
        </p:nvSpPr>
        <p:spPr>
          <a:xfrm>
            <a:off x="594360" y="1078992"/>
            <a:ext cx="3749040" cy="274320"/>
          </a:xfrm>
          <a:prstGeom prst="rect">
            <a:avLst/>
          </a:prstGeom>
          <a:noFill/>
          <a:ln/>
        </p:spPr>
        <p:txBody>
          <a:bodyPr wrap="square" lIns="0" tIns="0" rIns="0" bIns="0" rtlCol="0" anchor="t"/>
          <a:lstStyle/>
          <a:p>
            <a:pPr algn="l" indent="0" marL="0">
              <a:buNone/>
            </a:pPr>
            <a:r>
              <a:rPr lang="en-US" sz="1100" dirty="0">
                <a:solidFill>
                  <a:srgbClr val="202020"/>
                </a:solidFill>
                <a:latin typeface="Consolas" pitchFamily="34" charset="0"/>
                <a:ea typeface="Consolas" pitchFamily="34" charset="-122"/>
                <a:cs typeface="Consolas" pitchFamily="34" charset="-120"/>
              </a:rPr>
              <a:t>R1     CH4 + SO4   →   HS + HCO3</a:t>
            </a:r>
            <a:endParaRPr lang="en-US" sz="1100" dirty="0"/>
          </a:p>
        </p:txBody>
      </p:sp>
      <p:sp>
        <p:nvSpPr>
          <p:cNvPr id="6" name="Shape 4"/>
          <p:cNvSpPr/>
          <p:nvPr/>
        </p:nvSpPr>
        <p:spPr>
          <a:xfrm>
            <a:off x="4663440" y="932688"/>
            <a:ext cx="4069080" cy="530352"/>
          </a:xfrm>
          <a:prstGeom prst="rect">
            <a:avLst/>
          </a:prstGeom>
          <a:solidFill>
            <a:srgbClr val="F7F7F9"/>
          </a:solidFill>
          <a:ln w="12700">
            <a:solidFill>
              <a:srgbClr val="BFBFBF"/>
            </a:solidFill>
            <a:prstDash val="solid"/>
          </a:ln>
        </p:spPr>
      </p:sp>
      <p:sp>
        <p:nvSpPr>
          <p:cNvPr id="7" name="Text 5"/>
          <p:cNvSpPr txBox="1"/>
          <p:nvPr/>
        </p:nvSpPr>
        <p:spPr>
          <a:xfrm>
            <a:off x="4846320" y="1078992"/>
            <a:ext cx="3749040" cy="274320"/>
          </a:xfrm>
          <a:prstGeom prst="rect">
            <a:avLst/>
          </a:prstGeom>
          <a:noFill/>
          <a:ln/>
        </p:spPr>
        <p:txBody>
          <a:bodyPr wrap="square" lIns="0" tIns="0" rIns="0" bIns="0" rtlCol="0" anchor="t"/>
          <a:lstStyle/>
          <a:p>
            <a:pPr algn="l" indent="0" marL="0">
              <a:buNone/>
            </a:pPr>
            <a:r>
              <a:rPr lang="en-US" sz="1100" dirty="0">
                <a:solidFill>
                  <a:srgbClr val="202020"/>
                </a:solidFill>
                <a:latin typeface="Consolas" pitchFamily="34" charset="0"/>
                <a:ea typeface="Consolas" pitchFamily="34" charset="-122"/>
                <a:cs typeface="Consolas" pitchFamily="34" charset="-120"/>
              </a:rPr>
              <a:t>R2     HCO3 + Ca   →   CaCO3</a:t>
            </a:r>
            <a:endParaRPr lang="en-US" sz="1100" dirty="0"/>
          </a:p>
        </p:txBody>
      </p:sp>
      <p:sp>
        <p:nvSpPr>
          <p:cNvPr id="8" name="Text 6"/>
          <p:cNvSpPr txBox="1"/>
          <p:nvPr/>
        </p:nvSpPr>
        <p:spPr>
          <a:xfrm>
            <a:off x="960120" y="1755648"/>
            <a:ext cx="1463040" cy="237744"/>
          </a:xfrm>
          <a:prstGeom prst="rect">
            <a:avLst/>
          </a:prstGeom>
          <a:noFill/>
          <a:ln/>
        </p:spPr>
        <p:txBody>
          <a:bodyPr wrap="square" lIns="0" tIns="0" rIns="0" bIns="0" rtlCol="0" anchor="t"/>
          <a:lstStyle/>
          <a:p>
            <a:pPr algn="ctr" indent="0" marL="0">
              <a:buNone/>
            </a:pPr>
            <a:r>
              <a:rPr lang="en-US" sz="950" b="1" dirty="0">
                <a:solidFill>
                  <a:srgbClr val="606060"/>
                </a:solidFill>
                <a:latin typeface="Calibri" pitchFamily="34" charset="0"/>
                <a:ea typeface="Calibri" pitchFamily="34" charset="-122"/>
                <a:cs typeface="Calibri" pitchFamily="34" charset="-120"/>
              </a:rPr>
              <a:t>species nodes</a:t>
            </a:r>
            <a:endParaRPr lang="en-US" sz="950" dirty="0"/>
          </a:p>
        </p:txBody>
      </p:sp>
      <p:sp>
        <p:nvSpPr>
          <p:cNvPr id="9" name="Text 7"/>
          <p:cNvSpPr txBox="1"/>
          <p:nvPr/>
        </p:nvSpPr>
        <p:spPr>
          <a:xfrm>
            <a:off x="3931920" y="1755648"/>
            <a:ext cx="1417320" cy="237744"/>
          </a:xfrm>
          <a:prstGeom prst="rect">
            <a:avLst/>
          </a:prstGeom>
          <a:noFill/>
          <a:ln/>
        </p:spPr>
        <p:txBody>
          <a:bodyPr wrap="square" lIns="0" tIns="0" rIns="0" bIns="0" rtlCol="0" anchor="t"/>
          <a:lstStyle/>
          <a:p>
            <a:pPr algn="ctr" indent="0" marL="0">
              <a:buNone/>
            </a:pPr>
            <a:r>
              <a:rPr lang="en-US" sz="950" b="1" dirty="0">
                <a:solidFill>
                  <a:srgbClr val="606060"/>
                </a:solidFill>
                <a:latin typeface="Calibri" pitchFamily="34" charset="0"/>
                <a:ea typeface="Calibri" pitchFamily="34" charset="-122"/>
                <a:cs typeface="Calibri" pitchFamily="34" charset="-120"/>
              </a:rPr>
              <a:t>reaction nodes</a:t>
            </a:r>
            <a:endParaRPr lang="en-US" sz="950" dirty="0"/>
          </a:p>
        </p:txBody>
      </p:sp>
      <p:sp>
        <p:nvSpPr>
          <p:cNvPr id="10" name="Shape 8"/>
          <p:cNvSpPr/>
          <p:nvPr/>
        </p:nvSpPr>
        <p:spPr>
          <a:xfrm>
            <a:off x="2240280" y="2276856"/>
            <a:ext cx="1920240" cy="265176"/>
          </a:xfrm>
          <a:prstGeom prst="line">
            <a:avLst/>
          </a:prstGeom>
          <a:noFill/>
          <a:ln w="14605">
            <a:solidFill>
              <a:srgbClr val="595959"/>
            </a:solidFill>
            <a:prstDash val="solid"/>
            <a:headEnd type="triangle"/>
            <a:tailEnd type="triangle"/>
          </a:ln>
        </p:spPr>
      </p:sp>
      <p:sp>
        <p:nvSpPr>
          <p:cNvPr id="11" name="Shape 9"/>
          <p:cNvSpPr/>
          <p:nvPr/>
        </p:nvSpPr>
        <p:spPr>
          <a:xfrm>
            <a:off x="2362810" y="2213397"/>
            <a:ext cx="292608" cy="201168"/>
          </a:xfrm>
          <a:prstGeom prst="rect">
            <a:avLst/>
          </a:prstGeom>
          <a:solidFill>
            <a:srgbClr val="FFFFFF"/>
          </a:solidFill>
          <a:ln w="6350">
            <a:solidFill>
              <a:srgbClr val="FFFFFF"/>
            </a:solidFill>
            <a:prstDash val="solid"/>
          </a:ln>
        </p:spPr>
      </p:sp>
      <p:sp>
        <p:nvSpPr>
          <p:cNvPr id="12" name="Text 10"/>
          <p:cNvSpPr txBox="1"/>
          <p:nvPr/>
        </p:nvSpPr>
        <p:spPr>
          <a:xfrm>
            <a:off x="2362810" y="2222541"/>
            <a:ext cx="292608" cy="201168"/>
          </a:xfrm>
          <a:prstGeom prst="rect">
            <a:avLst/>
          </a:prstGeom>
          <a:noFill/>
          <a:ln/>
        </p:spPr>
        <p:txBody>
          <a:bodyPr wrap="square" lIns="0" tIns="0" rIns="0" bIns="0" rtlCol="0" anchor="t"/>
          <a:lstStyle/>
          <a:p>
            <a:pPr algn="ctr" indent="0" marL="0">
              <a:buNone/>
            </a:pPr>
            <a:r>
              <a:rPr lang="en-US" sz="850" b="1" dirty="0">
                <a:solidFill>
                  <a:srgbClr val="9C3A12"/>
                </a:solidFill>
                <a:latin typeface="Calibri" pitchFamily="34" charset="0"/>
                <a:ea typeface="Calibri" pitchFamily="34" charset="-122"/>
                <a:cs typeface="Calibri" pitchFamily="34" charset="-120"/>
              </a:rPr>
              <a:t>−1</a:t>
            </a:r>
            <a:endParaRPr lang="en-US" sz="850" dirty="0"/>
          </a:p>
        </p:txBody>
      </p:sp>
      <p:sp>
        <p:nvSpPr>
          <p:cNvPr id="13" name="Shape 11"/>
          <p:cNvSpPr/>
          <p:nvPr/>
        </p:nvSpPr>
        <p:spPr>
          <a:xfrm flipV="1">
            <a:off x="2240280" y="2542032"/>
            <a:ext cx="1920240" cy="301752"/>
          </a:xfrm>
          <a:prstGeom prst="line">
            <a:avLst/>
          </a:prstGeom>
          <a:noFill/>
          <a:ln w="14605">
            <a:solidFill>
              <a:srgbClr val="595959"/>
            </a:solidFill>
            <a:prstDash val="solid"/>
            <a:headEnd type="triangle"/>
            <a:tailEnd type="triangle"/>
          </a:ln>
        </p:spPr>
      </p:sp>
      <p:sp>
        <p:nvSpPr>
          <p:cNvPr id="14" name="Shape 12"/>
          <p:cNvSpPr/>
          <p:nvPr/>
        </p:nvSpPr>
        <p:spPr>
          <a:xfrm>
            <a:off x="2362810" y="2700955"/>
            <a:ext cx="292608" cy="201168"/>
          </a:xfrm>
          <a:prstGeom prst="rect">
            <a:avLst/>
          </a:prstGeom>
          <a:solidFill>
            <a:srgbClr val="FFFFFF"/>
          </a:solidFill>
          <a:ln w="6350">
            <a:solidFill>
              <a:srgbClr val="FFFFFF"/>
            </a:solidFill>
            <a:prstDash val="solid"/>
          </a:ln>
        </p:spPr>
      </p:sp>
      <p:sp>
        <p:nvSpPr>
          <p:cNvPr id="15" name="Text 13"/>
          <p:cNvSpPr txBox="1"/>
          <p:nvPr/>
        </p:nvSpPr>
        <p:spPr>
          <a:xfrm>
            <a:off x="2362810" y="2710099"/>
            <a:ext cx="292608" cy="201168"/>
          </a:xfrm>
          <a:prstGeom prst="rect">
            <a:avLst/>
          </a:prstGeom>
          <a:noFill/>
          <a:ln/>
        </p:spPr>
        <p:txBody>
          <a:bodyPr wrap="square" lIns="0" tIns="0" rIns="0" bIns="0" rtlCol="0" anchor="t"/>
          <a:lstStyle/>
          <a:p>
            <a:pPr algn="ctr" indent="0" marL="0">
              <a:buNone/>
            </a:pPr>
            <a:r>
              <a:rPr lang="en-US" sz="850" b="1" dirty="0">
                <a:solidFill>
                  <a:srgbClr val="9C3A12"/>
                </a:solidFill>
                <a:latin typeface="Calibri" pitchFamily="34" charset="0"/>
                <a:ea typeface="Calibri" pitchFamily="34" charset="-122"/>
                <a:cs typeface="Calibri" pitchFamily="34" charset="-120"/>
              </a:rPr>
              <a:t>−1</a:t>
            </a:r>
            <a:endParaRPr lang="en-US" sz="850" dirty="0"/>
          </a:p>
        </p:txBody>
      </p:sp>
      <p:sp>
        <p:nvSpPr>
          <p:cNvPr id="16" name="Shape 14"/>
          <p:cNvSpPr/>
          <p:nvPr/>
        </p:nvSpPr>
        <p:spPr>
          <a:xfrm flipV="1">
            <a:off x="2240280" y="2542032"/>
            <a:ext cx="1920240" cy="868680"/>
          </a:xfrm>
          <a:prstGeom prst="line">
            <a:avLst/>
          </a:prstGeom>
          <a:noFill/>
          <a:ln w="14605">
            <a:solidFill>
              <a:srgbClr val="595959"/>
            </a:solidFill>
            <a:prstDash val="solid"/>
            <a:headEnd type="triangle"/>
            <a:tailEnd type="triangle"/>
          </a:ln>
        </p:spPr>
      </p:sp>
      <p:sp>
        <p:nvSpPr>
          <p:cNvPr id="17" name="Shape 15"/>
          <p:cNvSpPr/>
          <p:nvPr/>
        </p:nvSpPr>
        <p:spPr>
          <a:xfrm>
            <a:off x="2362810" y="3188513"/>
            <a:ext cx="292608" cy="201168"/>
          </a:xfrm>
          <a:prstGeom prst="rect">
            <a:avLst/>
          </a:prstGeom>
          <a:solidFill>
            <a:srgbClr val="FFFFFF"/>
          </a:solidFill>
          <a:ln w="6350">
            <a:solidFill>
              <a:srgbClr val="FFFFFF"/>
            </a:solidFill>
            <a:prstDash val="solid"/>
          </a:ln>
        </p:spPr>
      </p:sp>
      <p:sp>
        <p:nvSpPr>
          <p:cNvPr id="18" name="Text 16"/>
          <p:cNvSpPr txBox="1"/>
          <p:nvPr/>
        </p:nvSpPr>
        <p:spPr>
          <a:xfrm>
            <a:off x="2362810" y="3197657"/>
            <a:ext cx="292608" cy="201168"/>
          </a:xfrm>
          <a:prstGeom prst="rect">
            <a:avLst/>
          </a:prstGeom>
          <a:noFill/>
          <a:ln/>
        </p:spPr>
        <p:txBody>
          <a:bodyPr wrap="square" lIns="0" tIns="0" rIns="0" bIns="0" rtlCol="0" anchor="t"/>
          <a:lstStyle/>
          <a:p>
            <a:pPr algn="ctr" indent="0" marL="0">
              <a:buNone/>
            </a:pPr>
            <a:r>
              <a:rPr lang="en-US" sz="850" b="1" dirty="0">
                <a:solidFill>
                  <a:srgbClr val="1F6B3B"/>
                </a:solidFill>
                <a:latin typeface="Calibri" pitchFamily="34" charset="0"/>
                <a:ea typeface="Calibri" pitchFamily="34" charset="-122"/>
                <a:cs typeface="Calibri" pitchFamily="34" charset="-120"/>
              </a:rPr>
              <a:t>+1</a:t>
            </a:r>
            <a:endParaRPr lang="en-US" sz="850" dirty="0"/>
          </a:p>
        </p:txBody>
      </p:sp>
      <p:sp>
        <p:nvSpPr>
          <p:cNvPr id="19" name="Shape 17"/>
          <p:cNvSpPr/>
          <p:nvPr/>
        </p:nvSpPr>
        <p:spPr>
          <a:xfrm flipV="1">
            <a:off x="2240280" y="2542032"/>
            <a:ext cx="1920240" cy="1435608"/>
          </a:xfrm>
          <a:prstGeom prst="line">
            <a:avLst/>
          </a:prstGeom>
          <a:noFill/>
          <a:ln w="14605">
            <a:solidFill>
              <a:srgbClr val="595959"/>
            </a:solidFill>
            <a:prstDash val="solid"/>
            <a:headEnd type="triangle"/>
            <a:tailEnd type="triangle"/>
          </a:ln>
        </p:spPr>
      </p:sp>
      <p:sp>
        <p:nvSpPr>
          <p:cNvPr id="20" name="Shape 18"/>
          <p:cNvSpPr/>
          <p:nvPr/>
        </p:nvSpPr>
        <p:spPr>
          <a:xfrm>
            <a:off x="2362810" y="3676071"/>
            <a:ext cx="292608" cy="201168"/>
          </a:xfrm>
          <a:prstGeom prst="rect">
            <a:avLst/>
          </a:prstGeom>
          <a:solidFill>
            <a:srgbClr val="FFFFFF"/>
          </a:solidFill>
          <a:ln w="6350">
            <a:solidFill>
              <a:srgbClr val="FFFFFF"/>
            </a:solidFill>
            <a:prstDash val="solid"/>
          </a:ln>
        </p:spPr>
      </p:sp>
      <p:sp>
        <p:nvSpPr>
          <p:cNvPr id="21" name="Text 19"/>
          <p:cNvSpPr txBox="1"/>
          <p:nvPr/>
        </p:nvSpPr>
        <p:spPr>
          <a:xfrm>
            <a:off x="2362810" y="3685215"/>
            <a:ext cx="292608" cy="201168"/>
          </a:xfrm>
          <a:prstGeom prst="rect">
            <a:avLst/>
          </a:prstGeom>
          <a:noFill/>
          <a:ln/>
        </p:spPr>
        <p:txBody>
          <a:bodyPr wrap="square" lIns="0" tIns="0" rIns="0" bIns="0" rtlCol="0" anchor="t"/>
          <a:lstStyle/>
          <a:p>
            <a:pPr algn="ctr" indent="0" marL="0">
              <a:buNone/>
            </a:pPr>
            <a:r>
              <a:rPr lang="en-US" sz="850" b="1" dirty="0">
                <a:solidFill>
                  <a:srgbClr val="1F6B3B"/>
                </a:solidFill>
                <a:latin typeface="Calibri" pitchFamily="34" charset="0"/>
                <a:ea typeface="Calibri" pitchFamily="34" charset="-122"/>
                <a:cs typeface="Calibri" pitchFamily="34" charset="-120"/>
              </a:rPr>
              <a:t>+1</a:t>
            </a:r>
            <a:endParaRPr lang="en-US" sz="850" dirty="0"/>
          </a:p>
        </p:txBody>
      </p:sp>
      <p:sp>
        <p:nvSpPr>
          <p:cNvPr id="22" name="Shape 20"/>
          <p:cNvSpPr/>
          <p:nvPr/>
        </p:nvSpPr>
        <p:spPr>
          <a:xfrm flipV="1">
            <a:off x="2240280" y="3950208"/>
            <a:ext cx="1920240" cy="27432"/>
          </a:xfrm>
          <a:prstGeom prst="line">
            <a:avLst/>
          </a:prstGeom>
          <a:noFill/>
          <a:ln w="14605">
            <a:solidFill>
              <a:srgbClr val="595959"/>
            </a:solidFill>
            <a:prstDash val="solid"/>
            <a:headEnd type="triangle"/>
            <a:tailEnd type="triangle"/>
          </a:ln>
        </p:spPr>
      </p:sp>
      <p:sp>
        <p:nvSpPr>
          <p:cNvPr id="23" name="Shape 21"/>
          <p:cNvSpPr/>
          <p:nvPr/>
        </p:nvSpPr>
        <p:spPr>
          <a:xfrm>
            <a:off x="2362810" y="3873216"/>
            <a:ext cx="292608" cy="201168"/>
          </a:xfrm>
          <a:prstGeom prst="rect">
            <a:avLst/>
          </a:prstGeom>
          <a:solidFill>
            <a:srgbClr val="FFFFFF"/>
          </a:solidFill>
          <a:ln w="6350">
            <a:solidFill>
              <a:srgbClr val="FFFFFF"/>
            </a:solidFill>
            <a:prstDash val="solid"/>
          </a:ln>
        </p:spPr>
      </p:sp>
      <p:sp>
        <p:nvSpPr>
          <p:cNvPr id="24" name="Text 22"/>
          <p:cNvSpPr txBox="1"/>
          <p:nvPr/>
        </p:nvSpPr>
        <p:spPr>
          <a:xfrm>
            <a:off x="2362810" y="3882360"/>
            <a:ext cx="292608" cy="201168"/>
          </a:xfrm>
          <a:prstGeom prst="rect">
            <a:avLst/>
          </a:prstGeom>
          <a:noFill/>
          <a:ln/>
        </p:spPr>
        <p:txBody>
          <a:bodyPr wrap="square" lIns="0" tIns="0" rIns="0" bIns="0" rtlCol="0" anchor="t"/>
          <a:lstStyle/>
          <a:p>
            <a:pPr algn="ctr" indent="0" marL="0">
              <a:buNone/>
            </a:pPr>
            <a:r>
              <a:rPr lang="en-US" sz="850" b="1" dirty="0">
                <a:solidFill>
                  <a:srgbClr val="9C3A12"/>
                </a:solidFill>
                <a:latin typeface="Calibri" pitchFamily="34" charset="0"/>
                <a:ea typeface="Calibri" pitchFamily="34" charset="-122"/>
                <a:cs typeface="Calibri" pitchFamily="34" charset="-120"/>
              </a:rPr>
              <a:t>−1</a:t>
            </a:r>
            <a:endParaRPr lang="en-US" sz="850" dirty="0"/>
          </a:p>
        </p:txBody>
      </p:sp>
      <p:sp>
        <p:nvSpPr>
          <p:cNvPr id="25" name="Shape 23"/>
          <p:cNvSpPr/>
          <p:nvPr/>
        </p:nvSpPr>
        <p:spPr>
          <a:xfrm flipV="1">
            <a:off x="2240280" y="3950208"/>
            <a:ext cx="1920240" cy="594360"/>
          </a:xfrm>
          <a:prstGeom prst="line">
            <a:avLst/>
          </a:prstGeom>
          <a:noFill/>
          <a:ln w="14605">
            <a:solidFill>
              <a:srgbClr val="595959"/>
            </a:solidFill>
            <a:prstDash val="solid"/>
            <a:headEnd type="triangle"/>
            <a:tailEnd type="triangle"/>
          </a:ln>
        </p:spPr>
      </p:sp>
      <p:sp>
        <p:nvSpPr>
          <p:cNvPr id="26" name="Shape 24"/>
          <p:cNvSpPr/>
          <p:nvPr/>
        </p:nvSpPr>
        <p:spPr>
          <a:xfrm>
            <a:off x="2362810" y="4360774"/>
            <a:ext cx="292608" cy="201168"/>
          </a:xfrm>
          <a:prstGeom prst="rect">
            <a:avLst/>
          </a:prstGeom>
          <a:solidFill>
            <a:srgbClr val="FFFFFF"/>
          </a:solidFill>
          <a:ln w="6350">
            <a:solidFill>
              <a:srgbClr val="FFFFFF"/>
            </a:solidFill>
            <a:prstDash val="solid"/>
          </a:ln>
        </p:spPr>
      </p:sp>
      <p:sp>
        <p:nvSpPr>
          <p:cNvPr id="27" name="Text 25"/>
          <p:cNvSpPr txBox="1"/>
          <p:nvPr/>
        </p:nvSpPr>
        <p:spPr>
          <a:xfrm>
            <a:off x="2362810" y="4369918"/>
            <a:ext cx="292608" cy="201168"/>
          </a:xfrm>
          <a:prstGeom prst="rect">
            <a:avLst/>
          </a:prstGeom>
          <a:noFill/>
          <a:ln/>
        </p:spPr>
        <p:txBody>
          <a:bodyPr wrap="square" lIns="0" tIns="0" rIns="0" bIns="0" rtlCol="0" anchor="t"/>
          <a:lstStyle/>
          <a:p>
            <a:pPr algn="ctr" indent="0" marL="0">
              <a:buNone/>
            </a:pPr>
            <a:r>
              <a:rPr lang="en-US" sz="850" b="1" dirty="0">
                <a:solidFill>
                  <a:srgbClr val="9C3A12"/>
                </a:solidFill>
                <a:latin typeface="Calibri" pitchFamily="34" charset="0"/>
                <a:ea typeface="Calibri" pitchFamily="34" charset="-122"/>
                <a:cs typeface="Calibri" pitchFamily="34" charset="-120"/>
              </a:rPr>
              <a:t>−1</a:t>
            </a:r>
            <a:endParaRPr lang="en-US" sz="850" dirty="0"/>
          </a:p>
        </p:txBody>
      </p:sp>
      <p:sp>
        <p:nvSpPr>
          <p:cNvPr id="28" name="Text 26"/>
          <p:cNvSpPr txBox="1"/>
          <p:nvPr/>
        </p:nvSpPr>
        <p:spPr>
          <a:xfrm>
            <a:off x="1143000" y="2121408"/>
            <a:ext cx="1097280" cy="310896"/>
          </a:xfrm>
          <a:prstGeom prst="rect">
            <a:avLst/>
          </a:prstGeom>
          <a:solidFill>
            <a:srgbClr val="BDD7EE"/>
          </a:solidFill>
          <a:ln w="12700">
            <a:solidFill>
              <a:srgbClr val="7F7F7F"/>
            </a:solidFill>
            <a:prstDash val="solid"/>
          </a:ln>
        </p:spPr>
        <p:txBody>
          <a:bodyPr wrap="square" lIns="0" tIns="0" rIns="0" bIns="0" rtlCol="0" anchor="ctr"/>
          <a:lstStyle/>
          <a:p>
            <a:pPr algn="ctr" indent="0" marL="0">
              <a:buNone/>
            </a:pPr>
            <a:r>
              <a:rPr lang="en-US" sz="950" dirty="0">
                <a:solidFill>
                  <a:srgbClr val="202020"/>
                </a:solidFill>
                <a:latin typeface="Consolas" pitchFamily="34" charset="0"/>
                <a:ea typeface="Consolas" pitchFamily="34" charset="-122"/>
                <a:cs typeface="Consolas" pitchFamily="34" charset="-120"/>
              </a:rPr>
              <a:t>CH4</a:t>
            </a:r>
            <a:endParaRPr lang="en-US" sz="950" dirty="0"/>
          </a:p>
        </p:txBody>
      </p:sp>
      <p:sp>
        <p:nvSpPr>
          <p:cNvPr id="29" name="Text 27"/>
          <p:cNvSpPr txBox="1"/>
          <p:nvPr/>
        </p:nvSpPr>
        <p:spPr>
          <a:xfrm>
            <a:off x="1143000" y="2688336"/>
            <a:ext cx="1097280" cy="310896"/>
          </a:xfrm>
          <a:prstGeom prst="rect">
            <a:avLst/>
          </a:prstGeom>
          <a:solidFill>
            <a:srgbClr val="BDD7EE"/>
          </a:solidFill>
          <a:ln w="12700">
            <a:solidFill>
              <a:srgbClr val="7F7F7F"/>
            </a:solidFill>
            <a:prstDash val="solid"/>
          </a:ln>
        </p:spPr>
        <p:txBody>
          <a:bodyPr wrap="square" lIns="0" tIns="0" rIns="0" bIns="0" rtlCol="0" anchor="ctr"/>
          <a:lstStyle/>
          <a:p>
            <a:pPr algn="ctr" indent="0" marL="0">
              <a:buNone/>
            </a:pPr>
            <a:r>
              <a:rPr lang="en-US" sz="950" dirty="0">
                <a:solidFill>
                  <a:srgbClr val="202020"/>
                </a:solidFill>
                <a:latin typeface="Consolas" pitchFamily="34" charset="0"/>
                <a:ea typeface="Consolas" pitchFamily="34" charset="-122"/>
                <a:cs typeface="Consolas" pitchFamily="34" charset="-120"/>
              </a:rPr>
              <a:t>SO4</a:t>
            </a:r>
            <a:endParaRPr lang="en-US" sz="950" dirty="0"/>
          </a:p>
        </p:txBody>
      </p:sp>
      <p:sp>
        <p:nvSpPr>
          <p:cNvPr id="30" name="Text 28"/>
          <p:cNvSpPr txBox="1"/>
          <p:nvPr/>
        </p:nvSpPr>
        <p:spPr>
          <a:xfrm>
            <a:off x="1143000" y="3255264"/>
            <a:ext cx="1097280" cy="310896"/>
          </a:xfrm>
          <a:prstGeom prst="rect">
            <a:avLst/>
          </a:prstGeom>
          <a:solidFill>
            <a:srgbClr val="BDD7EE"/>
          </a:solidFill>
          <a:ln w="12700">
            <a:solidFill>
              <a:srgbClr val="7F7F7F"/>
            </a:solidFill>
            <a:prstDash val="solid"/>
          </a:ln>
        </p:spPr>
        <p:txBody>
          <a:bodyPr wrap="square" lIns="0" tIns="0" rIns="0" bIns="0" rtlCol="0" anchor="ctr"/>
          <a:lstStyle/>
          <a:p>
            <a:pPr algn="ctr" indent="0" marL="0">
              <a:buNone/>
            </a:pPr>
            <a:r>
              <a:rPr lang="en-US" sz="950" dirty="0">
                <a:solidFill>
                  <a:srgbClr val="202020"/>
                </a:solidFill>
                <a:latin typeface="Consolas" pitchFamily="34" charset="0"/>
                <a:ea typeface="Consolas" pitchFamily="34" charset="-122"/>
                <a:cs typeface="Consolas" pitchFamily="34" charset="-120"/>
              </a:rPr>
              <a:t>HS</a:t>
            </a:r>
            <a:endParaRPr lang="en-US" sz="950" dirty="0"/>
          </a:p>
        </p:txBody>
      </p:sp>
      <p:sp>
        <p:nvSpPr>
          <p:cNvPr id="31" name="Text 29"/>
          <p:cNvSpPr txBox="1"/>
          <p:nvPr/>
        </p:nvSpPr>
        <p:spPr>
          <a:xfrm>
            <a:off x="1143000" y="3822192"/>
            <a:ext cx="1097280" cy="310896"/>
          </a:xfrm>
          <a:prstGeom prst="rect">
            <a:avLst/>
          </a:prstGeom>
          <a:solidFill>
            <a:srgbClr val="BDD7EE"/>
          </a:solidFill>
          <a:ln w="12700">
            <a:solidFill>
              <a:srgbClr val="7F7F7F"/>
            </a:solidFill>
            <a:prstDash val="solid"/>
          </a:ln>
        </p:spPr>
        <p:txBody>
          <a:bodyPr wrap="square" lIns="0" tIns="0" rIns="0" bIns="0" rtlCol="0" anchor="ctr"/>
          <a:lstStyle/>
          <a:p>
            <a:pPr algn="ctr" indent="0" marL="0">
              <a:buNone/>
            </a:pPr>
            <a:r>
              <a:rPr lang="en-US" sz="950" dirty="0">
                <a:solidFill>
                  <a:srgbClr val="202020"/>
                </a:solidFill>
                <a:latin typeface="Consolas" pitchFamily="34" charset="0"/>
                <a:ea typeface="Consolas" pitchFamily="34" charset="-122"/>
                <a:cs typeface="Consolas" pitchFamily="34" charset="-120"/>
              </a:rPr>
              <a:t>HCO3</a:t>
            </a:r>
            <a:endParaRPr lang="en-US" sz="950" dirty="0"/>
          </a:p>
        </p:txBody>
      </p:sp>
      <p:sp>
        <p:nvSpPr>
          <p:cNvPr id="32" name="Text 30"/>
          <p:cNvSpPr txBox="1"/>
          <p:nvPr/>
        </p:nvSpPr>
        <p:spPr>
          <a:xfrm>
            <a:off x="1143000" y="4389120"/>
            <a:ext cx="1097280" cy="310896"/>
          </a:xfrm>
          <a:prstGeom prst="rect">
            <a:avLst/>
          </a:prstGeom>
          <a:solidFill>
            <a:srgbClr val="BDD7EE"/>
          </a:solidFill>
          <a:ln w="12700">
            <a:solidFill>
              <a:srgbClr val="7F7F7F"/>
            </a:solidFill>
            <a:prstDash val="solid"/>
          </a:ln>
        </p:spPr>
        <p:txBody>
          <a:bodyPr wrap="square" lIns="0" tIns="0" rIns="0" bIns="0" rtlCol="0" anchor="ctr"/>
          <a:lstStyle/>
          <a:p>
            <a:pPr algn="ctr" indent="0" marL="0">
              <a:buNone/>
            </a:pPr>
            <a:r>
              <a:rPr lang="en-US" sz="950" dirty="0">
                <a:solidFill>
                  <a:srgbClr val="202020"/>
                </a:solidFill>
                <a:latin typeface="Consolas" pitchFamily="34" charset="0"/>
                <a:ea typeface="Consolas" pitchFamily="34" charset="-122"/>
                <a:cs typeface="Consolas" pitchFamily="34" charset="-120"/>
              </a:rPr>
              <a:t>Ca</a:t>
            </a:r>
            <a:endParaRPr lang="en-US" sz="950" dirty="0"/>
          </a:p>
        </p:txBody>
      </p:sp>
      <p:sp>
        <p:nvSpPr>
          <p:cNvPr id="33" name="Text 31"/>
          <p:cNvSpPr txBox="1"/>
          <p:nvPr/>
        </p:nvSpPr>
        <p:spPr>
          <a:xfrm>
            <a:off x="4160520" y="2368296"/>
            <a:ext cx="960120" cy="347472"/>
          </a:xfrm>
          <a:prstGeom prst="rect">
            <a:avLst/>
          </a:prstGeom>
          <a:solidFill>
            <a:srgbClr val="F2B2B2"/>
          </a:solidFill>
          <a:ln w="12700">
            <a:solidFill>
              <a:srgbClr val="7F7F7F"/>
            </a:solidFill>
            <a:prstDash val="solid"/>
          </a:ln>
        </p:spPr>
        <p:txBody>
          <a:bodyPr wrap="square" lIns="0" tIns="0" rIns="0" bIns="0" rtlCol="0" anchor="ctr"/>
          <a:lstStyle/>
          <a:p>
            <a:pPr algn="ctr" indent="0" marL="0">
              <a:buNone/>
            </a:pPr>
            <a:r>
              <a:rPr lang="en-US" sz="1000" b="1" dirty="0">
                <a:solidFill>
                  <a:srgbClr val="202020"/>
                </a:solidFill>
                <a:latin typeface="Consolas" pitchFamily="34" charset="0"/>
                <a:ea typeface="Consolas" pitchFamily="34" charset="-122"/>
                <a:cs typeface="Consolas" pitchFamily="34" charset="-120"/>
              </a:rPr>
              <a:t>R1</a:t>
            </a:r>
            <a:endParaRPr lang="en-US" sz="1000" dirty="0"/>
          </a:p>
        </p:txBody>
      </p:sp>
      <p:sp>
        <p:nvSpPr>
          <p:cNvPr id="34" name="Text 32"/>
          <p:cNvSpPr txBox="1"/>
          <p:nvPr/>
        </p:nvSpPr>
        <p:spPr>
          <a:xfrm>
            <a:off x="4160520" y="3776472"/>
            <a:ext cx="960120" cy="347472"/>
          </a:xfrm>
          <a:prstGeom prst="rect">
            <a:avLst/>
          </a:prstGeom>
          <a:solidFill>
            <a:srgbClr val="F2B2B2"/>
          </a:solidFill>
          <a:ln w="12700">
            <a:solidFill>
              <a:srgbClr val="7F7F7F"/>
            </a:solidFill>
            <a:prstDash val="solid"/>
          </a:ln>
        </p:spPr>
        <p:txBody>
          <a:bodyPr wrap="square" lIns="0" tIns="0" rIns="0" bIns="0" rtlCol="0" anchor="ctr"/>
          <a:lstStyle/>
          <a:p>
            <a:pPr algn="ctr" indent="0" marL="0">
              <a:buNone/>
            </a:pPr>
            <a:r>
              <a:rPr lang="en-US" sz="1000" b="1" dirty="0">
                <a:solidFill>
                  <a:srgbClr val="202020"/>
                </a:solidFill>
                <a:latin typeface="Consolas" pitchFamily="34" charset="0"/>
                <a:ea typeface="Consolas" pitchFamily="34" charset="-122"/>
                <a:cs typeface="Consolas" pitchFamily="34" charset="-120"/>
              </a:rPr>
              <a:t>R2</a:t>
            </a:r>
            <a:endParaRPr lang="en-US" sz="1000" dirty="0"/>
          </a:p>
        </p:txBody>
      </p:sp>
      <p:sp>
        <p:nvSpPr>
          <p:cNvPr id="35" name="Text 33"/>
          <p:cNvSpPr txBox="1"/>
          <p:nvPr/>
        </p:nvSpPr>
        <p:spPr>
          <a:xfrm>
            <a:off x="6035040" y="1755648"/>
            <a:ext cx="2697480" cy="237744"/>
          </a:xfrm>
          <a:prstGeom prst="rect">
            <a:avLst/>
          </a:prstGeom>
          <a:noFill/>
          <a:ln/>
        </p:spPr>
        <p:txBody>
          <a:bodyPr wrap="square" lIns="0" tIns="0" rIns="0" bIns="0" rtlCol="0" anchor="t"/>
          <a:lstStyle/>
          <a:p>
            <a:pPr algn="ctr" indent="0" marL="0">
              <a:buNone/>
            </a:pPr>
            <a:r>
              <a:rPr lang="en-US" sz="950" b="1" dirty="0">
                <a:solidFill>
                  <a:srgbClr val="606060"/>
                </a:solidFill>
                <a:latin typeface="Calibri" pitchFamily="34" charset="0"/>
                <a:ea typeface="Calibri" pitchFamily="34" charset="-122"/>
                <a:cs typeface="Calibri" pitchFamily="34" charset="-120"/>
              </a:rPr>
              <a:t>the same graph, written as the matrix S</a:t>
            </a:r>
            <a:endParaRPr lang="en-US" sz="950" dirty="0"/>
          </a:p>
        </p:txBody>
      </p:sp>
      <p:sp>
        <p:nvSpPr>
          <p:cNvPr id="36" name="Shape 34"/>
          <p:cNvSpPr/>
          <p:nvPr/>
        </p:nvSpPr>
        <p:spPr>
          <a:xfrm>
            <a:off x="6355080" y="2066544"/>
            <a:ext cx="2148840" cy="1572768"/>
          </a:xfrm>
          <a:prstGeom prst="rect">
            <a:avLst/>
          </a:prstGeom>
          <a:solidFill>
            <a:srgbClr val="F7F7F9"/>
          </a:solidFill>
          <a:ln w="12700">
            <a:solidFill>
              <a:srgbClr val="BFBFBF"/>
            </a:solidFill>
            <a:prstDash val="solid"/>
          </a:ln>
        </p:spPr>
      </p:sp>
      <p:sp>
        <p:nvSpPr>
          <p:cNvPr id="37" name="Text 35"/>
          <p:cNvSpPr txBox="1"/>
          <p:nvPr/>
        </p:nvSpPr>
        <p:spPr>
          <a:xfrm>
            <a:off x="6473952" y="2157984"/>
            <a:ext cx="1911096" cy="1389888"/>
          </a:xfrm>
          <a:prstGeom prst="rect">
            <a:avLst/>
          </a:prstGeom>
          <a:noFill/>
          <a:ln/>
        </p:spPr>
        <p:txBody>
          <a:bodyPr wrap="square" lIns="0" tIns="0" rIns="0" bIns="0" rtlCol="0" anchor="t"/>
          <a:lstStyle/>
          <a:p>
            <a:pPr algn="l" indent="0" marL="0">
              <a:lnSpc>
                <a:spcPts val="1250"/>
              </a:lnSpc>
              <a:buNone/>
            </a:pPr>
            <a:r>
              <a:rPr lang="en-US" sz="950" dirty="0">
                <a:solidFill>
                  <a:srgbClr val="202020"/>
                </a:solidFill>
                <a:latin typeface="Consolas" pitchFamily="34" charset="0"/>
                <a:ea typeface="Consolas" pitchFamily="34" charset="-122"/>
                <a:cs typeface="Consolas" pitchFamily="34" charset="-120"/>
              </a:rPr>
              <a:t>         R1   R2
 CH4     -1    0
 SO4     -1    0
 HS      +1    0
 HCO3    +1   -1
 Ca       0   -1
</a:t>
            </a:r>
            <a:endParaRPr lang="en-US" sz="950" dirty="0"/>
          </a:p>
        </p:txBody>
      </p:sp>
      <p:sp>
        <p:nvSpPr>
          <p:cNvPr id="38" name="Text 36"/>
          <p:cNvSpPr txBox="1"/>
          <p:nvPr/>
        </p:nvSpPr>
        <p:spPr>
          <a:xfrm>
            <a:off x="6126480" y="3730752"/>
            <a:ext cx="2606040" cy="457200"/>
          </a:xfrm>
          <a:prstGeom prst="rect">
            <a:avLst/>
          </a:prstGeom>
          <a:noFill/>
          <a:ln/>
        </p:spPr>
        <p:txBody>
          <a:bodyPr wrap="square" lIns="0" tIns="0" rIns="0" bIns="0" rtlCol="0" anchor="t"/>
          <a:lstStyle/>
          <a:p>
            <a:pPr algn="ctr" indent="0" marL="0">
              <a:lnSpc>
                <a:spcPts val="1100"/>
              </a:lnSpc>
              <a:buNone/>
            </a:pPr>
            <a:r>
              <a:rPr lang="en-US" sz="900" i="1" dirty="0">
                <a:solidFill>
                  <a:srgbClr val="606060"/>
                </a:solidFill>
                <a:latin typeface="Calibri" pitchFamily="34" charset="0"/>
                <a:ea typeface="Calibri" pitchFamily="34" charset="-122"/>
                <a:cs typeface="Calibri" pitchFamily="34" charset="-120"/>
              </a:rPr>
              <a:t>one row per species, one column per reaction; a zero is an edge that is not there</a:t>
            </a:r>
            <a:endParaRPr lang="en-US" sz="900" dirty="0"/>
          </a:p>
        </p:txBody>
      </p:sp>
      <p:sp>
        <p:nvSpPr>
          <p:cNvPr id="39" name="Shape 37"/>
          <p:cNvSpPr/>
          <p:nvPr/>
        </p:nvSpPr>
        <p:spPr>
          <a:xfrm>
            <a:off x="5577840" y="2788920"/>
            <a:ext cx="658368" cy="0"/>
          </a:xfrm>
          <a:prstGeom prst="line">
            <a:avLst/>
          </a:prstGeom>
          <a:noFill/>
          <a:ln w="16510">
            <a:solidFill>
              <a:srgbClr val="595959"/>
            </a:solidFill>
            <a:prstDash val="solid"/>
            <a:headEnd type="triangle"/>
            <a:tailEnd type="triangle"/>
          </a:ln>
        </p:spPr>
      </p:sp>
      <p:sp>
        <p:nvSpPr>
          <p:cNvPr id="40" name="Text 38"/>
          <p:cNvSpPr txBox="1"/>
          <p:nvPr/>
        </p:nvSpPr>
        <p:spPr>
          <a:xfrm>
            <a:off x="5449824" y="2907792"/>
            <a:ext cx="932688" cy="420624"/>
          </a:xfrm>
          <a:prstGeom prst="rect">
            <a:avLst/>
          </a:prstGeom>
          <a:noFill/>
          <a:ln/>
        </p:spPr>
        <p:txBody>
          <a:bodyPr wrap="square" lIns="0" tIns="0" rIns="0" bIns="0" rtlCol="0" anchor="t"/>
          <a:lstStyle/>
          <a:p>
            <a:pPr algn="ctr" indent="0" marL="0">
              <a:lnSpc>
                <a:spcPts val="1100"/>
              </a:lnSpc>
              <a:buNone/>
            </a:pPr>
            <a:r>
              <a:rPr lang="en-US" sz="900" i="1" dirty="0">
                <a:solidFill>
                  <a:srgbClr val="606060"/>
                </a:solidFill>
                <a:latin typeface="Calibri" pitchFamily="34" charset="0"/>
                <a:ea typeface="Calibri" pitchFamily="34" charset="-122"/>
                <a:cs typeface="Calibri" pitchFamily="34" charset="-120"/>
              </a:rPr>
              <a:t>the same object,</a:t>
            </a:r>
            <a:endParaRPr lang="en-US" sz="900" dirty="0"/>
          </a:p>
          <a:p>
            <a:pPr algn="ctr" indent="0" marL="0">
              <a:lnSpc>
                <a:spcPts val="1100"/>
              </a:lnSpc>
              <a:buNone/>
            </a:pPr>
            <a:r>
              <a:rPr lang="en-US" sz="900" i="1" dirty="0">
                <a:solidFill>
                  <a:srgbClr val="606060"/>
                </a:solidFill>
                <a:latin typeface="Calibri" pitchFamily="34" charset="0"/>
                <a:ea typeface="Calibri" pitchFamily="34" charset="-122"/>
                <a:cs typeface="Calibri" pitchFamily="34" charset="-120"/>
              </a:rPr>
              <a:t>written two ways</a:t>
            </a:r>
            <a:endParaRPr lang="en-US" sz="900" dirty="0"/>
          </a:p>
        </p:txBody>
      </p:sp>
      <p:sp>
        <p:nvSpPr>
          <p:cNvPr id="41" name="Shape 39"/>
          <p:cNvSpPr/>
          <p:nvPr/>
        </p:nvSpPr>
        <p:spPr>
          <a:xfrm>
            <a:off x="411480" y="4864608"/>
            <a:ext cx="8321040" cy="896112"/>
          </a:xfrm>
          <a:prstGeom prst="rect">
            <a:avLst/>
          </a:prstGeom>
          <a:solidFill>
            <a:srgbClr val="F7F7F9"/>
          </a:solidFill>
          <a:ln w="12700">
            <a:solidFill>
              <a:srgbClr val="BFBFBF"/>
            </a:solidFill>
            <a:prstDash val="solid"/>
          </a:ln>
        </p:spPr>
      </p:sp>
      <p:sp>
        <p:nvSpPr>
          <p:cNvPr id="42" name="Text 40"/>
          <p:cNvSpPr txBox="1"/>
          <p:nvPr/>
        </p:nvSpPr>
        <p:spPr>
          <a:xfrm>
            <a:off x="566928" y="4974336"/>
            <a:ext cx="3657600" cy="237744"/>
          </a:xfrm>
          <a:prstGeom prst="rect">
            <a:avLst/>
          </a:prstGeom>
          <a:noFill/>
          <a:ln/>
        </p:spPr>
        <p:txBody>
          <a:bodyPr wrap="square" lIns="0" tIns="0" rIns="0" bIns="0" rtlCol="0" anchor="t"/>
          <a:lstStyle/>
          <a:p>
            <a:pPr algn="l" indent="0" marL="0">
              <a:buNone/>
            </a:pPr>
            <a:r>
              <a:rPr lang="en-US" sz="950" b="1" dirty="0">
                <a:solidFill>
                  <a:srgbClr val="202020"/>
                </a:solidFill>
                <a:latin typeface="Calibri" pitchFamily="34" charset="0"/>
                <a:ea typeface="Calibri" pitchFamily="34" charset="-122"/>
                <a:cs typeface="Calibri" pitchFamily="34" charset="-120"/>
              </a:rPr>
              <a:t>HCO3 is the node to watch</a:t>
            </a:r>
            <a:endParaRPr lang="en-US" sz="950" dirty="0"/>
          </a:p>
        </p:txBody>
      </p:sp>
      <p:sp>
        <p:nvSpPr>
          <p:cNvPr id="43" name="Text 41"/>
          <p:cNvSpPr txBox="1"/>
          <p:nvPr/>
        </p:nvSpPr>
        <p:spPr>
          <a:xfrm>
            <a:off x="566928" y="5230368"/>
            <a:ext cx="8046720" cy="457200"/>
          </a:xfrm>
          <a:prstGeom prst="rect">
            <a:avLst/>
          </a:prstGeom>
          <a:noFill/>
          <a:ln/>
        </p:spPr>
        <p:txBody>
          <a:bodyPr wrap="square" lIns="0" tIns="0" rIns="0" bIns="0" rtlCol="0" anchor="t"/>
          <a:lstStyle/>
          <a:p>
            <a:pPr algn="l" indent="0" marL="0">
              <a:lnSpc>
                <a:spcPts val="1400"/>
              </a:lnSpc>
              <a:buNone/>
            </a:pPr>
            <a:r>
              <a:rPr lang="en-US" sz="1000" dirty="0">
                <a:solidFill>
                  <a:srgbClr val="202020"/>
                </a:solidFill>
                <a:latin typeface="Calibri" pitchFamily="34" charset="0"/>
                <a:ea typeface="Calibri" pitchFamily="34" charset="-122"/>
                <a:cs typeface="Calibri" pitchFamily="34" charset="-120"/>
              </a:rPr>
              <a:t>It is the only species with an edge to both reactions, so it is the only route by which R1 can influence R2. Nothing had to teach the network that carbonate couples methane oxidation to calcite precipitation. The edge is there because the matrix says it is.</a:t>
            </a:r>
            <a:endParaRPr lang="en-US" sz="1000" dirty="0"/>
          </a:p>
        </p:txBody>
      </p:sp>
      <p:sp>
        <p:nvSpPr>
          <p:cNvPr id="44" name="Shape 42"/>
          <p:cNvSpPr/>
          <p:nvPr/>
        </p:nvSpPr>
        <p:spPr>
          <a:xfrm>
            <a:off x="502920" y="5989320"/>
            <a:ext cx="237744" cy="237744"/>
          </a:xfrm>
          <a:prstGeom prst="rect">
            <a:avLst/>
          </a:prstGeom>
          <a:solidFill>
            <a:srgbClr val="BDD7EE"/>
          </a:solidFill>
          <a:ln w="9525">
            <a:solidFill>
              <a:srgbClr val="9AA5B1"/>
            </a:solidFill>
            <a:prstDash val="solid"/>
          </a:ln>
        </p:spPr>
      </p:sp>
      <p:sp>
        <p:nvSpPr>
          <p:cNvPr id="45" name="Text 43"/>
          <p:cNvSpPr txBox="1"/>
          <p:nvPr/>
        </p:nvSpPr>
        <p:spPr>
          <a:xfrm>
            <a:off x="813816" y="6007608"/>
            <a:ext cx="1106424" cy="237744"/>
          </a:xfrm>
          <a:prstGeom prst="rect">
            <a:avLst/>
          </a:prstGeom>
          <a:noFill/>
          <a:ln/>
        </p:spPr>
        <p:txBody>
          <a:bodyPr wrap="square" lIns="0" tIns="0" rIns="0" bIns="0" rtlCol="0" anchor="t"/>
          <a:lstStyle/>
          <a:p>
            <a:pPr algn="l" indent="0" marL="0">
              <a:buNone/>
            </a:pPr>
            <a:r>
              <a:rPr lang="en-US" sz="900" dirty="0">
                <a:solidFill>
                  <a:srgbClr val="606060"/>
                </a:solidFill>
                <a:latin typeface="Calibri" pitchFamily="34" charset="0"/>
                <a:ea typeface="Calibri" pitchFamily="34" charset="-122"/>
                <a:cs typeface="Calibri" pitchFamily="34" charset="-120"/>
              </a:rPr>
              <a:t>species node</a:t>
            </a:r>
            <a:endParaRPr lang="en-US" sz="900" dirty="0"/>
          </a:p>
        </p:txBody>
      </p:sp>
      <p:sp>
        <p:nvSpPr>
          <p:cNvPr id="46" name="Shape 44"/>
          <p:cNvSpPr/>
          <p:nvPr/>
        </p:nvSpPr>
        <p:spPr>
          <a:xfrm>
            <a:off x="2084832" y="5989320"/>
            <a:ext cx="237744" cy="237744"/>
          </a:xfrm>
          <a:prstGeom prst="rect">
            <a:avLst/>
          </a:prstGeom>
          <a:solidFill>
            <a:srgbClr val="F2B2B2"/>
          </a:solidFill>
          <a:ln w="9525">
            <a:solidFill>
              <a:srgbClr val="9AA5B1"/>
            </a:solidFill>
            <a:prstDash val="solid"/>
          </a:ln>
        </p:spPr>
      </p:sp>
      <p:sp>
        <p:nvSpPr>
          <p:cNvPr id="47" name="Text 45"/>
          <p:cNvSpPr txBox="1"/>
          <p:nvPr/>
        </p:nvSpPr>
        <p:spPr>
          <a:xfrm>
            <a:off x="2395728" y="6007608"/>
            <a:ext cx="1106424" cy="237744"/>
          </a:xfrm>
          <a:prstGeom prst="rect">
            <a:avLst/>
          </a:prstGeom>
          <a:noFill/>
          <a:ln/>
        </p:spPr>
        <p:txBody>
          <a:bodyPr wrap="square" lIns="0" tIns="0" rIns="0" bIns="0" rtlCol="0" anchor="t"/>
          <a:lstStyle/>
          <a:p>
            <a:pPr algn="l" indent="0" marL="0">
              <a:buNone/>
            </a:pPr>
            <a:r>
              <a:rPr lang="en-US" sz="900" dirty="0">
                <a:solidFill>
                  <a:srgbClr val="606060"/>
                </a:solidFill>
                <a:latin typeface="Calibri" pitchFamily="34" charset="0"/>
                <a:ea typeface="Calibri" pitchFamily="34" charset="-122"/>
                <a:cs typeface="Calibri" pitchFamily="34" charset="-120"/>
              </a:rPr>
              <a:t>reaction node</a:t>
            </a:r>
            <a:endParaRPr lang="en-US" sz="900" dirty="0"/>
          </a:p>
        </p:txBody>
      </p:sp>
      <p:sp>
        <p:nvSpPr>
          <p:cNvPr id="48" name="Text 46"/>
          <p:cNvSpPr txBox="1"/>
          <p:nvPr/>
        </p:nvSpPr>
        <p:spPr>
          <a:xfrm>
            <a:off x="3520440" y="6007608"/>
            <a:ext cx="2651760" cy="237744"/>
          </a:xfrm>
          <a:prstGeom prst="rect">
            <a:avLst/>
          </a:prstGeom>
          <a:noFill/>
          <a:ln/>
        </p:spPr>
        <p:txBody>
          <a:bodyPr wrap="square" lIns="0" tIns="0" rIns="0" bIns="0" rtlCol="0" anchor="t"/>
          <a:lstStyle/>
          <a:p>
            <a:pPr algn="l" indent="0" marL="0">
              <a:buNone/>
            </a:pPr>
            <a:r>
              <a:rPr lang="en-US" sz="900" dirty="0">
                <a:solidFill>
                  <a:srgbClr val="9C3A12"/>
                </a:solidFill>
                <a:latin typeface="Calibri" pitchFamily="34" charset="0"/>
                <a:ea typeface="Calibri" pitchFamily="34" charset="-122"/>
                <a:cs typeface="Calibri" pitchFamily="34" charset="-120"/>
              </a:rPr>
              <a:t>− 1     the reaction consumes one mole</a:t>
            </a:r>
            <a:endParaRPr lang="en-US" sz="900" dirty="0"/>
          </a:p>
        </p:txBody>
      </p:sp>
      <p:sp>
        <p:nvSpPr>
          <p:cNvPr id="49" name="Text 47"/>
          <p:cNvSpPr txBox="1"/>
          <p:nvPr/>
        </p:nvSpPr>
        <p:spPr>
          <a:xfrm>
            <a:off x="6263640" y="6007608"/>
            <a:ext cx="2468880" cy="237744"/>
          </a:xfrm>
          <a:prstGeom prst="rect">
            <a:avLst/>
          </a:prstGeom>
          <a:noFill/>
          <a:ln/>
        </p:spPr>
        <p:txBody>
          <a:bodyPr wrap="square" lIns="0" tIns="0" rIns="0" bIns="0" rtlCol="0" anchor="t"/>
          <a:lstStyle/>
          <a:p>
            <a:pPr algn="l" indent="0" marL="0">
              <a:buNone/>
            </a:pPr>
            <a:r>
              <a:rPr lang="en-US" sz="900" dirty="0">
                <a:solidFill>
                  <a:srgbClr val="1F6B3B"/>
                </a:solidFill>
                <a:latin typeface="Calibri" pitchFamily="34" charset="0"/>
                <a:ea typeface="Calibri" pitchFamily="34" charset="-122"/>
                <a:cs typeface="Calibri" pitchFamily="34" charset="-120"/>
              </a:rPr>
              <a:t>+ 1     the reaction produces one mole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365760" y="128016"/>
            <a:ext cx="8412480" cy="365760"/>
          </a:xfrm>
          <a:prstGeom prst="rect">
            <a:avLst/>
          </a:prstGeom>
          <a:noFill/>
          <a:ln/>
        </p:spPr>
        <p:txBody>
          <a:bodyPr wrap="square" lIns="0" tIns="0" rIns="0" bIns="0" rtlCol="0" anchor="t"/>
          <a:lstStyle/>
          <a:p>
            <a:pPr algn="l" indent="0" marL="0">
              <a:buNone/>
            </a:pPr>
            <a:r>
              <a:rPr lang="en-US" sz="1700" b="1" dirty="0">
                <a:solidFill>
                  <a:srgbClr val="202020"/>
                </a:solidFill>
                <a:latin typeface="Calibri" pitchFamily="34" charset="0"/>
                <a:ea typeface="Calibri" pitchFamily="34" charset="-122"/>
                <a:cs typeface="Calibri" pitchFamily="34" charset="-120"/>
              </a:rPr>
              <a:t>One round of message passing, followed on the graph</a:t>
            </a:r>
            <a:endParaRPr lang="en-US" sz="1700" dirty="0"/>
          </a:p>
        </p:txBody>
      </p:sp>
      <p:sp>
        <p:nvSpPr>
          <p:cNvPr id="3" name="Text 1"/>
          <p:cNvSpPr txBox="1"/>
          <p:nvPr/>
        </p:nvSpPr>
        <p:spPr>
          <a:xfrm>
            <a:off x="365760" y="512064"/>
            <a:ext cx="8412480" cy="420624"/>
          </a:xfrm>
          <a:prstGeom prst="rect">
            <a:avLst/>
          </a:prstGeom>
          <a:noFill/>
          <a:ln/>
        </p:spPr>
        <p:txBody>
          <a:bodyPr wrap="square" lIns="0" tIns="0" rIns="0" bIns="0" rtlCol="0" anchor="t"/>
          <a:lstStyle/>
          <a:p>
            <a:pPr algn="l" indent="0" marL="0">
              <a:buNone/>
            </a:pPr>
            <a:r>
              <a:rPr lang="en-US" sz="950" i="1" dirty="0">
                <a:solidFill>
                  <a:srgbClr val="606060"/>
                </a:solidFill>
                <a:latin typeface="Calibri" pitchFamily="34" charset="0"/>
                <a:ea typeface="Calibri" pitchFamily="34" charset="-122"/>
                <a:cs typeface="Calibri" pitchFamily="34" charset="-120"/>
              </a:rPr>
              <a:t>A round has two halves. Every species speaks into the reactions it takes part in, then every reaction speaks back. Both sums are weighted by the coefficient on the edge.</a:t>
            </a:r>
            <a:endParaRPr lang="en-US" sz="950" dirty="0"/>
          </a:p>
        </p:txBody>
      </p:sp>
      <p:sp>
        <p:nvSpPr>
          <p:cNvPr id="4" name="Shape 2"/>
          <p:cNvSpPr/>
          <p:nvPr/>
        </p:nvSpPr>
        <p:spPr>
          <a:xfrm>
            <a:off x="411480" y="1024128"/>
            <a:ext cx="4160520" cy="3063240"/>
          </a:xfrm>
          <a:prstGeom prst="rect">
            <a:avLst/>
          </a:prstGeom>
          <a:solidFill>
            <a:srgbClr val="F7F7F9"/>
          </a:solidFill>
          <a:ln w="12700">
            <a:solidFill>
              <a:srgbClr val="BFBFBF"/>
            </a:solidFill>
            <a:prstDash val="solid"/>
          </a:ln>
        </p:spPr>
      </p:sp>
      <p:sp>
        <p:nvSpPr>
          <p:cNvPr id="5" name="Text 3"/>
          <p:cNvSpPr txBox="1"/>
          <p:nvPr/>
        </p:nvSpPr>
        <p:spPr>
          <a:xfrm>
            <a:off x="539496" y="1097280"/>
            <a:ext cx="3904488" cy="237744"/>
          </a:xfrm>
          <a:prstGeom prst="rect">
            <a:avLst/>
          </a:prstGeom>
          <a:noFill/>
          <a:ln/>
        </p:spPr>
        <p:txBody>
          <a:bodyPr wrap="square" lIns="0" tIns="0" rIns="0" bIns="0" rtlCol="0" anchor="t"/>
          <a:lstStyle/>
          <a:p>
            <a:pPr algn="l" indent="0" marL="0">
              <a:buNone/>
            </a:pPr>
            <a:r>
              <a:rPr lang="en-US" sz="950" b="1" dirty="0">
                <a:solidFill>
                  <a:srgbClr val="2E6DA4"/>
                </a:solidFill>
                <a:latin typeface="Calibri" pitchFamily="34" charset="0"/>
                <a:ea typeface="Calibri" pitchFamily="34" charset="-122"/>
                <a:cs typeface="Calibri" pitchFamily="34" charset="-120"/>
              </a:rPr>
              <a:t>half 1:  species speak into reactions</a:t>
            </a:r>
            <a:endParaRPr lang="en-US" sz="950" dirty="0"/>
          </a:p>
        </p:txBody>
      </p:sp>
      <p:sp>
        <p:nvSpPr>
          <p:cNvPr id="6" name="Shape 4"/>
          <p:cNvSpPr/>
          <p:nvPr/>
        </p:nvSpPr>
        <p:spPr>
          <a:xfrm>
            <a:off x="1965960" y="1536192"/>
            <a:ext cx="1325880" cy="246888"/>
          </a:xfrm>
          <a:prstGeom prst="line">
            <a:avLst/>
          </a:prstGeom>
          <a:noFill/>
          <a:ln w="17780">
            <a:solidFill>
              <a:srgbClr val="2E6DA4"/>
            </a:solidFill>
            <a:prstDash val="solid"/>
            <a:headEnd type="none"/>
            <a:tailEnd type="triangle"/>
          </a:ln>
        </p:spPr>
      </p:sp>
      <p:sp>
        <p:nvSpPr>
          <p:cNvPr id="7" name="Shape 5"/>
          <p:cNvSpPr/>
          <p:nvPr/>
        </p:nvSpPr>
        <p:spPr>
          <a:xfrm flipV="1">
            <a:off x="1965960" y="1783080"/>
            <a:ext cx="1325880" cy="265176"/>
          </a:xfrm>
          <a:prstGeom prst="line">
            <a:avLst/>
          </a:prstGeom>
          <a:noFill/>
          <a:ln w="17780">
            <a:solidFill>
              <a:srgbClr val="2E6DA4"/>
            </a:solidFill>
            <a:prstDash val="solid"/>
            <a:headEnd type="none"/>
            <a:tailEnd type="triangle"/>
          </a:ln>
        </p:spPr>
      </p:sp>
      <p:sp>
        <p:nvSpPr>
          <p:cNvPr id="8" name="Shape 6"/>
          <p:cNvSpPr/>
          <p:nvPr/>
        </p:nvSpPr>
        <p:spPr>
          <a:xfrm flipV="1">
            <a:off x="1965960" y="1783080"/>
            <a:ext cx="1325880" cy="777240"/>
          </a:xfrm>
          <a:prstGeom prst="line">
            <a:avLst/>
          </a:prstGeom>
          <a:noFill/>
          <a:ln w="17780">
            <a:solidFill>
              <a:srgbClr val="2E6DA4"/>
            </a:solidFill>
            <a:prstDash val="solid"/>
            <a:headEnd type="none"/>
            <a:tailEnd type="triangle"/>
          </a:ln>
        </p:spPr>
      </p:sp>
      <p:sp>
        <p:nvSpPr>
          <p:cNvPr id="9" name="Shape 7"/>
          <p:cNvSpPr/>
          <p:nvPr/>
        </p:nvSpPr>
        <p:spPr>
          <a:xfrm flipV="1">
            <a:off x="1965960" y="1783080"/>
            <a:ext cx="1325880" cy="1289304"/>
          </a:xfrm>
          <a:prstGeom prst="line">
            <a:avLst/>
          </a:prstGeom>
          <a:noFill/>
          <a:ln w="17780">
            <a:solidFill>
              <a:srgbClr val="2E6DA4"/>
            </a:solidFill>
            <a:prstDash val="solid"/>
            <a:headEnd type="none"/>
            <a:tailEnd type="triangle"/>
          </a:ln>
        </p:spPr>
      </p:sp>
      <p:sp>
        <p:nvSpPr>
          <p:cNvPr id="10" name="Shape 8"/>
          <p:cNvSpPr/>
          <p:nvPr/>
        </p:nvSpPr>
        <p:spPr>
          <a:xfrm flipV="1">
            <a:off x="1965960" y="3063240"/>
            <a:ext cx="1325880" cy="9144"/>
          </a:xfrm>
          <a:prstGeom prst="line">
            <a:avLst/>
          </a:prstGeom>
          <a:noFill/>
          <a:ln w="17780">
            <a:solidFill>
              <a:srgbClr val="2E6DA4"/>
            </a:solidFill>
            <a:prstDash val="solid"/>
            <a:headEnd type="none"/>
            <a:tailEnd type="triangle"/>
          </a:ln>
        </p:spPr>
      </p:sp>
      <p:sp>
        <p:nvSpPr>
          <p:cNvPr id="11" name="Shape 9"/>
          <p:cNvSpPr/>
          <p:nvPr/>
        </p:nvSpPr>
        <p:spPr>
          <a:xfrm flipV="1">
            <a:off x="1965960" y="3063240"/>
            <a:ext cx="1325880" cy="521208"/>
          </a:xfrm>
          <a:prstGeom prst="line">
            <a:avLst/>
          </a:prstGeom>
          <a:noFill/>
          <a:ln w="17780">
            <a:solidFill>
              <a:srgbClr val="2E6DA4"/>
            </a:solidFill>
            <a:prstDash val="solid"/>
            <a:headEnd type="none"/>
            <a:tailEnd type="triangle"/>
          </a:ln>
        </p:spPr>
      </p:sp>
      <p:sp>
        <p:nvSpPr>
          <p:cNvPr id="12" name="Text 10"/>
          <p:cNvSpPr txBox="1"/>
          <p:nvPr/>
        </p:nvSpPr>
        <p:spPr>
          <a:xfrm>
            <a:off x="960120" y="1389888"/>
            <a:ext cx="1005840" cy="301752"/>
          </a:xfrm>
          <a:prstGeom prst="rect">
            <a:avLst/>
          </a:prstGeom>
          <a:solidFill>
            <a:srgbClr val="BDD7EE"/>
          </a:solidFill>
          <a:ln w="12700">
            <a:solidFill>
              <a:srgbClr val="7F7F7F"/>
            </a:solidFill>
            <a:prstDash val="solid"/>
          </a:ln>
        </p:spPr>
        <p:txBody>
          <a:bodyPr wrap="square" lIns="0" tIns="0" rIns="0" bIns="0" rtlCol="0" anchor="ctr"/>
          <a:lstStyle/>
          <a:p>
            <a:pPr algn="ctr" indent="0" marL="0">
              <a:buNone/>
            </a:pPr>
            <a:r>
              <a:rPr lang="en-US" sz="900" dirty="0">
                <a:solidFill>
                  <a:srgbClr val="202020"/>
                </a:solidFill>
                <a:latin typeface="Consolas" pitchFamily="34" charset="0"/>
                <a:ea typeface="Consolas" pitchFamily="34" charset="-122"/>
                <a:cs typeface="Consolas" pitchFamily="34" charset="-120"/>
              </a:rPr>
              <a:t>CH4</a:t>
            </a:r>
            <a:endParaRPr lang="en-US" sz="900" dirty="0"/>
          </a:p>
        </p:txBody>
      </p:sp>
      <p:sp>
        <p:nvSpPr>
          <p:cNvPr id="13" name="Text 11"/>
          <p:cNvSpPr txBox="1"/>
          <p:nvPr/>
        </p:nvSpPr>
        <p:spPr>
          <a:xfrm>
            <a:off x="960120" y="1901952"/>
            <a:ext cx="1005840" cy="301752"/>
          </a:xfrm>
          <a:prstGeom prst="rect">
            <a:avLst/>
          </a:prstGeom>
          <a:solidFill>
            <a:srgbClr val="BDD7EE"/>
          </a:solidFill>
          <a:ln w="12700">
            <a:solidFill>
              <a:srgbClr val="7F7F7F"/>
            </a:solidFill>
            <a:prstDash val="solid"/>
          </a:ln>
        </p:spPr>
        <p:txBody>
          <a:bodyPr wrap="square" lIns="0" tIns="0" rIns="0" bIns="0" rtlCol="0" anchor="ctr"/>
          <a:lstStyle/>
          <a:p>
            <a:pPr algn="ctr" indent="0" marL="0">
              <a:buNone/>
            </a:pPr>
            <a:r>
              <a:rPr lang="en-US" sz="900" dirty="0">
                <a:solidFill>
                  <a:srgbClr val="202020"/>
                </a:solidFill>
                <a:latin typeface="Consolas" pitchFamily="34" charset="0"/>
                <a:ea typeface="Consolas" pitchFamily="34" charset="-122"/>
                <a:cs typeface="Consolas" pitchFamily="34" charset="-120"/>
              </a:rPr>
              <a:t>SO4</a:t>
            </a:r>
            <a:endParaRPr lang="en-US" sz="900" dirty="0"/>
          </a:p>
        </p:txBody>
      </p:sp>
      <p:sp>
        <p:nvSpPr>
          <p:cNvPr id="14" name="Text 12"/>
          <p:cNvSpPr txBox="1"/>
          <p:nvPr/>
        </p:nvSpPr>
        <p:spPr>
          <a:xfrm>
            <a:off x="960120" y="2414016"/>
            <a:ext cx="1005840" cy="301752"/>
          </a:xfrm>
          <a:prstGeom prst="rect">
            <a:avLst/>
          </a:prstGeom>
          <a:solidFill>
            <a:srgbClr val="BDD7EE"/>
          </a:solidFill>
          <a:ln w="12700">
            <a:solidFill>
              <a:srgbClr val="7F7F7F"/>
            </a:solidFill>
            <a:prstDash val="solid"/>
          </a:ln>
        </p:spPr>
        <p:txBody>
          <a:bodyPr wrap="square" lIns="0" tIns="0" rIns="0" bIns="0" rtlCol="0" anchor="ctr"/>
          <a:lstStyle/>
          <a:p>
            <a:pPr algn="ctr" indent="0" marL="0">
              <a:buNone/>
            </a:pPr>
            <a:r>
              <a:rPr lang="en-US" sz="900" dirty="0">
                <a:solidFill>
                  <a:srgbClr val="202020"/>
                </a:solidFill>
                <a:latin typeface="Consolas" pitchFamily="34" charset="0"/>
                <a:ea typeface="Consolas" pitchFamily="34" charset="-122"/>
                <a:cs typeface="Consolas" pitchFamily="34" charset="-120"/>
              </a:rPr>
              <a:t>HS</a:t>
            </a:r>
            <a:endParaRPr lang="en-US" sz="900" dirty="0"/>
          </a:p>
        </p:txBody>
      </p:sp>
      <p:sp>
        <p:nvSpPr>
          <p:cNvPr id="15" name="Text 13"/>
          <p:cNvSpPr txBox="1"/>
          <p:nvPr/>
        </p:nvSpPr>
        <p:spPr>
          <a:xfrm>
            <a:off x="960120" y="2926080"/>
            <a:ext cx="1005840" cy="301752"/>
          </a:xfrm>
          <a:prstGeom prst="rect">
            <a:avLst/>
          </a:prstGeom>
          <a:solidFill>
            <a:srgbClr val="BDD7EE"/>
          </a:solidFill>
          <a:ln w="12700">
            <a:solidFill>
              <a:srgbClr val="7F7F7F"/>
            </a:solidFill>
            <a:prstDash val="solid"/>
          </a:ln>
        </p:spPr>
        <p:txBody>
          <a:bodyPr wrap="square" lIns="0" tIns="0" rIns="0" bIns="0" rtlCol="0" anchor="ctr"/>
          <a:lstStyle/>
          <a:p>
            <a:pPr algn="ctr" indent="0" marL="0">
              <a:buNone/>
            </a:pPr>
            <a:r>
              <a:rPr lang="en-US" sz="900" dirty="0">
                <a:solidFill>
                  <a:srgbClr val="202020"/>
                </a:solidFill>
                <a:latin typeface="Consolas" pitchFamily="34" charset="0"/>
                <a:ea typeface="Consolas" pitchFamily="34" charset="-122"/>
                <a:cs typeface="Consolas" pitchFamily="34" charset="-120"/>
              </a:rPr>
              <a:t>HCO3</a:t>
            </a:r>
            <a:endParaRPr lang="en-US" sz="900" dirty="0"/>
          </a:p>
        </p:txBody>
      </p:sp>
      <p:sp>
        <p:nvSpPr>
          <p:cNvPr id="16" name="Text 14"/>
          <p:cNvSpPr txBox="1"/>
          <p:nvPr/>
        </p:nvSpPr>
        <p:spPr>
          <a:xfrm>
            <a:off x="960120" y="3438144"/>
            <a:ext cx="1005840" cy="301752"/>
          </a:xfrm>
          <a:prstGeom prst="rect">
            <a:avLst/>
          </a:prstGeom>
          <a:solidFill>
            <a:srgbClr val="BDD7EE"/>
          </a:solidFill>
          <a:ln w="12700">
            <a:solidFill>
              <a:srgbClr val="7F7F7F"/>
            </a:solidFill>
            <a:prstDash val="solid"/>
          </a:ln>
        </p:spPr>
        <p:txBody>
          <a:bodyPr wrap="square" lIns="0" tIns="0" rIns="0" bIns="0" rtlCol="0" anchor="ctr"/>
          <a:lstStyle/>
          <a:p>
            <a:pPr algn="ctr" indent="0" marL="0">
              <a:buNone/>
            </a:pPr>
            <a:r>
              <a:rPr lang="en-US" sz="900" dirty="0">
                <a:solidFill>
                  <a:srgbClr val="202020"/>
                </a:solidFill>
                <a:latin typeface="Consolas" pitchFamily="34" charset="0"/>
                <a:ea typeface="Consolas" pitchFamily="34" charset="-122"/>
                <a:cs typeface="Consolas" pitchFamily="34" charset="-120"/>
              </a:rPr>
              <a:t>Ca</a:t>
            </a:r>
            <a:endParaRPr lang="en-US" sz="900" dirty="0"/>
          </a:p>
        </p:txBody>
      </p:sp>
      <p:sp>
        <p:nvSpPr>
          <p:cNvPr id="17" name="Text 15"/>
          <p:cNvSpPr txBox="1"/>
          <p:nvPr/>
        </p:nvSpPr>
        <p:spPr>
          <a:xfrm>
            <a:off x="3291840" y="1618488"/>
            <a:ext cx="868680" cy="329184"/>
          </a:xfrm>
          <a:prstGeom prst="rect">
            <a:avLst/>
          </a:prstGeom>
          <a:solidFill>
            <a:srgbClr val="F2B2B2"/>
          </a:solidFill>
          <a:ln w="12700">
            <a:solidFill>
              <a:srgbClr val="7F7F7F"/>
            </a:solidFill>
            <a:prstDash val="solid"/>
          </a:ln>
        </p:spPr>
        <p:txBody>
          <a:bodyPr wrap="square" lIns="0" tIns="0" rIns="0" bIns="0" rtlCol="0" anchor="ctr"/>
          <a:lstStyle/>
          <a:p>
            <a:pPr algn="ctr" indent="0" marL="0">
              <a:buNone/>
            </a:pPr>
            <a:r>
              <a:rPr lang="en-US" sz="950" b="1" dirty="0">
                <a:solidFill>
                  <a:srgbClr val="202020"/>
                </a:solidFill>
                <a:latin typeface="Consolas" pitchFamily="34" charset="0"/>
                <a:ea typeface="Consolas" pitchFamily="34" charset="-122"/>
                <a:cs typeface="Consolas" pitchFamily="34" charset="-120"/>
              </a:rPr>
              <a:t>R1</a:t>
            </a:r>
            <a:endParaRPr lang="en-US" sz="950" dirty="0"/>
          </a:p>
        </p:txBody>
      </p:sp>
      <p:sp>
        <p:nvSpPr>
          <p:cNvPr id="18" name="Text 16"/>
          <p:cNvSpPr txBox="1"/>
          <p:nvPr/>
        </p:nvSpPr>
        <p:spPr>
          <a:xfrm>
            <a:off x="3291840" y="2898648"/>
            <a:ext cx="868680" cy="329184"/>
          </a:xfrm>
          <a:prstGeom prst="rect">
            <a:avLst/>
          </a:prstGeom>
          <a:solidFill>
            <a:srgbClr val="F2B2B2"/>
          </a:solidFill>
          <a:ln w="12700">
            <a:solidFill>
              <a:srgbClr val="7F7F7F"/>
            </a:solidFill>
            <a:prstDash val="solid"/>
          </a:ln>
        </p:spPr>
        <p:txBody>
          <a:bodyPr wrap="square" lIns="0" tIns="0" rIns="0" bIns="0" rtlCol="0" anchor="ctr"/>
          <a:lstStyle/>
          <a:p>
            <a:pPr algn="ctr" indent="0" marL="0">
              <a:buNone/>
            </a:pPr>
            <a:r>
              <a:rPr lang="en-US" sz="950" b="1" dirty="0">
                <a:solidFill>
                  <a:srgbClr val="202020"/>
                </a:solidFill>
                <a:latin typeface="Consolas" pitchFamily="34" charset="0"/>
                <a:ea typeface="Consolas" pitchFamily="34" charset="-122"/>
                <a:cs typeface="Consolas" pitchFamily="34" charset="-120"/>
              </a:rPr>
              <a:t>R2</a:t>
            </a:r>
            <a:endParaRPr lang="en-US" sz="950" dirty="0"/>
          </a:p>
        </p:txBody>
      </p:sp>
      <p:sp>
        <p:nvSpPr>
          <p:cNvPr id="19" name="Text 17"/>
          <p:cNvSpPr txBox="1"/>
          <p:nvPr/>
        </p:nvSpPr>
        <p:spPr>
          <a:xfrm>
            <a:off x="566928" y="4224528"/>
            <a:ext cx="3840480" cy="402336"/>
          </a:xfrm>
          <a:prstGeom prst="rect">
            <a:avLst/>
          </a:prstGeom>
          <a:noFill/>
          <a:ln/>
        </p:spPr>
        <p:txBody>
          <a:bodyPr wrap="square" lIns="0" tIns="0" rIns="0" bIns="0" rtlCol="0" anchor="t"/>
          <a:lstStyle/>
          <a:p>
            <a:pPr algn="l" indent="0" marL="0">
              <a:lnSpc>
                <a:spcPts val="1100"/>
              </a:lnSpc>
              <a:buNone/>
            </a:pPr>
            <a:r>
              <a:rPr lang="en-US" sz="900" i="1" dirty="0">
                <a:solidFill>
                  <a:srgbClr val="606060"/>
                </a:solidFill>
                <a:latin typeface="Calibri" pitchFamily="34" charset="0"/>
                <a:ea typeface="Calibri" pitchFamily="34" charset="-122"/>
                <a:cs typeface="Calibri" pitchFamily="34" charset="-120"/>
              </a:rPr>
              <a:t>each reaction adds up the states of the species on its edges, each multiplied by that edge's coefficient</a:t>
            </a:r>
            <a:endParaRPr lang="en-US" sz="900" dirty="0"/>
          </a:p>
        </p:txBody>
      </p:sp>
      <p:sp>
        <p:nvSpPr>
          <p:cNvPr id="20" name="Shape 18"/>
          <p:cNvSpPr/>
          <p:nvPr/>
        </p:nvSpPr>
        <p:spPr>
          <a:xfrm>
            <a:off x="4663440" y="1024128"/>
            <a:ext cx="4069080" cy="3063240"/>
          </a:xfrm>
          <a:prstGeom prst="rect">
            <a:avLst/>
          </a:prstGeom>
          <a:solidFill>
            <a:srgbClr val="F7F7F9"/>
          </a:solidFill>
          <a:ln w="12700">
            <a:solidFill>
              <a:srgbClr val="BFBFBF"/>
            </a:solidFill>
            <a:prstDash val="solid"/>
          </a:ln>
        </p:spPr>
      </p:sp>
      <p:sp>
        <p:nvSpPr>
          <p:cNvPr id="21" name="Text 19"/>
          <p:cNvSpPr txBox="1"/>
          <p:nvPr/>
        </p:nvSpPr>
        <p:spPr>
          <a:xfrm>
            <a:off x="4791456" y="1097280"/>
            <a:ext cx="3813048" cy="237744"/>
          </a:xfrm>
          <a:prstGeom prst="rect">
            <a:avLst/>
          </a:prstGeom>
          <a:noFill/>
          <a:ln/>
        </p:spPr>
        <p:txBody>
          <a:bodyPr wrap="square" lIns="0" tIns="0" rIns="0" bIns="0" rtlCol="0" anchor="t"/>
          <a:lstStyle/>
          <a:p>
            <a:pPr algn="l" indent="0" marL="0">
              <a:buNone/>
            </a:pPr>
            <a:r>
              <a:rPr lang="en-US" sz="950" b="1" dirty="0">
                <a:solidFill>
                  <a:srgbClr val="B0603A"/>
                </a:solidFill>
                <a:latin typeface="Calibri" pitchFamily="34" charset="0"/>
                <a:ea typeface="Calibri" pitchFamily="34" charset="-122"/>
                <a:cs typeface="Calibri" pitchFamily="34" charset="-120"/>
              </a:rPr>
              <a:t>half 2:  reactions speak back</a:t>
            </a:r>
            <a:endParaRPr lang="en-US" sz="950" dirty="0"/>
          </a:p>
        </p:txBody>
      </p:sp>
      <p:sp>
        <p:nvSpPr>
          <p:cNvPr id="22" name="Shape 20"/>
          <p:cNvSpPr/>
          <p:nvPr/>
        </p:nvSpPr>
        <p:spPr>
          <a:xfrm flipH="1" flipV="1">
            <a:off x="6172200" y="1536192"/>
            <a:ext cx="1325880" cy="246888"/>
          </a:xfrm>
          <a:prstGeom prst="line">
            <a:avLst/>
          </a:prstGeom>
          <a:noFill/>
          <a:ln w="17780">
            <a:solidFill>
              <a:srgbClr val="B0603A"/>
            </a:solidFill>
            <a:prstDash val="solid"/>
            <a:headEnd type="none"/>
            <a:tailEnd type="triangle"/>
          </a:ln>
        </p:spPr>
      </p:sp>
      <p:sp>
        <p:nvSpPr>
          <p:cNvPr id="23" name="Shape 21"/>
          <p:cNvSpPr/>
          <p:nvPr/>
        </p:nvSpPr>
        <p:spPr>
          <a:xfrm flipH="1">
            <a:off x="6172200" y="1783080"/>
            <a:ext cx="1325880" cy="265176"/>
          </a:xfrm>
          <a:prstGeom prst="line">
            <a:avLst/>
          </a:prstGeom>
          <a:noFill/>
          <a:ln w="17780">
            <a:solidFill>
              <a:srgbClr val="B0603A"/>
            </a:solidFill>
            <a:prstDash val="solid"/>
            <a:headEnd type="none"/>
            <a:tailEnd type="triangle"/>
          </a:ln>
        </p:spPr>
      </p:sp>
      <p:sp>
        <p:nvSpPr>
          <p:cNvPr id="24" name="Shape 22"/>
          <p:cNvSpPr/>
          <p:nvPr/>
        </p:nvSpPr>
        <p:spPr>
          <a:xfrm flipH="1">
            <a:off x="6172200" y="1783080"/>
            <a:ext cx="1325880" cy="777240"/>
          </a:xfrm>
          <a:prstGeom prst="line">
            <a:avLst/>
          </a:prstGeom>
          <a:noFill/>
          <a:ln w="17780">
            <a:solidFill>
              <a:srgbClr val="B0603A"/>
            </a:solidFill>
            <a:prstDash val="solid"/>
            <a:headEnd type="none"/>
            <a:tailEnd type="triangle"/>
          </a:ln>
        </p:spPr>
      </p:sp>
      <p:sp>
        <p:nvSpPr>
          <p:cNvPr id="25" name="Shape 23"/>
          <p:cNvSpPr/>
          <p:nvPr/>
        </p:nvSpPr>
        <p:spPr>
          <a:xfrm flipH="1">
            <a:off x="6172200" y="1783080"/>
            <a:ext cx="1325880" cy="1289304"/>
          </a:xfrm>
          <a:prstGeom prst="line">
            <a:avLst/>
          </a:prstGeom>
          <a:noFill/>
          <a:ln w="17780">
            <a:solidFill>
              <a:srgbClr val="B0603A"/>
            </a:solidFill>
            <a:prstDash val="solid"/>
            <a:headEnd type="none"/>
            <a:tailEnd type="triangle"/>
          </a:ln>
        </p:spPr>
      </p:sp>
      <p:sp>
        <p:nvSpPr>
          <p:cNvPr id="26" name="Shape 24"/>
          <p:cNvSpPr/>
          <p:nvPr/>
        </p:nvSpPr>
        <p:spPr>
          <a:xfrm flipH="1">
            <a:off x="6172200" y="3063240"/>
            <a:ext cx="1325880" cy="9144"/>
          </a:xfrm>
          <a:prstGeom prst="line">
            <a:avLst/>
          </a:prstGeom>
          <a:noFill/>
          <a:ln w="17780">
            <a:solidFill>
              <a:srgbClr val="B0603A"/>
            </a:solidFill>
            <a:prstDash val="solid"/>
            <a:headEnd type="none"/>
            <a:tailEnd type="triangle"/>
          </a:ln>
        </p:spPr>
      </p:sp>
      <p:sp>
        <p:nvSpPr>
          <p:cNvPr id="27" name="Shape 25"/>
          <p:cNvSpPr/>
          <p:nvPr/>
        </p:nvSpPr>
        <p:spPr>
          <a:xfrm flipH="1">
            <a:off x="6172200" y="3063240"/>
            <a:ext cx="1325880" cy="521208"/>
          </a:xfrm>
          <a:prstGeom prst="line">
            <a:avLst/>
          </a:prstGeom>
          <a:noFill/>
          <a:ln w="17780">
            <a:solidFill>
              <a:srgbClr val="B0603A"/>
            </a:solidFill>
            <a:prstDash val="solid"/>
            <a:headEnd type="none"/>
            <a:tailEnd type="triangle"/>
          </a:ln>
        </p:spPr>
      </p:sp>
      <p:sp>
        <p:nvSpPr>
          <p:cNvPr id="28" name="Text 26"/>
          <p:cNvSpPr txBox="1"/>
          <p:nvPr/>
        </p:nvSpPr>
        <p:spPr>
          <a:xfrm>
            <a:off x="5166360" y="1389888"/>
            <a:ext cx="1005840" cy="301752"/>
          </a:xfrm>
          <a:prstGeom prst="rect">
            <a:avLst/>
          </a:prstGeom>
          <a:solidFill>
            <a:srgbClr val="BDD7EE"/>
          </a:solidFill>
          <a:ln w="12700">
            <a:solidFill>
              <a:srgbClr val="7F7F7F"/>
            </a:solidFill>
            <a:prstDash val="solid"/>
          </a:ln>
        </p:spPr>
        <p:txBody>
          <a:bodyPr wrap="square" lIns="0" tIns="0" rIns="0" bIns="0" rtlCol="0" anchor="ctr"/>
          <a:lstStyle/>
          <a:p>
            <a:pPr algn="ctr" indent="0" marL="0">
              <a:buNone/>
            </a:pPr>
            <a:r>
              <a:rPr lang="en-US" sz="900" dirty="0">
                <a:solidFill>
                  <a:srgbClr val="202020"/>
                </a:solidFill>
                <a:latin typeface="Consolas" pitchFamily="34" charset="0"/>
                <a:ea typeface="Consolas" pitchFamily="34" charset="-122"/>
                <a:cs typeface="Consolas" pitchFamily="34" charset="-120"/>
              </a:rPr>
              <a:t>CH4</a:t>
            </a:r>
            <a:endParaRPr lang="en-US" sz="900" dirty="0"/>
          </a:p>
        </p:txBody>
      </p:sp>
      <p:sp>
        <p:nvSpPr>
          <p:cNvPr id="29" name="Text 27"/>
          <p:cNvSpPr txBox="1"/>
          <p:nvPr/>
        </p:nvSpPr>
        <p:spPr>
          <a:xfrm>
            <a:off x="5166360" y="1901952"/>
            <a:ext cx="1005840" cy="301752"/>
          </a:xfrm>
          <a:prstGeom prst="rect">
            <a:avLst/>
          </a:prstGeom>
          <a:solidFill>
            <a:srgbClr val="BDD7EE"/>
          </a:solidFill>
          <a:ln w="12700">
            <a:solidFill>
              <a:srgbClr val="7F7F7F"/>
            </a:solidFill>
            <a:prstDash val="solid"/>
          </a:ln>
        </p:spPr>
        <p:txBody>
          <a:bodyPr wrap="square" lIns="0" tIns="0" rIns="0" bIns="0" rtlCol="0" anchor="ctr"/>
          <a:lstStyle/>
          <a:p>
            <a:pPr algn="ctr" indent="0" marL="0">
              <a:buNone/>
            </a:pPr>
            <a:r>
              <a:rPr lang="en-US" sz="900" dirty="0">
                <a:solidFill>
                  <a:srgbClr val="202020"/>
                </a:solidFill>
                <a:latin typeface="Consolas" pitchFamily="34" charset="0"/>
                <a:ea typeface="Consolas" pitchFamily="34" charset="-122"/>
                <a:cs typeface="Consolas" pitchFamily="34" charset="-120"/>
              </a:rPr>
              <a:t>SO4</a:t>
            </a:r>
            <a:endParaRPr lang="en-US" sz="900" dirty="0"/>
          </a:p>
        </p:txBody>
      </p:sp>
      <p:sp>
        <p:nvSpPr>
          <p:cNvPr id="30" name="Text 28"/>
          <p:cNvSpPr txBox="1"/>
          <p:nvPr/>
        </p:nvSpPr>
        <p:spPr>
          <a:xfrm>
            <a:off x="5166360" y="2414016"/>
            <a:ext cx="1005840" cy="301752"/>
          </a:xfrm>
          <a:prstGeom prst="rect">
            <a:avLst/>
          </a:prstGeom>
          <a:solidFill>
            <a:srgbClr val="BDD7EE"/>
          </a:solidFill>
          <a:ln w="12700">
            <a:solidFill>
              <a:srgbClr val="7F7F7F"/>
            </a:solidFill>
            <a:prstDash val="solid"/>
          </a:ln>
        </p:spPr>
        <p:txBody>
          <a:bodyPr wrap="square" lIns="0" tIns="0" rIns="0" bIns="0" rtlCol="0" anchor="ctr"/>
          <a:lstStyle/>
          <a:p>
            <a:pPr algn="ctr" indent="0" marL="0">
              <a:buNone/>
            </a:pPr>
            <a:r>
              <a:rPr lang="en-US" sz="900" dirty="0">
                <a:solidFill>
                  <a:srgbClr val="202020"/>
                </a:solidFill>
                <a:latin typeface="Consolas" pitchFamily="34" charset="0"/>
                <a:ea typeface="Consolas" pitchFamily="34" charset="-122"/>
                <a:cs typeface="Consolas" pitchFamily="34" charset="-120"/>
              </a:rPr>
              <a:t>HS</a:t>
            </a:r>
            <a:endParaRPr lang="en-US" sz="900" dirty="0"/>
          </a:p>
        </p:txBody>
      </p:sp>
      <p:sp>
        <p:nvSpPr>
          <p:cNvPr id="31" name="Text 29"/>
          <p:cNvSpPr txBox="1"/>
          <p:nvPr/>
        </p:nvSpPr>
        <p:spPr>
          <a:xfrm>
            <a:off x="5166360" y="2926080"/>
            <a:ext cx="1005840" cy="301752"/>
          </a:xfrm>
          <a:prstGeom prst="rect">
            <a:avLst/>
          </a:prstGeom>
          <a:solidFill>
            <a:srgbClr val="BDD7EE"/>
          </a:solidFill>
          <a:ln w="12700">
            <a:solidFill>
              <a:srgbClr val="7F7F7F"/>
            </a:solidFill>
            <a:prstDash val="solid"/>
          </a:ln>
        </p:spPr>
        <p:txBody>
          <a:bodyPr wrap="square" lIns="0" tIns="0" rIns="0" bIns="0" rtlCol="0" anchor="ctr"/>
          <a:lstStyle/>
          <a:p>
            <a:pPr algn="ctr" indent="0" marL="0">
              <a:buNone/>
            </a:pPr>
            <a:r>
              <a:rPr lang="en-US" sz="900" dirty="0">
                <a:solidFill>
                  <a:srgbClr val="202020"/>
                </a:solidFill>
                <a:latin typeface="Consolas" pitchFamily="34" charset="0"/>
                <a:ea typeface="Consolas" pitchFamily="34" charset="-122"/>
                <a:cs typeface="Consolas" pitchFamily="34" charset="-120"/>
              </a:rPr>
              <a:t>HCO3</a:t>
            </a:r>
            <a:endParaRPr lang="en-US" sz="900" dirty="0"/>
          </a:p>
        </p:txBody>
      </p:sp>
      <p:sp>
        <p:nvSpPr>
          <p:cNvPr id="32" name="Text 30"/>
          <p:cNvSpPr txBox="1"/>
          <p:nvPr/>
        </p:nvSpPr>
        <p:spPr>
          <a:xfrm>
            <a:off x="5166360" y="3438144"/>
            <a:ext cx="1005840" cy="301752"/>
          </a:xfrm>
          <a:prstGeom prst="rect">
            <a:avLst/>
          </a:prstGeom>
          <a:solidFill>
            <a:srgbClr val="BDD7EE"/>
          </a:solidFill>
          <a:ln w="12700">
            <a:solidFill>
              <a:srgbClr val="7F7F7F"/>
            </a:solidFill>
            <a:prstDash val="solid"/>
          </a:ln>
        </p:spPr>
        <p:txBody>
          <a:bodyPr wrap="square" lIns="0" tIns="0" rIns="0" bIns="0" rtlCol="0" anchor="ctr"/>
          <a:lstStyle/>
          <a:p>
            <a:pPr algn="ctr" indent="0" marL="0">
              <a:buNone/>
            </a:pPr>
            <a:r>
              <a:rPr lang="en-US" sz="900" dirty="0">
                <a:solidFill>
                  <a:srgbClr val="202020"/>
                </a:solidFill>
                <a:latin typeface="Consolas" pitchFamily="34" charset="0"/>
                <a:ea typeface="Consolas" pitchFamily="34" charset="-122"/>
                <a:cs typeface="Consolas" pitchFamily="34" charset="-120"/>
              </a:rPr>
              <a:t>Ca</a:t>
            </a:r>
            <a:endParaRPr lang="en-US" sz="900" dirty="0"/>
          </a:p>
        </p:txBody>
      </p:sp>
      <p:sp>
        <p:nvSpPr>
          <p:cNvPr id="33" name="Text 31"/>
          <p:cNvSpPr txBox="1"/>
          <p:nvPr/>
        </p:nvSpPr>
        <p:spPr>
          <a:xfrm>
            <a:off x="7498080" y="1618488"/>
            <a:ext cx="868680" cy="329184"/>
          </a:xfrm>
          <a:prstGeom prst="rect">
            <a:avLst/>
          </a:prstGeom>
          <a:solidFill>
            <a:srgbClr val="F2B2B2"/>
          </a:solidFill>
          <a:ln w="12700">
            <a:solidFill>
              <a:srgbClr val="7F7F7F"/>
            </a:solidFill>
            <a:prstDash val="solid"/>
          </a:ln>
        </p:spPr>
        <p:txBody>
          <a:bodyPr wrap="square" lIns="0" tIns="0" rIns="0" bIns="0" rtlCol="0" anchor="ctr"/>
          <a:lstStyle/>
          <a:p>
            <a:pPr algn="ctr" indent="0" marL="0">
              <a:buNone/>
            </a:pPr>
            <a:r>
              <a:rPr lang="en-US" sz="950" b="1" dirty="0">
                <a:solidFill>
                  <a:srgbClr val="202020"/>
                </a:solidFill>
                <a:latin typeface="Consolas" pitchFamily="34" charset="0"/>
                <a:ea typeface="Consolas" pitchFamily="34" charset="-122"/>
                <a:cs typeface="Consolas" pitchFamily="34" charset="-120"/>
              </a:rPr>
              <a:t>R1</a:t>
            </a:r>
            <a:endParaRPr lang="en-US" sz="950" dirty="0"/>
          </a:p>
        </p:txBody>
      </p:sp>
      <p:sp>
        <p:nvSpPr>
          <p:cNvPr id="34" name="Text 32"/>
          <p:cNvSpPr txBox="1"/>
          <p:nvPr/>
        </p:nvSpPr>
        <p:spPr>
          <a:xfrm>
            <a:off x="7498080" y="2898648"/>
            <a:ext cx="868680" cy="329184"/>
          </a:xfrm>
          <a:prstGeom prst="rect">
            <a:avLst/>
          </a:prstGeom>
          <a:solidFill>
            <a:srgbClr val="F2B2B2"/>
          </a:solidFill>
          <a:ln w="12700">
            <a:solidFill>
              <a:srgbClr val="7F7F7F"/>
            </a:solidFill>
            <a:prstDash val="solid"/>
          </a:ln>
        </p:spPr>
        <p:txBody>
          <a:bodyPr wrap="square" lIns="0" tIns="0" rIns="0" bIns="0" rtlCol="0" anchor="ctr"/>
          <a:lstStyle/>
          <a:p>
            <a:pPr algn="ctr" indent="0" marL="0">
              <a:buNone/>
            </a:pPr>
            <a:r>
              <a:rPr lang="en-US" sz="950" b="1" dirty="0">
                <a:solidFill>
                  <a:srgbClr val="202020"/>
                </a:solidFill>
                <a:latin typeface="Consolas" pitchFamily="34" charset="0"/>
                <a:ea typeface="Consolas" pitchFamily="34" charset="-122"/>
                <a:cs typeface="Consolas" pitchFamily="34" charset="-120"/>
              </a:rPr>
              <a:t>R2</a:t>
            </a:r>
            <a:endParaRPr lang="en-US" sz="950" dirty="0"/>
          </a:p>
        </p:txBody>
      </p:sp>
      <p:sp>
        <p:nvSpPr>
          <p:cNvPr id="35" name="Text 33"/>
          <p:cNvSpPr txBox="1"/>
          <p:nvPr/>
        </p:nvSpPr>
        <p:spPr>
          <a:xfrm>
            <a:off x="4828032" y="4224528"/>
            <a:ext cx="3749040" cy="402336"/>
          </a:xfrm>
          <a:prstGeom prst="rect">
            <a:avLst/>
          </a:prstGeom>
          <a:noFill/>
          <a:ln/>
        </p:spPr>
        <p:txBody>
          <a:bodyPr wrap="square" lIns="0" tIns="0" rIns="0" bIns="0" rtlCol="0" anchor="t"/>
          <a:lstStyle/>
          <a:p>
            <a:pPr algn="l" indent="0" marL="0">
              <a:lnSpc>
                <a:spcPts val="1100"/>
              </a:lnSpc>
              <a:buNone/>
            </a:pPr>
            <a:r>
              <a:rPr lang="en-US" sz="900" i="1" dirty="0">
                <a:solidFill>
                  <a:srgbClr val="606060"/>
                </a:solidFill>
                <a:latin typeface="Calibri" pitchFamily="34" charset="0"/>
                <a:ea typeface="Calibri" pitchFamily="34" charset="-122"/>
                <a:cs typeface="Calibri" pitchFamily="34" charset="-120"/>
              </a:rPr>
              <a:t>each species adds up what came back from every reaction it belongs to, again weighted by the coefficient, and keeps its own state as well</a:t>
            </a:r>
            <a:endParaRPr lang="en-US" sz="900" dirty="0"/>
          </a:p>
        </p:txBody>
      </p:sp>
      <p:sp>
        <p:nvSpPr>
          <p:cNvPr id="36" name="Shape 34"/>
          <p:cNvSpPr/>
          <p:nvPr/>
        </p:nvSpPr>
        <p:spPr>
          <a:xfrm>
            <a:off x="411480" y="4773168"/>
            <a:ext cx="8321040" cy="1005840"/>
          </a:xfrm>
          <a:prstGeom prst="rect">
            <a:avLst/>
          </a:prstGeom>
          <a:solidFill>
            <a:srgbClr val="F7F7F9"/>
          </a:solidFill>
          <a:ln w="12700">
            <a:solidFill>
              <a:srgbClr val="BFBFBF"/>
            </a:solidFill>
            <a:prstDash val="solid"/>
          </a:ln>
        </p:spPr>
      </p:sp>
      <p:sp>
        <p:nvSpPr>
          <p:cNvPr id="37" name="Shape 35"/>
          <p:cNvSpPr/>
          <p:nvPr/>
        </p:nvSpPr>
        <p:spPr>
          <a:xfrm>
            <a:off x="594360" y="4919472"/>
            <a:ext cx="7955280" cy="347472"/>
          </a:xfrm>
          <a:prstGeom prst="rect">
            <a:avLst/>
          </a:prstGeom>
          <a:solidFill>
            <a:srgbClr val="F7F7F9"/>
          </a:solidFill>
          <a:ln w="12700">
            <a:solidFill>
              <a:srgbClr val="BFBFBF"/>
            </a:solidFill>
            <a:prstDash val="solid"/>
          </a:ln>
        </p:spPr>
      </p:sp>
      <p:sp>
        <p:nvSpPr>
          <p:cNvPr id="38" name="Text 36"/>
          <p:cNvSpPr txBox="1"/>
          <p:nvPr/>
        </p:nvSpPr>
        <p:spPr>
          <a:xfrm>
            <a:off x="713232" y="5010912"/>
            <a:ext cx="7717536" cy="164592"/>
          </a:xfrm>
          <a:prstGeom prst="rect">
            <a:avLst/>
          </a:prstGeom>
          <a:noFill/>
          <a:ln/>
        </p:spPr>
        <p:txBody>
          <a:bodyPr wrap="square" lIns="0" tIns="0" rIns="0" bIns="0" rtlCol="0" anchor="t"/>
          <a:lstStyle/>
          <a:p>
            <a:pPr algn="l" indent="0" marL="0">
              <a:lnSpc>
                <a:spcPts val="1200"/>
              </a:lnSpc>
              <a:buNone/>
            </a:pPr>
            <a:r>
              <a:rPr lang="en-US" sz="1050" dirty="0">
                <a:solidFill>
                  <a:srgbClr val="202020"/>
                </a:solidFill>
                <a:latin typeface="Consolas" pitchFamily="34" charset="0"/>
                <a:ea typeface="Consolas" pitchFamily="34" charset="-122"/>
                <a:cs typeface="Consolas" pitchFamily="34" charset="-120"/>
              </a:rPr>
              <a:t>half 1     hR_r  =  tanh(  Wsr . SUM_i  S[i][r] hS_i   +   Wda da_r   +   bR )</a:t>
            </a:r>
            <a:endParaRPr lang="en-US" sz="1050" dirty="0"/>
          </a:p>
        </p:txBody>
      </p:sp>
      <p:sp>
        <p:nvSpPr>
          <p:cNvPr id="39" name="Shape 37"/>
          <p:cNvSpPr/>
          <p:nvPr/>
        </p:nvSpPr>
        <p:spPr>
          <a:xfrm>
            <a:off x="594360" y="5340096"/>
            <a:ext cx="7955280" cy="347472"/>
          </a:xfrm>
          <a:prstGeom prst="rect">
            <a:avLst/>
          </a:prstGeom>
          <a:solidFill>
            <a:srgbClr val="F7F7F9"/>
          </a:solidFill>
          <a:ln w="12700">
            <a:solidFill>
              <a:srgbClr val="BFBFBF"/>
            </a:solidFill>
            <a:prstDash val="solid"/>
          </a:ln>
        </p:spPr>
      </p:sp>
      <p:sp>
        <p:nvSpPr>
          <p:cNvPr id="40" name="Text 38"/>
          <p:cNvSpPr txBox="1"/>
          <p:nvPr/>
        </p:nvSpPr>
        <p:spPr>
          <a:xfrm>
            <a:off x="713232" y="5431536"/>
            <a:ext cx="7717536" cy="164592"/>
          </a:xfrm>
          <a:prstGeom prst="rect">
            <a:avLst/>
          </a:prstGeom>
          <a:noFill/>
          <a:ln/>
        </p:spPr>
        <p:txBody>
          <a:bodyPr wrap="square" lIns="0" tIns="0" rIns="0" bIns="0" rtlCol="0" anchor="t"/>
          <a:lstStyle/>
          <a:p>
            <a:pPr algn="l" indent="0" marL="0">
              <a:lnSpc>
                <a:spcPts val="1200"/>
              </a:lnSpc>
              <a:buNone/>
            </a:pPr>
            <a:r>
              <a:rPr lang="en-US" sz="1050" dirty="0">
                <a:solidFill>
                  <a:srgbClr val="202020"/>
                </a:solidFill>
                <a:latin typeface="Consolas" pitchFamily="34" charset="0"/>
                <a:ea typeface="Consolas" pitchFamily="34" charset="-122"/>
                <a:cs typeface="Consolas" pitchFamily="34" charset="-120"/>
              </a:rPr>
              <a:t>half 2     hS_i  =  tanh(  Wss . hS_i   +   Wrs . SUM_r  S[i][r] hR_r   +   bS )</a:t>
            </a:r>
            <a:endParaRPr lang="en-US" sz="1050" dirty="0"/>
          </a:p>
        </p:txBody>
      </p:sp>
      <p:sp>
        <p:nvSpPr>
          <p:cNvPr id="41" name="Text 39"/>
          <p:cNvSpPr txBox="1"/>
          <p:nvPr/>
        </p:nvSpPr>
        <p:spPr>
          <a:xfrm>
            <a:off x="457200" y="5961888"/>
            <a:ext cx="1371600" cy="237744"/>
          </a:xfrm>
          <a:prstGeom prst="rect">
            <a:avLst/>
          </a:prstGeom>
          <a:noFill/>
          <a:ln/>
        </p:spPr>
        <p:txBody>
          <a:bodyPr wrap="square" lIns="0" tIns="0" rIns="0" bIns="0" rtlCol="0" anchor="t"/>
          <a:lstStyle/>
          <a:p>
            <a:pPr algn="l" indent="0" marL="0">
              <a:buNone/>
            </a:pPr>
            <a:r>
              <a:rPr lang="en-US" sz="1000" b="1" dirty="0">
                <a:solidFill>
                  <a:srgbClr val="202020"/>
                </a:solidFill>
                <a:latin typeface="Calibri" pitchFamily="34" charset="0"/>
                <a:ea typeface="Calibri" pitchFamily="34" charset="-122"/>
                <a:cs typeface="Calibri" pitchFamily="34" charset="-120"/>
              </a:rPr>
              <a:t>where</a:t>
            </a:r>
            <a:endParaRPr lang="en-US" sz="1000" dirty="0"/>
          </a:p>
        </p:txBody>
      </p:sp>
      <p:sp>
        <p:nvSpPr>
          <p:cNvPr id="42" name="Text 40"/>
          <p:cNvSpPr txBox="1"/>
          <p:nvPr/>
        </p:nvSpPr>
        <p:spPr>
          <a:xfrm>
            <a:off x="621792" y="6236208"/>
            <a:ext cx="1828800" cy="256032"/>
          </a:xfrm>
          <a:prstGeom prst="rect">
            <a:avLst/>
          </a:prstGeom>
          <a:noFill/>
          <a:ln/>
        </p:spPr>
        <p:txBody>
          <a:bodyPr wrap="square" lIns="0" tIns="0" rIns="0" bIns="0" rtlCol="0" anchor="t"/>
          <a:lstStyle/>
          <a:p>
            <a:pPr algn="l" indent="0" marL="0">
              <a:buNone/>
            </a:pPr>
            <a:r>
              <a:rPr lang="en-US" sz="950" dirty="0">
                <a:solidFill>
                  <a:srgbClr val="2E6DA4"/>
                </a:solidFill>
                <a:latin typeface="Consolas" pitchFamily="34" charset="0"/>
                <a:ea typeface="Consolas" pitchFamily="34" charset="-122"/>
                <a:cs typeface="Consolas" pitchFamily="34" charset="-120"/>
              </a:rPr>
              <a:t>hS_i , hR_r</a:t>
            </a:r>
            <a:endParaRPr lang="en-US" sz="950" dirty="0"/>
          </a:p>
        </p:txBody>
      </p:sp>
      <p:sp>
        <p:nvSpPr>
          <p:cNvPr id="43" name="Text 41"/>
          <p:cNvSpPr txBox="1"/>
          <p:nvPr/>
        </p:nvSpPr>
        <p:spPr>
          <a:xfrm>
            <a:off x="2606040" y="6236208"/>
            <a:ext cx="6126480" cy="256032"/>
          </a:xfrm>
          <a:prstGeom prst="rect">
            <a:avLst/>
          </a:prstGeom>
          <a:noFill/>
          <a:ln/>
        </p:spPr>
        <p:txBody>
          <a:bodyPr wrap="square" lIns="0" tIns="0" rIns="0" bIns="0" rtlCol="0" anchor="t"/>
          <a:lstStyle/>
          <a:p>
            <a:pPr algn="l" indent="0" marL="0">
              <a:buNone/>
            </a:pPr>
            <a:r>
              <a:rPr lang="en-US" sz="950" dirty="0">
                <a:solidFill>
                  <a:srgbClr val="202020"/>
                </a:solidFill>
                <a:latin typeface="Calibri" pitchFamily="34" charset="0"/>
                <a:ea typeface="Calibri" pitchFamily="34" charset="-122"/>
                <a:cs typeface="Calibri" pitchFamily="34" charset="-120"/>
              </a:rPr>
              <a:t>the state each node carries: a vector of length width, six here</a:t>
            </a:r>
            <a:endParaRPr lang="en-US" sz="950" dirty="0"/>
          </a:p>
        </p:txBody>
      </p:sp>
      <p:sp>
        <p:nvSpPr>
          <p:cNvPr id="44" name="Text 42"/>
          <p:cNvSpPr txBox="1"/>
          <p:nvPr/>
        </p:nvSpPr>
        <p:spPr>
          <a:xfrm>
            <a:off x="621792" y="6528816"/>
            <a:ext cx="1828800" cy="256032"/>
          </a:xfrm>
          <a:prstGeom prst="rect">
            <a:avLst/>
          </a:prstGeom>
          <a:noFill/>
          <a:ln/>
        </p:spPr>
        <p:txBody>
          <a:bodyPr wrap="square" lIns="0" tIns="0" rIns="0" bIns="0" rtlCol="0" anchor="t"/>
          <a:lstStyle/>
          <a:p>
            <a:pPr algn="l" indent="0" marL="0">
              <a:buNone/>
            </a:pPr>
            <a:r>
              <a:rPr lang="en-US" sz="950" dirty="0">
                <a:solidFill>
                  <a:srgbClr val="2E6DA4"/>
                </a:solidFill>
                <a:latin typeface="Consolas" pitchFamily="34" charset="0"/>
                <a:ea typeface="Consolas" pitchFamily="34" charset="-122"/>
                <a:cs typeface="Consolas" pitchFamily="34" charset="-120"/>
              </a:rPr>
              <a:t>S[i][r]</a:t>
            </a:r>
            <a:endParaRPr lang="en-US" sz="950" dirty="0"/>
          </a:p>
        </p:txBody>
      </p:sp>
      <p:sp>
        <p:nvSpPr>
          <p:cNvPr id="45" name="Text 43"/>
          <p:cNvSpPr txBox="1"/>
          <p:nvPr/>
        </p:nvSpPr>
        <p:spPr>
          <a:xfrm>
            <a:off x="2606040" y="6528816"/>
            <a:ext cx="6126480" cy="256032"/>
          </a:xfrm>
          <a:prstGeom prst="rect">
            <a:avLst/>
          </a:prstGeom>
          <a:noFill/>
          <a:ln/>
        </p:spPr>
        <p:txBody>
          <a:bodyPr wrap="square" lIns="0" tIns="0" rIns="0" bIns="0" rtlCol="0" anchor="t"/>
          <a:lstStyle/>
          <a:p>
            <a:pPr algn="l" indent="0" marL="0">
              <a:buNone/>
            </a:pPr>
            <a:r>
              <a:rPr lang="en-US" sz="950" dirty="0">
                <a:solidFill>
                  <a:srgbClr val="202020"/>
                </a:solidFill>
                <a:latin typeface="Calibri" pitchFamily="34" charset="0"/>
                <a:ea typeface="Calibri" pitchFamily="34" charset="-122"/>
                <a:cs typeface="Calibri" pitchFamily="34" charset="-120"/>
              </a:rPr>
              <a:t>the coefficient on the edge, straight from the matrix</a:t>
            </a:r>
            <a:endParaRPr lang="en-US" sz="950" dirty="0"/>
          </a:p>
        </p:txBody>
      </p:sp>
      <p:sp>
        <p:nvSpPr>
          <p:cNvPr id="46" name="Text 44"/>
          <p:cNvSpPr txBox="1"/>
          <p:nvPr/>
        </p:nvSpPr>
        <p:spPr>
          <a:xfrm>
            <a:off x="621792" y="6821424"/>
            <a:ext cx="1828800" cy="256032"/>
          </a:xfrm>
          <a:prstGeom prst="rect">
            <a:avLst/>
          </a:prstGeom>
          <a:noFill/>
          <a:ln/>
        </p:spPr>
        <p:txBody>
          <a:bodyPr wrap="square" lIns="0" tIns="0" rIns="0" bIns="0" rtlCol="0" anchor="t"/>
          <a:lstStyle/>
          <a:p>
            <a:pPr algn="l" indent="0" marL="0">
              <a:buNone/>
            </a:pPr>
            <a:r>
              <a:rPr lang="en-US" sz="950" dirty="0">
                <a:solidFill>
                  <a:srgbClr val="2E6DA4"/>
                </a:solidFill>
                <a:latin typeface="Consolas" pitchFamily="34" charset="0"/>
                <a:ea typeface="Consolas" pitchFamily="34" charset="-122"/>
                <a:cs typeface="Consolas" pitchFamily="34" charset="-120"/>
              </a:rPr>
              <a:t>Wsr , Wrs , Wss</a:t>
            </a:r>
            <a:endParaRPr lang="en-US" sz="950" dirty="0"/>
          </a:p>
        </p:txBody>
      </p:sp>
      <p:sp>
        <p:nvSpPr>
          <p:cNvPr id="47" name="Text 45"/>
          <p:cNvSpPr txBox="1"/>
          <p:nvPr/>
        </p:nvSpPr>
        <p:spPr>
          <a:xfrm>
            <a:off x="2606040" y="6821424"/>
            <a:ext cx="6126480" cy="256032"/>
          </a:xfrm>
          <a:prstGeom prst="rect">
            <a:avLst/>
          </a:prstGeom>
          <a:noFill/>
          <a:ln/>
        </p:spPr>
        <p:txBody>
          <a:bodyPr wrap="square" lIns="0" tIns="0" rIns="0" bIns="0" rtlCol="0" anchor="t"/>
          <a:lstStyle/>
          <a:p>
            <a:pPr algn="l" indent="0" marL="0">
              <a:buNone/>
            </a:pPr>
            <a:r>
              <a:rPr lang="en-US" sz="950" dirty="0">
                <a:solidFill>
                  <a:srgbClr val="202020"/>
                </a:solidFill>
                <a:latin typeface="Calibri" pitchFamily="34" charset="0"/>
                <a:ea typeface="Calibri" pitchFamily="34" charset="-122"/>
                <a:cs typeface="Calibri" pitchFamily="34" charset="-120"/>
              </a:rPr>
              <a:t>the fitted weights, the same ones on every edge and in every voxel</a:t>
            </a:r>
            <a:endParaRPr lang="en-US" sz="950" dirty="0"/>
          </a:p>
        </p:txBody>
      </p:sp>
      <p:sp>
        <p:nvSpPr>
          <p:cNvPr id="48" name="Text 46"/>
          <p:cNvSpPr txBox="1"/>
          <p:nvPr/>
        </p:nvSpPr>
        <p:spPr>
          <a:xfrm>
            <a:off x="621792" y="7114032"/>
            <a:ext cx="1828800" cy="256032"/>
          </a:xfrm>
          <a:prstGeom prst="rect">
            <a:avLst/>
          </a:prstGeom>
          <a:noFill/>
          <a:ln/>
        </p:spPr>
        <p:txBody>
          <a:bodyPr wrap="square" lIns="0" tIns="0" rIns="0" bIns="0" rtlCol="0" anchor="t"/>
          <a:lstStyle/>
          <a:p>
            <a:pPr algn="l" indent="0" marL="0">
              <a:buNone/>
            </a:pPr>
            <a:r>
              <a:rPr lang="en-US" sz="950" dirty="0">
                <a:solidFill>
                  <a:srgbClr val="2E6DA4"/>
                </a:solidFill>
                <a:latin typeface="Consolas" pitchFamily="34" charset="0"/>
                <a:ea typeface="Consolas" pitchFamily="34" charset="-122"/>
                <a:cs typeface="Consolas" pitchFamily="34" charset="-120"/>
              </a:rPr>
              <a:t>da_r</a:t>
            </a:r>
            <a:endParaRPr lang="en-US" sz="950" dirty="0"/>
          </a:p>
        </p:txBody>
      </p:sp>
      <p:sp>
        <p:nvSpPr>
          <p:cNvPr id="49" name="Text 47"/>
          <p:cNvSpPr txBox="1"/>
          <p:nvPr/>
        </p:nvSpPr>
        <p:spPr>
          <a:xfrm>
            <a:off x="2606040" y="7114032"/>
            <a:ext cx="6126480" cy="256032"/>
          </a:xfrm>
          <a:prstGeom prst="rect">
            <a:avLst/>
          </a:prstGeom>
          <a:noFill/>
          <a:ln/>
        </p:spPr>
        <p:txBody>
          <a:bodyPr wrap="square" lIns="0" tIns="0" rIns="0" bIns="0" rtlCol="0" anchor="t"/>
          <a:lstStyle/>
          <a:p>
            <a:pPr algn="l" indent="0" marL="0">
              <a:buNone/>
            </a:pPr>
            <a:r>
              <a:rPr lang="en-US" sz="950" dirty="0">
                <a:solidFill>
                  <a:srgbClr val="202020"/>
                </a:solidFill>
                <a:latin typeface="Calibri" pitchFamily="34" charset="0"/>
                <a:ea typeface="Calibri" pitchFamily="34" charset="-122"/>
                <a:cs typeface="Calibri" pitchFamily="34" charset="-120"/>
              </a:rPr>
              <a:t>the Damkohler number of reaction r, an input the edge carries</a:t>
            </a:r>
            <a:endParaRPr lang="en-US" sz="950" dirty="0"/>
          </a:p>
        </p:txBody>
      </p:sp>
      <p:sp>
        <p:nvSpPr>
          <p:cNvPr id="50" name="Text 48"/>
          <p:cNvSpPr txBox="1"/>
          <p:nvPr/>
        </p:nvSpPr>
        <p:spPr>
          <a:xfrm>
            <a:off x="621792" y="7406640"/>
            <a:ext cx="1828800" cy="256032"/>
          </a:xfrm>
          <a:prstGeom prst="rect">
            <a:avLst/>
          </a:prstGeom>
          <a:noFill/>
          <a:ln/>
        </p:spPr>
        <p:txBody>
          <a:bodyPr wrap="square" lIns="0" tIns="0" rIns="0" bIns="0" rtlCol="0" anchor="t"/>
          <a:lstStyle/>
          <a:p>
            <a:pPr algn="l" indent="0" marL="0">
              <a:buNone/>
            </a:pPr>
            <a:r>
              <a:rPr lang="en-US" sz="950" dirty="0">
                <a:solidFill>
                  <a:srgbClr val="2E6DA4"/>
                </a:solidFill>
                <a:latin typeface="Consolas" pitchFamily="34" charset="0"/>
                <a:ea typeface="Consolas" pitchFamily="34" charset="-122"/>
                <a:cs typeface="Consolas" pitchFamily="34" charset="-120"/>
              </a:rPr>
              <a:t>rounds</a:t>
            </a:r>
            <a:endParaRPr lang="en-US" sz="950" dirty="0"/>
          </a:p>
        </p:txBody>
      </p:sp>
      <p:sp>
        <p:nvSpPr>
          <p:cNvPr id="51" name="Text 49"/>
          <p:cNvSpPr txBox="1"/>
          <p:nvPr/>
        </p:nvSpPr>
        <p:spPr>
          <a:xfrm>
            <a:off x="2606040" y="7406640"/>
            <a:ext cx="6126480" cy="256032"/>
          </a:xfrm>
          <a:prstGeom prst="rect">
            <a:avLst/>
          </a:prstGeom>
          <a:noFill/>
          <a:ln/>
        </p:spPr>
        <p:txBody>
          <a:bodyPr wrap="square" lIns="0" tIns="0" rIns="0" bIns="0" rtlCol="0" anchor="t"/>
          <a:lstStyle/>
          <a:p>
            <a:pPr algn="l" indent="0" marL="0">
              <a:buNone/>
            </a:pPr>
            <a:r>
              <a:rPr lang="en-US" sz="950" dirty="0">
                <a:solidFill>
                  <a:srgbClr val="202020"/>
                </a:solidFill>
                <a:latin typeface="Calibri" pitchFamily="34" charset="0"/>
                <a:ea typeface="Calibri" pitchFamily="34" charset="-122"/>
                <a:cs typeface="Calibri" pitchFamily="34" charset="-120"/>
              </a:rPr>
              <a:t>how many times the pair above repeats; two in the shipped example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365760" y="128016"/>
            <a:ext cx="8412480" cy="365760"/>
          </a:xfrm>
          <a:prstGeom prst="rect">
            <a:avLst/>
          </a:prstGeom>
          <a:noFill/>
          <a:ln/>
        </p:spPr>
        <p:txBody>
          <a:bodyPr wrap="square" lIns="0" tIns="0" rIns="0" bIns="0" rtlCol="0" anchor="t"/>
          <a:lstStyle/>
          <a:p>
            <a:pPr algn="l" indent="0" marL="0">
              <a:buNone/>
            </a:pPr>
            <a:r>
              <a:rPr lang="en-US" sz="1700" b="1" dirty="0">
                <a:solidFill>
                  <a:srgbClr val="202020"/>
                </a:solidFill>
                <a:latin typeface="Calibri" pitchFamily="34" charset="0"/>
                <a:ea typeface="Calibri" pitchFamily="34" charset="-122"/>
                <a:cs typeface="Calibri" pitchFamily="34" charset="-120"/>
              </a:rPr>
              <a:t>What happens in one voxel, end to end</a:t>
            </a:r>
            <a:endParaRPr lang="en-US" sz="1700" dirty="0"/>
          </a:p>
        </p:txBody>
      </p:sp>
      <p:sp>
        <p:nvSpPr>
          <p:cNvPr id="3" name="Text 1"/>
          <p:cNvSpPr txBox="1"/>
          <p:nvPr/>
        </p:nvSpPr>
        <p:spPr>
          <a:xfrm>
            <a:off x="365760" y="512064"/>
            <a:ext cx="8412480" cy="420624"/>
          </a:xfrm>
          <a:prstGeom prst="rect">
            <a:avLst/>
          </a:prstGeom>
          <a:noFill/>
          <a:ln/>
        </p:spPr>
        <p:txBody>
          <a:bodyPr wrap="square" lIns="0" tIns="0" rIns="0" bIns="0" rtlCol="0" anchor="t"/>
          <a:lstStyle/>
          <a:p>
            <a:pPr algn="l" indent="0" marL="0">
              <a:buNone/>
            </a:pPr>
            <a:r>
              <a:rPr lang="en-US" sz="950" i="1" dirty="0">
                <a:solidFill>
                  <a:srgbClr val="606060"/>
                </a:solidFill>
                <a:latin typeface="Calibri" pitchFamily="34" charset="0"/>
                <a:ea typeface="Calibri" pitchFamily="34" charset="-122"/>
                <a:cs typeface="Calibri" pitchFamily="34" charset="-120"/>
              </a:rPr>
              <a:t>Concentrations in, rates out. Nothing is solved and nothing is fitted here; the weights were fixed before the run started.</a:t>
            </a:r>
            <a:endParaRPr lang="en-US" sz="950" dirty="0"/>
          </a:p>
        </p:txBody>
      </p:sp>
      <p:sp>
        <p:nvSpPr>
          <p:cNvPr id="4" name="Shape 2"/>
          <p:cNvSpPr/>
          <p:nvPr/>
        </p:nvSpPr>
        <p:spPr>
          <a:xfrm>
            <a:off x="521208" y="1152144"/>
            <a:ext cx="310896" cy="310896"/>
          </a:xfrm>
          <a:prstGeom prst="ellipse">
            <a:avLst/>
          </a:prstGeom>
          <a:solidFill>
            <a:srgbClr val="F2B2B2"/>
          </a:solidFill>
          <a:ln w="12700">
            <a:solidFill>
              <a:srgbClr val="7F7F7F"/>
            </a:solidFill>
            <a:prstDash val="solid"/>
          </a:ln>
        </p:spPr>
      </p:sp>
      <p:sp>
        <p:nvSpPr>
          <p:cNvPr id="5" name="Text 3"/>
          <p:cNvSpPr txBox="1"/>
          <p:nvPr/>
        </p:nvSpPr>
        <p:spPr>
          <a:xfrm>
            <a:off x="521208" y="1152144"/>
            <a:ext cx="310896" cy="310896"/>
          </a:xfrm>
          <a:prstGeom prst="rect">
            <a:avLst/>
          </a:prstGeom>
          <a:noFill/>
          <a:ln/>
        </p:spPr>
        <p:txBody>
          <a:bodyPr wrap="square" lIns="0" tIns="0" rIns="0" bIns="0" rtlCol="0" anchor="ctr"/>
          <a:lstStyle/>
          <a:p>
            <a:pPr algn="ctr" indent="0" marL="0">
              <a:buNone/>
            </a:pPr>
            <a:r>
              <a:rPr lang="en-US" sz="950" b="1" dirty="0">
                <a:solidFill>
                  <a:srgbClr val="202020"/>
                </a:solidFill>
                <a:latin typeface="Calibri" pitchFamily="34" charset="0"/>
                <a:ea typeface="Calibri" pitchFamily="34" charset="-122"/>
                <a:cs typeface="Calibri" pitchFamily="34" charset="-120"/>
              </a:rPr>
              <a:t>1</a:t>
            </a:r>
            <a:endParaRPr lang="en-US" sz="950" dirty="0"/>
          </a:p>
        </p:txBody>
      </p:sp>
      <p:sp>
        <p:nvSpPr>
          <p:cNvPr id="6" name="Text 4"/>
          <p:cNvSpPr txBox="1"/>
          <p:nvPr/>
        </p:nvSpPr>
        <p:spPr>
          <a:xfrm>
            <a:off x="1005840" y="1097280"/>
            <a:ext cx="1417320" cy="420624"/>
          </a:xfrm>
          <a:prstGeom prst="rect">
            <a:avLst/>
          </a:prstGeom>
          <a:solidFill>
            <a:srgbClr val="BDD7EE"/>
          </a:solidFill>
          <a:ln w="12700">
            <a:solidFill>
              <a:srgbClr val="7F7F7F"/>
            </a:solidFill>
            <a:prstDash val="solid"/>
          </a:ln>
        </p:spPr>
        <p:txBody>
          <a:bodyPr wrap="square" lIns="0" tIns="0" rIns="0" bIns="0" rtlCol="0" anchor="ctr"/>
          <a:lstStyle/>
          <a:p>
            <a:pPr algn="ctr" indent="0" marL="0">
              <a:buNone/>
            </a:pPr>
            <a:r>
              <a:rPr lang="en-US" sz="1050" b="1" dirty="0">
                <a:solidFill>
                  <a:srgbClr val="202020"/>
                </a:solidFill>
                <a:latin typeface="Calibri" pitchFamily="34" charset="0"/>
                <a:ea typeface="Calibri" pitchFamily="34" charset="-122"/>
                <a:cs typeface="Calibri" pitchFamily="34" charset="-120"/>
              </a:rPr>
              <a:t>clamp</a:t>
            </a:r>
            <a:endParaRPr lang="en-US" sz="1050" dirty="0"/>
          </a:p>
        </p:txBody>
      </p:sp>
      <p:sp>
        <p:nvSpPr>
          <p:cNvPr id="7" name="Text 5"/>
          <p:cNvSpPr txBox="1"/>
          <p:nvPr/>
        </p:nvSpPr>
        <p:spPr>
          <a:xfrm>
            <a:off x="2606040" y="1207008"/>
            <a:ext cx="4160520" cy="329184"/>
          </a:xfrm>
          <a:prstGeom prst="rect">
            <a:avLst/>
          </a:prstGeom>
          <a:noFill/>
          <a:ln/>
        </p:spPr>
        <p:txBody>
          <a:bodyPr wrap="square" lIns="0" tIns="0" rIns="0" bIns="0" rtlCol="0" anchor="t"/>
          <a:lstStyle/>
          <a:p>
            <a:pPr algn="l" indent="0" marL="0">
              <a:lnSpc>
                <a:spcPts val="1200"/>
              </a:lnSpc>
              <a:buNone/>
            </a:pPr>
            <a:r>
              <a:rPr lang="en-US" sz="980" dirty="0">
                <a:solidFill>
                  <a:srgbClr val="202020"/>
                </a:solidFill>
                <a:latin typeface="Calibri" pitchFamily="34" charset="0"/>
                <a:ea typeface="Calibri" pitchFamily="34" charset="-122"/>
                <a:cs typeface="Calibri" pitchFamily="34" charset="-120"/>
              </a:rPr>
              <a:t>each concentration is pulled back into the box the fit was made over</a:t>
            </a:r>
            <a:endParaRPr lang="en-US" sz="980" dirty="0"/>
          </a:p>
        </p:txBody>
      </p:sp>
      <p:sp>
        <p:nvSpPr>
          <p:cNvPr id="8" name="Text 6"/>
          <p:cNvSpPr txBox="1"/>
          <p:nvPr/>
        </p:nvSpPr>
        <p:spPr>
          <a:xfrm>
            <a:off x="6949440" y="1097280"/>
            <a:ext cx="1691640" cy="420624"/>
          </a:xfrm>
          <a:prstGeom prst="rect">
            <a:avLst/>
          </a:prstGeom>
          <a:solidFill>
            <a:srgbClr val="F7F7F9"/>
          </a:solidFill>
          <a:ln w="12700">
            <a:solidFill>
              <a:srgbClr val="7F7F7F"/>
            </a:solidFill>
            <a:prstDash val="solid"/>
          </a:ln>
        </p:spPr>
        <p:txBody>
          <a:bodyPr wrap="square" lIns="0" tIns="0" rIns="0" bIns="0" rtlCol="0" anchor="ctr"/>
          <a:lstStyle/>
          <a:p>
            <a:pPr algn="ctr" indent="0" marL="0">
              <a:buNone/>
            </a:pPr>
            <a:r>
              <a:rPr lang="en-US" sz="950" dirty="0">
                <a:solidFill>
                  <a:srgbClr val="202020"/>
                </a:solidFill>
                <a:latin typeface="Consolas" pitchFamily="34" charset="0"/>
                <a:ea typeface="Consolas" pitchFamily="34" charset="-122"/>
                <a:cs typeface="Consolas" pitchFamily="34" charset="-120"/>
              </a:rPr>
              <a:t>C  →  c</a:t>
            </a:r>
            <a:endParaRPr lang="en-US" sz="950" dirty="0"/>
          </a:p>
        </p:txBody>
      </p:sp>
      <p:sp>
        <p:nvSpPr>
          <p:cNvPr id="9" name="Shape 7"/>
          <p:cNvSpPr/>
          <p:nvPr/>
        </p:nvSpPr>
        <p:spPr>
          <a:xfrm>
            <a:off x="676656" y="1545336"/>
            <a:ext cx="0" cy="192024"/>
          </a:xfrm>
          <a:prstGeom prst="line">
            <a:avLst/>
          </a:prstGeom>
          <a:noFill/>
          <a:ln w="15240">
            <a:solidFill>
              <a:srgbClr val="595959"/>
            </a:solidFill>
            <a:prstDash val="solid"/>
            <a:headEnd type="none"/>
            <a:tailEnd type="triangle"/>
          </a:ln>
        </p:spPr>
      </p:sp>
      <p:sp>
        <p:nvSpPr>
          <p:cNvPr id="10" name="Shape 8"/>
          <p:cNvSpPr/>
          <p:nvPr/>
        </p:nvSpPr>
        <p:spPr>
          <a:xfrm>
            <a:off x="521208" y="1810512"/>
            <a:ext cx="310896" cy="310896"/>
          </a:xfrm>
          <a:prstGeom prst="ellipse">
            <a:avLst/>
          </a:prstGeom>
          <a:solidFill>
            <a:srgbClr val="F2B2B2"/>
          </a:solidFill>
          <a:ln w="12700">
            <a:solidFill>
              <a:srgbClr val="7F7F7F"/>
            </a:solidFill>
            <a:prstDash val="solid"/>
          </a:ln>
        </p:spPr>
      </p:sp>
      <p:sp>
        <p:nvSpPr>
          <p:cNvPr id="11" name="Text 9"/>
          <p:cNvSpPr txBox="1"/>
          <p:nvPr/>
        </p:nvSpPr>
        <p:spPr>
          <a:xfrm>
            <a:off x="521208" y="1810512"/>
            <a:ext cx="310896" cy="310896"/>
          </a:xfrm>
          <a:prstGeom prst="rect">
            <a:avLst/>
          </a:prstGeom>
          <a:noFill/>
          <a:ln/>
        </p:spPr>
        <p:txBody>
          <a:bodyPr wrap="square" lIns="0" tIns="0" rIns="0" bIns="0" rtlCol="0" anchor="ctr"/>
          <a:lstStyle/>
          <a:p>
            <a:pPr algn="ctr" indent="0" marL="0">
              <a:buNone/>
            </a:pPr>
            <a:r>
              <a:rPr lang="en-US" sz="950" b="1" dirty="0">
                <a:solidFill>
                  <a:srgbClr val="202020"/>
                </a:solidFill>
                <a:latin typeface="Calibri" pitchFamily="34" charset="0"/>
                <a:ea typeface="Calibri" pitchFamily="34" charset="-122"/>
                <a:cs typeface="Calibri" pitchFamily="34" charset="-120"/>
              </a:rPr>
              <a:t>2</a:t>
            </a:r>
            <a:endParaRPr lang="en-US" sz="950" dirty="0"/>
          </a:p>
        </p:txBody>
      </p:sp>
      <p:sp>
        <p:nvSpPr>
          <p:cNvPr id="12" name="Text 10"/>
          <p:cNvSpPr txBox="1"/>
          <p:nvPr/>
        </p:nvSpPr>
        <p:spPr>
          <a:xfrm>
            <a:off x="1005840" y="1755648"/>
            <a:ext cx="1417320" cy="420624"/>
          </a:xfrm>
          <a:prstGeom prst="rect">
            <a:avLst/>
          </a:prstGeom>
          <a:solidFill>
            <a:srgbClr val="BDD7EE"/>
          </a:solidFill>
          <a:ln w="12700">
            <a:solidFill>
              <a:srgbClr val="7F7F7F"/>
            </a:solidFill>
            <a:prstDash val="solid"/>
          </a:ln>
        </p:spPr>
        <p:txBody>
          <a:bodyPr wrap="square" lIns="0" tIns="0" rIns="0" bIns="0" rtlCol="0" anchor="ctr"/>
          <a:lstStyle/>
          <a:p>
            <a:pPr algn="ctr" indent="0" marL="0">
              <a:buNone/>
            </a:pPr>
            <a:r>
              <a:rPr lang="en-US" sz="1050" b="1" dirty="0">
                <a:solidFill>
                  <a:srgbClr val="202020"/>
                </a:solidFill>
                <a:latin typeface="Calibri" pitchFamily="34" charset="0"/>
                <a:ea typeface="Calibri" pitchFamily="34" charset="-122"/>
                <a:cs typeface="Calibri" pitchFamily="34" charset="-120"/>
              </a:rPr>
              <a:t>scale</a:t>
            </a:r>
            <a:endParaRPr lang="en-US" sz="1050" dirty="0"/>
          </a:p>
        </p:txBody>
      </p:sp>
      <p:sp>
        <p:nvSpPr>
          <p:cNvPr id="13" name="Text 11"/>
          <p:cNvSpPr txBox="1"/>
          <p:nvPr/>
        </p:nvSpPr>
        <p:spPr>
          <a:xfrm>
            <a:off x="2606040" y="1865376"/>
            <a:ext cx="4160520" cy="329184"/>
          </a:xfrm>
          <a:prstGeom prst="rect">
            <a:avLst/>
          </a:prstGeom>
          <a:noFill/>
          <a:ln/>
        </p:spPr>
        <p:txBody>
          <a:bodyPr wrap="square" lIns="0" tIns="0" rIns="0" bIns="0" rtlCol="0" anchor="t"/>
          <a:lstStyle/>
          <a:p>
            <a:pPr algn="l" indent="0" marL="0">
              <a:lnSpc>
                <a:spcPts val="1200"/>
              </a:lnSpc>
              <a:buNone/>
            </a:pPr>
            <a:r>
              <a:rPr lang="en-US" sz="980" dirty="0">
                <a:solidFill>
                  <a:srgbClr val="202020"/>
                </a:solidFill>
                <a:latin typeface="Calibri" pitchFamily="34" charset="0"/>
                <a:ea typeface="Calibri" pitchFamily="34" charset="-122"/>
                <a:cs typeface="Calibri" pitchFamily="34" charset="-120"/>
              </a:rPr>
              <a:t>each clamped value is mapped linearly onto the interval the fit used</a:t>
            </a:r>
            <a:endParaRPr lang="en-US" sz="980" dirty="0"/>
          </a:p>
        </p:txBody>
      </p:sp>
      <p:sp>
        <p:nvSpPr>
          <p:cNvPr id="14" name="Text 12"/>
          <p:cNvSpPr txBox="1"/>
          <p:nvPr/>
        </p:nvSpPr>
        <p:spPr>
          <a:xfrm>
            <a:off x="6949440" y="1755648"/>
            <a:ext cx="1691640" cy="420624"/>
          </a:xfrm>
          <a:prstGeom prst="rect">
            <a:avLst/>
          </a:prstGeom>
          <a:solidFill>
            <a:srgbClr val="F7F7F9"/>
          </a:solidFill>
          <a:ln w="12700">
            <a:solidFill>
              <a:srgbClr val="7F7F7F"/>
            </a:solidFill>
            <a:prstDash val="solid"/>
          </a:ln>
        </p:spPr>
        <p:txBody>
          <a:bodyPr wrap="square" lIns="0" tIns="0" rIns="0" bIns="0" rtlCol="0" anchor="ctr"/>
          <a:lstStyle/>
          <a:p>
            <a:pPr algn="ctr" indent="0" marL="0">
              <a:buNone/>
            </a:pPr>
            <a:r>
              <a:rPr lang="en-US" sz="950" dirty="0">
                <a:solidFill>
                  <a:srgbClr val="202020"/>
                </a:solidFill>
                <a:latin typeface="Consolas" pitchFamily="34" charset="0"/>
                <a:ea typeface="Consolas" pitchFamily="34" charset="-122"/>
                <a:cs typeface="Consolas" pitchFamily="34" charset="-120"/>
              </a:rPr>
              <a:t>c  →  x</a:t>
            </a:r>
            <a:endParaRPr lang="en-US" sz="950" dirty="0"/>
          </a:p>
        </p:txBody>
      </p:sp>
      <p:sp>
        <p:nvSpPr>
          <p:cNvPr id="15" name="Shape 13"/>
          <p:cNvSpPr/>
          <p:nvPr/>
        </p:nvSpPr>
        <p:spPr>
          <a:xfrm>
            <a:off x="676656" y="2203704"/>
            <a:ext cx="0" cy="192024"/>
          </a:xfrm>
          <a:prstGeom prst="line">
            <a:avLst/>
          </a:prstGeom>
          <a:noFill/>
          <a:ln w="15240">
            <a:solidFill>
              <a:srgbClr val="595959"/>
            </a:solidFill>
            <a:prstDash val="solid"/>
            <a:headEnd type="none"/>
            <a:tailEnd type="triangle"/>
          </a:ln>
        </p:spPr>
      </p:sp>
      <p:sp>
        <p:nvSpPr>
          <p:cNvPr id="16" name="Shape 14"/>
          <p:cNvSpPr/>
          <p:nvPr/>
        </p:nvSpPr>
        <p:spPr>
          <a:xfrm>
            <a:off x="521208" y="2468880"/>
            <a:ext cx="310896" cy="310896"/>
          </a:xfrm>
          <a:prstGeom prst="ellipse">
            <a:avLst/>
          </a:prstGeom>
          <a:solidFill>
            <a:srgbClr val="F2B2B2"/>
          </a:solidFill>
          <a:ln w="12700">
            <a:solidFill>
              <a:srgbClr val="7F7F7F"/>
            </a:solidFill>
            <a:prstDash val="solid"/>
          </a:ln>
        </p:spPr>
      </p:sp>
      <p:sp>
        <p:nvSpPr>
          <p:cNvPr id="17" name="Text 15"/>
          <p:cNvSpPr txBox="1"/>
          <p:nvPr/>
        </p:nvSpPr>
        <p:spPr>
          <a:xfrm>
            <a:off x="521208" y="2468880"/>
            <a:ext cx="310896" cy="310896"/>
          </a:xfrm>
          <a:prstGeom prst="rect">
            <a:avLst/>
          </a:prstGeom>
          <a:noFill/>
          <a:ln/>
        </p:spPr>
        <p:txBody>
          <a:bodyPr wrap="square" lIns="0" tIns="0" rIns="0" bIns="0" rtlCol="0" anchor="ctr"/>
          <a:lstStyle/>
          <a:p>
            <a:pPr algn="ctr" indent="0" marL="0">
              <a:buNone/>
            </a:pPr>
            <a:r>
              <a:rPr lang="en-US" sz="950" b="1" dirty="0">
                <a:solidFill>
                  <a:srgbClr val="202020"/>
                </a:solidFill>
                <a:latin typeface="Calibri" pitchFamily="34" charset="0"/>
                <a:ea typeface="Calibri" pitchFamily="34" charset="-122"/>
                <a:cs typeface="Calibri" pitchFamily="34" charset="-120"/>
              </a:rPr>
              <a:t>3</a:t>
            </a:r>
            <a:endParaRPr lang="en-US" sz="950" dirty="0"/>
          </a:p>
        </p:txBody>
      </p:sp>
      <p:sp>
        <p:nvSpPr>
          <p:cNvPr id="18" name="Text 16"/>
          <p:cNvSpPr txBox="1"/>
          <p:nvPr/>
        </p:nvSpPr>
        <p:spPr>
          <a:xfrm>
            <a:off x="1005840" y="2414016"/>
            <a:ext cx="1417320" cy="420624"/>
          </a:xfrm>
          <a:prstGeom prst="rect">
            <a:avLst/>
          </a:prstGeom>
          <a:solidFill>
            <a:srgbClr val="C6E0B4"/>
          </a:solidFill>
          <a:ln w="12700">
            <a:solidFill>
              <a:srgbClr val="7F7F7F"/>
            </a:solidFill>
            <a:prstDash val="solid"/>
          </a:ln>
        </p:spPr>
        <p:txBody>
          <a:bodyPr wrap="square" lIns="0" tIns="0" rIns="0" bIns="0" rtlCol="0" anchor="ctr"/>
          <a:lstStyle/>
          <a:p>
            <a:pPr algn="ctr" indent="0" marL="0">
              <a:buNone/>
            </a:pPr>
            <a:r>
              <a:rPr lang="en-US" sz="1050" b="1" dirty="0">
                <a:solidFill>
                  <a:srgbClr val="202020"/>
                </a:solidFill>
                <a:latin typeface="Calibri" pitchFamily="34" charset="0"/>
                <a:ea typeface="Calibri" pitchFamily="34" charset="-122"/>
                <a:cs typeface="Calibri" pitchFamily="34" charset="-120"/>
              </a:rPr>
              <a:t>encode</a:t>
            </a:r>
            <a:endParaRPr lang="en-US" sz="1050" dirty="0"/>
          </a:p>
        </p:txBody>
      </p:sp>
      <p:sp>
        <p:nvSpPr>
          <p:cNvPr id="19" name="Text 17"/>
          <p:cNvSpPr txBox="1"/>
          <p:nvPr/>
        </p:nvSpPr>
        <p:spPr>
          <a:xfrm>
            <a:off x="2606040" y="2523744"/>
            <a:ext cx="4160520" cy="329184"/>
          </a:xfrm>
          <a:prstGeom prst="rect">
            <a:avLst/>
          </a:prstGeom>
          <a:noFill/>
          <a:ln/>
        </p:spPr>
        <p:txBody>
          <a:bodyPr wrap="square" lIns="0" tIns="0" rIns="0" bIns="0" rtlCol="0" anchor="t"/>
          <a:lstStyle/>
          <a:p>
            <a:pPr algn="l" indent="0" marL="0">
              <a:lnSpc>
                <a:spcPts val="1200"/>
              </a:lnSpc>
              <a:buNone/>
            </a:pPr>
            <a:r>
              <a:rPr lang="en-US" sz="980" dirty="0">
                <a:solidFill>
                  <a:srgbClr val="202020"/>
                </a:solidFill>
                <a:latin typeface="Calibri" pitchFamily="34" charset="0"/>
                <a:ea typeface="Calibri" pitchFamily="34" charset="-122"/>
                <a:cs typeface="Calibri" pitchFamily="34" charset="-120"/>
              </a:rPr>
              <a:t>each species node is given its starting state from its own scaled value</a:t>
            </a:r>
            <a:endParaRPr lang="en-US" sz="980" dirty="0"/>
          </a:p>
        </p:txBody>
      </p:sp>
      <p:sp>
        <p:nvSpPr>
          <p:cNvPr id="20" name="Text 18"/>
          <p:cNvSpPr txBox="1"/>
          <p:nvPr/>
        </p:nvSpPr>
        <p:spPr>
          <a:xfrm>
            <a:off x="6949440" y="2414016"/>
            <a:ext cx="1691640" cy="420624"/>
          </a:xfrm>
          <a:prstGeom prst="rect">
            <a:avLst/>
          </a:prstGeom>
          <a:solidFill>
            <a:srgbClr val="F7F7F9"/>
          </a:solidFill>
          <a:ln w="12700">
            <a:solidFill>
              <a:srgbClr val="7F7F7F"/>
            </a:solidFill>
            <a:prstDash val="solid"/>
          </a:ln>
        </p:spPr>
        <p:txBody>
          <a:bodyPr wrap="square" lIns="0" tIns="0" rIns="0" bIns="0" rtlCol="0" anchor="ctr"/>
          <a:lstStyle/>
          <a:p>
            <a:pPr algn="ctr" indent="0" marL="0">
              <a:buNone/>
            </a:pPr>
            <a:r>
              <a:rPr lang="en-US" sz="950" dirty="0">
                <a:solidFill>
                  <a:srgbClr val="202020"/>
                </a:solidFill>
                <a:latin typeface="Consolas" pitchFamily="34" charset="0"/>
                <a:ea typeface="Consolas" pitchFamily="34" charset="-122"/>
                <a:cs typeface="Consolas" pitchFamily="34" charset="-120"/>
              </a:rPr>
              <a:t>x  →  hS</a:t>
            </a:r>
            <a:endParaRPr lang="en-US" sz="950" dirty="0"/>
          </a:p>
        </p:txBody>
      </p:sp>
      <p:sp>
        <p:nvSpPr>
          <p:cNvPr id="21" name="Shape 19"/>
          <p:cNvSpPr/>
          <p:nvPr/>
        </p:nvSpPr>
        <p:spPr>
          <a:xfrm>
            <a:off x="676656" y="2862072"/>
            <a:ext cx="0" cy="192024"/>
          </a:xfrm>
          <a:prstGeom prst="line">
            <a:avLst/>
          </a:prstGeom>
          <a:noFill/>
          <a:ln w="15240">
            <a:solidFill>
              <a:srgbClr val="595959"/>
            </a:solidFill>
            <a:prstDash val="solid"/>
            <a:headEnd type="none"/>
            <a:tailEnd type="triangle"/>
          </a:ln>
        </p:spPr>
      </p:sp>
      <p:sp>
        <p:nvSpPr>
          <p:cNvPr id="22" name="Shape 20"/>
          <p:cNvSpPr/>
          <p:nvPr/>
        </p:nvSpPr>
        <p:spPr>
          <a:xfrm>
            <a:off x="521208" y="3127248"/>
            <a:ext cx="310896" cy="310896"/>
          </a:xfrm>
          <a:prstGeom prst="ellipse">
            <a:avLst/>
          </a:prstGeom>
          <a:solidFill>
            <a:srgbClr val="F2B2B2"/>
          </a:solidFill>
          <a:ln w="12700">
            <a:solidFill>
              <a:srgbClr val="7F7F7F"/>
            </a:solidFill>
            <a:prstDash val="solid"/>
          </a:ln>
        </p:spPr>
      </p:sp>
      <p:sp>
        <p:nvSpPr>
          <p:cNvPr id="23" name="Text 21"/>
          <p:cNvSpPr txBox="1"/>
          <p:nvPr/>
        </p:nvSpPr>
        <p:spPr>
          <a:xfrm>
            <a:off x="521208" y="3127248"/>
            <a:ext cx="310896" cy="310896"/>
          </a:xfrm>
          <a:prstGeom prst="rect">
            <a:avLst/>
          </a:prstGeom>
          <a:noFill/>
          <a:ln/>
        </p:spPr>
        <p:txBody>
          <a:bodyPr wrap="square" lIns="0" tIns="0" rIns="0" bIns="0" rtlCol="0" anchor="ctr"/>
          <a:lstStyle/>
          <a:p>
            <a:pPr algn="ctr" indent="0" marL="0">
              <a:buNone/>
            </a:pPr>
            <a:r>
              <a:rPr lang="en-US" sz="950" b="1" dirty="0">
                <a:solidFill>
                  <a:srgbClr val="202020"/>
                </a:solidFill>
                <a:latin typeface="Calibri" pitchFamily="34" charset="0"/>
                <a:ea typeface="Calibri" pitchFamily="34" charset="-122"/>
                <a:cs typeface="Calibri" pitchFamily="34" charset="-120"/>
              </a:rPr>
              <a:t>4</a:t>
            </a:r>
            <a:endParaRPr lang="en-US" sz="950" dirty="0"/>
          </a:p>
        </p:txBody>
      </p:sp>
      <p:sp>
        <p:nvSpPr>
          <p:cNvPr id="24" name="Text 22"/>
          <p:cNvSpPr txBox="1"/>
          <p:nvPr/>
        </p:nvSpPr>
        <p:spPr>
          <a:xfrm>
            <a:off x="1005840" y="3072384"/>
            <a:ext cx="1417320" cy="420624"/>
          </a:xfrm>
          <a:prstGeom prst="rect">
            <a:avLst/>
          </a:prstGeom>
          <a:solidFill>
            <a:srgbClr val="F2B2B2"/>
          </a:solidFill>
          <a:ln w="12700">
            <a:solidFill>
              <a:srgbClr val="7F7F7F"/>
            </a:solidFill>
            <a:prstDash val="solid"/>
          </a:ln>
        </p:spPr>
        <p:txBody>
          <a:bodyPr wrap="square" lIns="0" tIns="0" rIns="0" bIns="0" rtlCol="0" anchor="ctr"/>
          <a:lstStyle/>
          <a:p>
            <a:pPr algn="ctr" indent="0" marL="0">
              <a:buNone/>
            </a:pPr>
            <a:r>
              <a:rPr lang="en-US" sz="1050" b="1" dirty="0">
                <a:solidFill>
                  <a:srgbClr val="202020"/>
                </a:solidFill>
                <a:latin typeface="Calibri" pitchFamily="34" charset="0"/>
                <a:ea typeface="Calibri" pitchFamily="34" charset="-122"/>
                <a:cs typeface="Calibri" pitchFamily="34" charset="-120"/>
              </a:rPr>
              <a:t>two rounds</a:t>
            </a:r>
            <a:endParaRPr lang="en-US" sz="1050" dirty="0"/>
          </a:p>
        </p:txBody>
      </p:sp>
      <p:sp>
        <p:nvSpPr>
          <p:cNvPr id="25" name="Text 23"/>
          <p:cNvSpPr txBox="1"/>
          <p:nvPr/>
        </p:nvSpPr>
        <p:spPr>
          <a:xfrm>
            <a:off x="2606040" y="3182112"/>
            <a:ext cx="4160520" cy="329184"/>
          </a:xfrm>
          <a:prstGeom prst="rect">
            <a:avLst/>
          </a:prstGeom>
          <a:noFill/>
          <a:ln/>
        </p:spPr>
        <p:txBody>
          <a:bodyPr wrap="square" lIns="0" tIns="0" rIns="0" bIns="0" rtlCol="0" anchor="t"/>
          <a:lstStyle/>
          <a:p>
            <a:pPr algn="l" indent="0" marL="0">
              <a:lnSpc>
                <a:spcPts val="1200"/>
              </a:lnSpc>
              <a:buNone/>
            </a:pPr>
            <a:r>
              <a:rPr lang="en-US" sz="980" dirty="0">
                <a:solidFill>
                  <a:srgbClr val="202020"/>
                </a:solidFill>
                <a:latin typeface="Calibri" pitchFamily="34" charset="0"/>
                <a:ea typeface="Calibri" pitchFamily="34" charset="-122"/>
                <a:cs typeface="Calibri" pitchFamily="34" charset="-120"/>
              </a:rPr>
              <a:t>the two halves of the previous figure, repeated</a:t>
            </a:r>
            <a:endParaRPr lang="en-US" sz="980" dirty="0"/>
          </a:p>
        </p:txBody>
      </p:sp>
      <p:sp>
        <p:nvSpPr>
          <p:cNvPr id="26" name="Text 24"/>
          <p:cNvSpPr txBox="1"/>
          <p:nvPr/>
        </p:nvSpPr>
        <p:spPr>
          <a:xfrm>
            <a:off x="6949440" y="3072384"/>
            <a:ext cx="1691640" cy="420624"/>
          </a:xfrm>
          <a:prstGeom prst="rect">
            <a:avLst/>
          </a:prstGeom>
          <a:solidFill>
            <a:srgbClr val="F7F7F9"/>
          </a:solidFill>
          <a:ln w="12700">
            <a:solidFill>
              <a:srgbClr val="7F7F7F"/>
            </a:solidFill>
            <a:prstDash val="solid"/>
          </a:ln>
        </p:spPr>
        <p:txBody>
          <a:bodyPr wrap="square" lIns="0" tIns="0" rIns="0" bIns="0" rtlCol="0" anchor="ctr"/>
          <a:lstStyle/>
          <a:p>
            <a:pPr algn="ctr" indent="0" marL="0">
              <a:buNone/>
            </a:pPr>
            <a:r>
              <a:rPr lang="en-US" sz="950" dirty="0">
                <a:solidFill>
                  <a:srgbClr val="202020"/>
                </a:solidFill>
                <a:latin typeface="Consolas" pitchFamily="34" charset="0"/>
                <a:ea typeface="Consolas" pitchFamily="34" charset="-122"/>
                <a:cs typeface="Consolas" pitchFamily="34" charset="-120"/>
              </a:rPr>
              <a:t>hS, hR</a:t>
            </a:r>
            <a:endParaRPr lang="en-US" sz="950" dirty="0"/>
          </a:p>
        </p:txBody>
      </p:sp>
      <p:sp>
        <p:nvSpPr>
          <p:cNvPr id="27" name="Shape 25"/>
          <p:cNvSpPr/>
          <p:nvPr/>
        </p:nvSpPr>
        <p:spPr>
          <a:xfrm>
            <a:off x="676656" y="3520440"/>
            <a:ext cx="0" cy="192024"/>
          </a:xfrm>
          <a:prstGeom prst="line">
            <a:avLst/>
          </a:prstGeom>
          <a:noFill/>
          <a:ln w="15240">
            <a:solidFill>
              <a:srgbClr val="595959"/>
            </a:solidFill>
            <a:prstDash val="solid"/>
            <a:headEnd type="none"/>
            <a:tailEnd type="triangle"/>
          </a:ln>
        </p:spPr>
      </p:sp>
      <p:sp>
        <p:nvSpPr>
          <p:cNvPr id="28" name="Shape 26"/>
          <p:cNvSpPr/>
          <p:nvPr/>
        </p:nvSpPr>
        <p:spPr>
          <a:xfrm>
            <a:off x="521208" y="3785616"/>
            <a:ext cx="310896" cy="310896"/>
          </a:xfrm>
          <a:prstGeom prst="ellipse">
            <a:avLst/>
          </a:prstGeom>
          <a:solidFill>
            <a:srgbClr val="F2B2B2"/>
          </a:solidFill>
          <a:ln w="12700">
            <a:solidFill>
              <a:srgbClr val="7F7F7F"/>
            </a:solidFill>
            <a:prstDash val="solid"/>
          </a:ln>
        </p:spPr>
      </p:sp>
      <p:sp>
        <p:nvSpPr>
          <p:cNvPr id="29" name="Text 27"/>
          <p:cNvSpPr txBox="1"/>
          <p:nvPr/>
        </p:nvSpPr>
        <p:spPr>
          <a:xfrm>
            <a:off x="521208" y="3785616"/>
            <a:ext cx="310896" cy="310896"/>
          </a:xfrm>
          <a:prstGeom prst="rect">
            <a:avLst/>
          </a:prstGeom>
          <a:noFill/>
          <a:ln/>
        </p:spPr>
        <p:txBody>
          <a:bodyPr wrap="square" lIns="0" tIns="0" rIns="0" bIns="0" rtlCol="0" anchor="ctr"/>
          <a:lstStyle/>
          <a:p>
            <a:pPr algn="ctr" indent="0" marL="0">
              <a:buNone/>
            </a:pPr>
            <a:r>
              <a:rPr lang="en-US" sz="950" b="1" dirty="0">
                <a:solidFill>
                  <a:srgbClr val="202020"/>
                </a:solidFill>
                <a:latin typeface="Calibri" pitchFamily="34" charset="0"/>
                <a:ea typeface="Calibri" pitchFamily="34" charset="-122"/>
                <a:cs typeface="Calibri" pitchFamily="34" charset="-120"/>
              </a:rPr>
              <a:t>5</a:t>
            </a:r>
            <a:endParaRPr lang="en-US" sz="950" dirty="0"/>
          </a:p>
        </p:txBody>
      </p:sp>
      <p:sp>
        <p:nvSpPr>
          <p:cNvPr id="30" name="Text 28"/>
          <p:cNvSpPr txBox="1"/>
          <p:nvPr/>
        </p:nvSpPr>
        <p:spPr>
          <a:xfrm>
            <a:off x="1005840" y="3730752"/>
            <a:ext cx="1417320" cy="420624"/>
          </a:xfrm>
          <a:prstGeom prst="rect">
            <a:avLst/>
          </a:prstGeom>
          <a:solidFill>
            <a:srgbClr val="E4D3F5"/>
          </a:solidFill>
          <a:ln w="12700">
            <a:solidFill>
              <a:srgbClr val="7F7F7F"/>
            </a:solidFill>
            <a:prstDash val="solid"/>
          </a:ln>
        </p:spPr>
        <p:txBody>
          <a:bodyPr wrap="square" lIns="0" tIns="0" rIns="0" bIns="0" rtlCol="0" anchor="ctr"/>
          <a:lstStyle/>
          <a:p>
            <a:pPr algn="ctr" indent="0" marL="0">
              <a:buNone/>
            </a:pPr>
            <a:r>
              <a:rPr lang="en-US" sz="1050" b="1" dirty="0">
                <a:solidFill>
                  <a:srgbClr val="202020"/>
                </a:solidFill>
                <a:latin typeface="Calibri" pitchFamily="34" charset="0"/>
                <a:ea typeface="Calibri" pitchFamily="34" charset="-122"/>
                <a:cs typeface="Calibri" pitchFamily="34" charset="-120"/>
              </a:rPr>
              <a:t>read out</a:t>
            </a:r>
            <a:endParaRPr lang="en-US" sz="1050" dirty="0"/>
          </a:p>
        </p:txBody>
      </p:sp>
      <p:sp>
        <p:nvSpPr>
          <p:cNvPr id="31" name="Text 29"/>
          <p:cNvSpPr txBox="1"/>
          <p:nvPr/>
        </p:nvSpPr>
        <p:spPr>
          <a:xfrm>
            <a:off x="2606040" y="3840480"/>
            <a:ext cx="4160520" cy="329184"/>
          </a:xfrm>
          <a:prstGeom prst="rect">
            <a:avLst/>
          </a:prstGeom>
          <a:noFill/>
          <a:ln/>
        </p:spPr>
        <p:txBody>
          <a:bodyPr wrap="square" lIns="0" tIns="0" rIns="0" bIns="0" rtlCol="0" anchor="t"/>
          <a:lstStyle/>
          <a:p>
            <a:pPr algn="l" indent="0" marL="0">
              <a:lnSpc>
                <a:spcPts val="1200"/>
              </a:lnSpc>
              <a:buNone/>
            </a:pPr>
            <a:r>
              <a:rPr lang="en-US" sz="980" dirty="0">
                <a:solidFill>
                  <a:srgbClr val="202020"/>
                </a:solidFill>
                <a:latin typeface="Calibri" pitchFamily="34" charset="0"/>
                <a:ea typeface="Calibri" pitchFamily="34" charset="-122"/>
                <a:cs typeface="Calibri" pitchFamily="34" charset="-120"/>
              </a:rPr>
              <a:t>one number per node, turned into a rate</a:t>
            </a:r>
            <a:endParaRPr lang="en-US" sz="980" dirty="0"/>
          </a:p>
        </p:txBody>
      </p:sp>
      <p:sp>
        <p:nvSpPr>
          <p:cNvPr id="32" name="Text 30"/>
          <p:cNvSpPr txBox="1"/>
          <p:nvPr/>
        </p:nvSpPr>
        <p:spPr>
          <a:xfrm>
            <a:off x="6949440" y="3730752"/>
            <a:ext cx="1691640" cy="420624"/>
          </a:xfrm>
          <a:prstGeom prst="rect">
            <a:avLst/>
          </a:prstGeom>
          <a:solidFill>
            <a:srgbClr val="F7F7F9"/>
          </a:solidFill>
          <a:ln w="12700">
            <a:solidFill>
              <a:srgbClr val="7F7F7F"/>
            </a:solidFill>
            <a:prstDash val="solid"/>
          </a:ln>
        </p:spPr>
        <p:txBody>
          <a:bodyPr wrap="square" lIns="0" tIns="0" rIns="0" bIns="0" rtlCol="0" anchor="ctr"/>
          <a:lstStyle/>
          <a:p>
            <a:pPr algn="ctr" indent="0" marL="0">
              <a:buNone/>
            </a:pPr>
            <a:r>
              <a:rPr lang="en-US" sz="950" dirty="0">
                <a:solidFill>
                  <a:srgbClr val="202020"/>
                </a:solidFill>
                <a:latin typeface="Consolas" pitchFamily="34" charset="0"/>
                <a:ea typeface="Consolas" pitchFamily="34" charset="-122"/>
                <a:cs typeface="Consolas" pitchFamily="34" charset="-120"/>
              </a:rPr>
              <a:t>hS or hR  →  r</a:t>
            </a:r>
            <a:endParaRPr lang="en-US" sz="950" dirty="0"/>
          </a:p>
        </p:txBody>
      </p:sp>
      <p:sp>
        <p:nvSpPr>
          <p:cNvPr id="33" name="Shape 31"/>
          <p:cNvSpPr/>
          <p:nvPr/>
        </p:nvSpPr>
        <p:spPr>
          <a:xfrm>
            <a:off x="676656" y="4178808"/>
            <a:ext cx="0" cy="192024"/>
          </a:xfrm>
          <a:prstGeom prst="line">
            <a:avLst/>
          </a:prstGeom>
          <a:noFill/>
          <a:ln w="15240">
            <a:solidFill>
              <a:srgbClr val="595959"/>
            </a:solidFill>
            <a:prstDash val="solid"/>
            <a:headEnd type="none"/>
            <a:tailEnd type="triangle"/>
          </a:ln>
        </p:spPr>
      </p:sp>
      <p:sp>
        <p:nvSpPr>
          <p:cNvPr id="34" name="Shape 32"/>
          <p:cNvSpPr/>
          <p:nvPr/>
        </p:nvSpPr>
        <p:spPr>
          <a:xfrm>
            <a:off x="521208" y="4443984"/>
            <a:ext cx="310896" cy="310896"/>
          </a:xfrm>
          <a:prstGeom prst="ellipse">
            <a:avLst/>
          </a:prstGeom>
          <a:solidFill>
            <a:srgbClr val="F2B2B2"/>
          </a:solidFill>
          <a:ln w="12700">
            <a:solidFill>
              <a:srgbClr val="7F7F7F"/>
            </a:solidFill>
            <a:prstDash val="solid"/>
          </a:ln>
        </p:spPr>
      </p:sp>
      <p:sp>
        <p:nvSpPr>
          <p:cNvPr id="35" name="Text 33"/>
          <p:cNvSpPr txBox="1"/>
          <p:nvPr/>
        </p:nvSpPr>
        <p:spPr>
          <a:xfrm>
            <a:off x="521208" y="4443984"/>
            <a:ext cx="310896" cy="310896"/>
          </a:xfrm>
          <a:prstGeom prst="rect">
            <a:avLst/>
          </a:prstGeom>
          <a:noFill/>
          <a:ln/>
        </p:spPr>
        <p:txBody>
          <a:bodyPr wrap="square" lIns="0" tIns="0" rIns="0" bIns="0" rtlCol="0" anchor="ctr"/>
          <a:lstStyle/>
          <a:p>
            <a:pPr algn="ctr" indent="0" marL="0">
              <a:buNone/>
            </a:pPr>
            <a:r>
              <a:rPr lang="en-US" sz="950" b="1" dirty="0">
                <a:solidFill>
                  <a:srgbClr val="202020"/>
                </a:solidFill>
                <a:latin typeface="Calibri" pitchFamily="34" charset="0"/>
                <a:ea typeface="Calibri" pitchFamily="34" charset="-122"/>
                <a:cs typeface="Calibri" pitchFamily="34" charset="-120"/>
              </a:rPr>
              <a:t>6</a:t>
            </a:r>
            <a:endParaRPr lang="en-US" sz="950" dirty="0"/>
          </a:p>
        </p:txBody>
      </p:sp>
      <p:sp>
        <p:nvSpPr>
          <p:cNvPr id="36" name="Text 34"/>
          <p:cNvSpPr txBox="1"/>
          <p:nvPr/>
        </p:nvSpPr>
        <p:spPr>
          <a:xfrm>
            <a:off x="1005840" y="4389120"/>
            <a:ext cx="1417320" cy="420624"/>
          </a:xfrm>
          <a:prstGeom prst="rect">
            <a:avLst/>
          </a:prstGeom>
          <a:solidFill>
            <a:srgbClr val="FFE699"/>
          </a:solidFill>
          <a:ln w="12700">
            <a:solidFill>
              <a:srgbClr val="7F7F7F"/>
            </a:solidFill>
            <a:prstDash val="solid"/>
          </a:ln>
        </p:spPr>
        <p:txBody>
          <a:bodyPr wrap="square" lIns="0" tIns="0" rIns="0" bIns="0" rtlCol="0" anchor="ctr"/>
          <a:lstStyle/>
          <a:p>
            <a:pPr algn="ctr" indent="0" marL="0">
              <a:buNone/>
            </a:pPr>
            <a:r>
              <a:rPr lang="en-US" sz="1050" b="1" dirty="0">
                <a:solidFill>
                  <a:srgbClr val="202020"/>
                </a:solidFill>
                <a:latin typeface="Calibri" pitchFamily="34" charset="0"/>
                <a:ea typeface="Calibri" pitchFamily="34" charset="-122"/>
                <a:cs typeface="Calibri" pitchFamily="34" charset="-120"/>
              </a:rPr>
              <a:t>units</a:t>
            </a:r>
            <a:endParaRPr lang="en-US" sz="1050" dirty="0"/>
          </a:p>
        </p:txBody>
      </p:sp>
      <p:sp>
        <p:nvSpPr>
          <p:cNvPr id="37" name="Text 35"/>
          <p:cNvSpPr txBox="1"/>
          <p:nvPr/>
        </p:nvSpPr>
        <p:spPr>
          <a:xfrm>
            <a:off x="2606040" y="4498848"/>
            <a:ext cx="4160520" cy="329184"/>
          </a:xfrm>
          <a:prstGeom prst="rect">
            <a:avLst/>
          </a:prstGeom>
          <a:noFill/>
          <a:ln/>
        </p:spPr>
        <p:txBody>
          <a:bodyPr wrap="square" lIns="0" tIns="0" rIns="0" bIns="0" rtlCol="0" anchor="t"/>
          <a:lstStyle/>
          <a:p>
            <a:pPr algn="l" indent="0" marL="0">
              <a:lnSpc>
                <a:spcPts val="1200"/>
              </a:lnSpc>
              <a:buNone/>
            </a:pPr>
            <a:r>
              <a:rPr lang="en-US" sz="980" dirty="0">
                <a:solidFill>
                  <a:srgbClr val="202020"/>
                </a:solidFill>
                <a:latin typeface="Calibri" pitchFamily="34" charset="0"/>
                <a:ea typeface="Calibri" pitchFamily="34" charset="-122"/>
                <a:cs typeface="Calibri" pitchFamily="34" charset="-120"/>
              </a:rPr>
              <a:t>per_hour divides every rate by 3600</a:t>
            </a:r>
            <a:endParaRPr lang="en-US" sz="980" dirty="0"/>
          </a:p>
        </p:txBody>
      </p:sp>
      <p:sp>
        <p:nvSpPr>
          <p:cNvPr id="38" name="Text 36"/>
          <p:cNvSpPr txBox="1"/>
          <p:nvPr/>
        </p:nvSpPr>
        <p:spPr>
          <a:xfrm>
            <a:off x="6949440" y="4389120"/>
            <a:ext cx="1691640" cy="420624"/>
          </a:xfrm>
          <a:prstGeom prst="rect">
            <a:avLst/>
          </a:prstGeom>
          <a:solidFill>
            <a:srgbClr val="F7F7F9"/>
          </a:solidFill>
          <a:ln w="12700">
            <a:solidFill>
              <a:srgbClr val="7F7F7F"/>
            </a:solidFill>
            <a:prstDash val="solid"/>
          </a:ln>
        </p:spPr>
        <p:txBody>
          <a:bodyPr wrap="square" lIns="0" tIns="0" rIns="0" bIns="0" rtlCol="0" anchor="ctr"/>
          <a:lstStyle/>
          <a:p>
            <a:pPr algn="ctr" indent="0" marL="0">
              <a:buNone/>
            </a:pPr>
            <a:r>
              <a:rPr lang="en-US" sz="950" dirty="0">
                <a:solidFill>
                  <a:srgbClr val="202020"/>
                </a:solidFill>
                <a:latin typeface="Consolas" pitchFamily="34" charset="0"/>
                <a:ea typeface="Consolas" pitchFamily="34" charset="-122"/>
                <a:cs typeface="Consolas" pitchFamily="34" charset="-120"/>
              </a:rPr>
              <a:t>r  →  R</a:t>
            </a:r>
            <a:endParaRPr lang="en-US" sz="950" dirty="0"/>
          </a:p>
        </p:txBody>
      </p:sp>
      <p:sp>
        <p:nvSpPr>
          <p:cNvPr id="39" name="Text 37"/>
          <p:cNvSpPr txBox="1"/>
          <p:nvPr/>
        </p:nvSpPr>
        <p:spPr>
          <a:xfrm>
            <a:off x="6812280" y="804672"/>
            <a:ext cx="2011680" cy="237744"/>
          </a:xfrm>
          <a:prstGeom prst="rect">
            <a:avLst/>
          </a:prstGeom>
          <a:noFill/>
          <a:ln/>
        </p:spPr>
        <p:txBody>
          <a:bodyPr wrap="square" lIns="0" tIns="0" rIns="0" bIns="0" rtlCol="0" anchor="t"/>
          <a:lstStyle/>
          <a:p>
            <a:pPr algn="ctr" indent="0" marL="0">
              <a:buNone/>
            </a:pPr>
            <a:r>
              <a:rPr lang="en-US" sz="900" b="1" dirty="0">
                <a:solidFill>
                  <a:srgbClr val="606060"/>
                </a:solidFill>
                <a:latin typeface="Calibri" pitchFamily="34" charset="0"/>
                <a:ea typeface="Calibri" pitchFamily="34" charset="-122"/>
                <a:cs typeface="Calibri" pitchFamily="34" charset="-120"/>
              </a:rPr>
              <a:t>the shape of each array, for the shipped example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365760" y="128016"/>
            <a:ext cx="8412480" cy="365760"/>
          </a:xfrm>
          <a:prstGeom prst="rect">
            <a:avLst/>
          </a:prstGeom>
          <a:noFill/>
          <a:ln/>
        </p:spPr>
        <p:txBody>
          <a:bodyPr wrap="square" lIns="0" tIns="0" rIns="0" bIns="0" rtlCol="0" anchor="t"/>
          <a:lstStyle/>
          <a:p>
            <a:pPr algn="l" indent="0" marL="0">
              <a:buNone/>
            </a:pPr>
            <a:r>
              <a:rPr lang="en-US" sz="1700" b="1" dirty="0">
                <a:solidFill>
                  <a:srgbClr val="202020"/>
                </a:solidFill>
                <a:latin typeface="Calibri" pitchFamily="34" charset="0"/>
                <a:ea typeface="Calibri" pitchFamily="34" charset="-122"/>
                <a:cs typeface="Calibri" pitchFamily="34" charset="-120"/>
              </a:rPr>
              <a:t>The two readouts, and why one of them is exact</a:t>
            </a:r>
            <a:endParaRPr lang="en-US" sz="1700" dirty="0"/>
          </a:p>
        </p:txBody>
      </p:sp>
      <p:sp>
        <p:nvSpPr>
          <p:cNvPr id="3" name="Text 1"/>
          <p:cNvSpPr txBox="1"/>
          <p:nvPr/>
        </p:nvSpPr>
        <p:spPr>
          <a:xfrm>
            <a:off x="365760" y="512064"/>
            <a:ext cx="8412480" cy="420624"/>
          </a:xfrm>
          <a:prstGeom prst="rect">
            <a:avLst/>
          </a:prstGeom>
          <a:noFill/>
          <a:ln/>
        </p:spPr>
        <p:txBody>
          <a:bodyPr wrap="square" lIns="0" tIns="0" rIns="0" bIns="0" rtlCol="0" anchor="t"/>
          <a:lstStyle/>
          <a:p>
            <a:pPr algn="l" indent="0" marL="0">
              <a:buNone/>
            </a:pPr>
            <a:r>
              <a:rPr lang="en-US" sz="950" i="1" dirty="0">
                <a:solidFill>
                  <a:srgbClr val="606060"/>
                </a:solidFill>
                <a:latin typeface="Calibri" pitchFamily="34" charset="0"/>
                <a:ea typeface="Calibri" pitchFamily="34" charset="-122"/>
                <a:cs typeface="Calibri" pitchFamily="34" charset="-120"/>
              </a:rPr>
              <a:t>Step 5 of the previous figure can be taken off the species nodes or off the reaction nodes. That single choice decides whether the rates that come back obey the reaction.</a:t>
            </a:r>
            <a:endParaRPr lang="en-US" sz="950" dirty="0"/>
          </a:p>
        </p:txBody>
      </p:sp>
      <p:sp>
        <p:nvSpPr>
          <p:cNvPr id="4" name="Shape 2"/>
          <p:cNvSpPr/>
          <p:nvPr/>
        </p:nvSpPr>
        <p:spPr>
          <a:xfrm>
            <a:off x="411480" y="1005840"/>
            <a:ext cx="4160520" cy="3246120"/>
          </a:xfrm>
          <a:prstGeom prst="rect">
            <a:avLst/>
          </a:prstGeom>
          <a:solidFill>
            <a:srgbClr val="F7F7F9"/>
          </a:solidFill>
          <a:ln w="12700">
            <a:solidFill>
              <a:srgbClr val="BFBFBF"/>
            </a:solidFill>
            <a:prstDash val="solid"/>
          </a:ln>
        </p:spPr>
      </p:sp>
      <p:sp>
        <p:nvSpPr>
          <p:cNvPr id="5" name="Text 3"/>
          <p:cNvSpPr txBox="1"/>
          <p:nvPr/>
        </p:nvSpPr>
        <p:spPr>
          <a:xfrm>
            <a:off x="539496" y="1078992"/>
            <a:ext cx="3904488" cy="237744"/>
          </a:xfrm>
          <a:prstGeom prst="rect">
            <a:avLst/>
          </a:prstGeom>
          <a:noFill/>
          <a:ln/>
        </p:spPr>
        <p:txBody>
          <a:bodyPr wrap="square" lIns="0" tIns="0" rIns="0" bIns="0" rtlCol="0" anchor="t"/>
          <a:lstStyle/>
          <a:p>
            <a:pPr algn="l" indent="0" marL="0">
              <a:buNone/>
            </a:pPr>
            <a:r>
              <a:rPr lang="en-US" sz="950" b="1" dirty="0">
                <a:solidFill>
                  <a:srgbClr val="2E6DA4"/>
                </a:solidFill>
                <a:latin typeface="Calibri" pitchFamily="34" charset="0"/>
                <a:ea typeface="Calibri" pitchFamily="34" charset="-122"/>
                <a:cs typeface="Calibri" pitchFamily="34" charset="-120"/>
              </a:rPr>
              <a:t>species readout   (what a file with no readout line means)</a:t>
            </a:r>
            <a:endParaRPr lang="en-US" sz="950" dirty="0"/>
          </a:p>
        </p:txBody>
      </p:sp>
      <p:sp>
        <p:nvSpPr>
          <p:cNvPr id="6" name="Text 4"/>
          <p:cNvSpPr txBox="1"/>
          <p:nvPr/>
        </p:nvSpPr>
        <p:spPr>
          <a:xfrm>
            <a:off x="658368" y="1481328"/>
            <a:ext cx="1005840" cy="365760"/>
          </a:xfrm>
          <a:prstGeom prst="rect">
            <a:avLst/>
          </a:prstGeom>
          <a:solidFill>
            <a:srgbClr val="BDD7EE"/>
          </a:solidFill>
          <a:ln w="12700">
            <a:solidFill>
              <a:srgbClr val="7F7F7F"/>
            </a:solidFill>
            <a:prstDash val="solid"/>
          </a:ln>
        </p:spPr>
        <p:txBody>
          <a:bodyPr wrap="square" lIns="0" tIns="0" rIns="0" bIns="0" rtlCol="0" anchor="ctr"/>
          <a:lstStyle/>
          <a:p>
            <a:pPr algn="ctr" indent="0" marL="0">
              <a:buNone/>
            </a:pPr>
            <a:r>
              <a:rPr lang="en-US" sz="950" dirty="0">
                <a:solidFill>
                  <a:srgbClr val="202020"/>
                </a:solidFill>
                <a:latin typeface="Consolas" pitchFamily="34" charset="0"/>
                <a:ea typeface="Consolas" pitchFamily="34" charset="-122"/>
                <a:cs typeface="Consolas" pitchFamily="34" charset="-120"/>
              </a:rPr>
              <a:t>CH4</a:t>
            </a:r>
            <a:endParaRPr lang="en-US" sz="950" dirty="0"/>
          </a:p>
        </p:txBody>
      </p:sp>
      <p:sp>
        <p:nvSpPr>
          <p:cNvPr id="7" name="Shape 5"/>
          <p:cNvSpPr/>
          <p:nvPr/>
        </p:nvSpPr>
        <p:spPr>
          <a:xfrm>
            <a:off x="1664208" y="1664208"/>
            <a:ext cx="548640" cy="0"/>
          </a:xfrm>
          <a:prstGeom prst="line">
            <a:avLst/>
          </a:prstGeom>
          <a:noFill/>
          <a:ln w="15240">
            <a:solidFill>
              <a:srgbClr val="595959"/>
            </a:solidFill>
            <a:prstDash val="solid"/>
            <a:headEnd type="none"/>
            <a:tailEnd type="triangle"/>
          </a:ln>
        </p:spPr>
      </p:sp>
      <p:sp>
        <p:nvSpPr>
          <p:cNvPr id="8" name="Text 6"/>
          <p:cNvSpPr txBox="1"/>
          <p:nvPr/>
        </p:nvSpPr>
        <p:spPr>
          <a:xfrm>
            <a:off x="2212848" y="1481328"/>
            <a:ext cx="2103120" cy="365760"/>
          </a:xfrm>
          <a:prstGeom prst="rect">
            <a:avLst/>
          </a:prstGeom>
          <a:solidFill>
            <a:srgbClr val="F7F7F9"/>
          </a:solidFill>
          <a:ln w="12700">
            <a:solidFill>
              <a:srgbClr val="7F7F7F"/>
            </a:solidFill>
            <a:prstDash val="solid"/>
          </a:ln>
        </p:spPr>
        <p:txBody>
          <a:bodyPr wrap="square" lIns="0" tIns="0" rIns="0" bIns="0" rtlCol="0" anchor="ctr"/>
          <a:lstStyle/>
          <a:p>
            <a:pPr algn="ctr" indent="0" marL="0">
              <a:buNone/>
            </a:pPr>
            <a:r>
              <a:rPr lang="en-US" sz="900" dirty="0">
                <a:solidFill>
                  <a:srgbClr val="202020"/>
                </a:solidFill>
                <a:latin typeface="Calibri" pitchFamily="34" charset="0"/>
                <a:ea typeface="Calibri" pitchFamily="34" charset="-122"/>
                <a:cs typeface="Calibri" pitchFamily="34" charset="-120"/>
              </a:rPr>
              <a:t>one number, scaled</a:t>
            </a:r>
            <a:endParaRPr lang="en-US" sz="900" dirty="0"/>
          </a:p>
        </p:txBody>
      </p:sp>
      <p:sp>
        <p:nvSpPr>
          <p:cNvPr id="9" name="Text 7"/>
          <p:cNvSpPr txBox="1"/>
          <p:nvPr/>
        </p:nvSpPr>
        <p:spPr>
          <a:xfrm>
            <a:off x="658368" y="2048256"/>
            <a:ext cx="1005840" cy="365760"/>
          </a:xfrm>
          <a:prstGeom prst="rect">
            <a:avLst/>
          </a:prstGeom>
          <a:solidFill>
            <a:srgbClr val="BDD7EE"/>
          </a:solidFill>
          <a:ln w="12700">
            <a:solidFill>
              <a:srgbClr val="7F7F7F"/>
            </a:solidFill>
            <a:prstDash val="solid"/>
          </a:ln>
        </p:spPr>
        <p:txBody>
          <a:bodyPr wrap="square" lIns="0" tIns="0" rIns="0" bIns="0" rtlCol="0" anchor="ctr"/>
          <a:lstStyle/>
          <a:p>
            <a:pPr algn="ctr" indent="0" marL="0">
              <a:buNone/>
            </a:pPr>
            <a:r>
              <a:rPr lang="en-US" sz="950" dirty="0">
                <a:solidFill>
                  <a:srgbClr val="202020"/>
                </a:solidFill>
                <a:latin typeface="Consolas" pitchFamily="34" charset="0"/>
                <a:ea typeface="Consolas" pitchFamily="34" charset="-122"/>
                <a:cs typeface="Consolas" pitchFamily="34" charset="-120"/>
              </a:rPr>
              <a:t>SO4</a:t>
            </a:r>
            <a:endParaRPr lang="en-US" sz="950" dirty="0"/>
          </a:p>
        </p:txBody>
      </p:sp>
      <p:sp>
        <p:nvSpPr>
          <p:cNvPr id="10" name="Shape 8"/>
          <p:cNvSpPr/>
          <p:nvPr/>
        </p:nvSpPr>
        <p:spPr>
          <a:xfrm>
            <a:off x="1664208" y="2231136"/>
            <a:ext cx="548640" cy="0"/>
          </a:xfrm>
          <a:prstGeom prst="line">
            <a:avLst/>
          </a:prstGeom>
          <a:noFill/>
          <a:ln w="15240">
            <a:solidFill>
              <a:srgbClr val="595959"/>
            </a:solidFill>
            <a:prstDash val="solid"/>
            <a:headEnd type="none"/>
            <a:tailEnd type="triangle"/>
          </a:ln>
        </p:spPr>
      </p:sp>
      <p:sp>
        <p:nvSpPr>
          <p:cNvPr id="11" name="Text 9"/>
          <p:cNvSpPr txBox="1"/>
          <p:nvPr/>
        </p:nvSpPr>
        <p:spPr>
          <a:xfrm>
            <a:off x="2212848" y="2048256"/>
            <a:ext cx="2103120" cy="365760"/>
          </a:xfrm>
          <a:prstGeom prst="rect">
            <a:avLst/>
          </a:prstGeom>
          <a:solidFill>
            <a:srgbClr val="F7F7F9"/>
          </a:solidFill>
          <a:ln w="12700">
            <a:solidFill>
              <a:srgbClr val="7F7F7F"/>
            </a:solidFill>
            <a:prstDash val="solid"/>
          </a:ln>
        </p:spPr>
        <p:txBody>
          <a:bodyPr wrap="square" lIns="0" tIns="0" rIns="0" bIns="0" rtlCol="0" anchor="ctr"/>
          <a:lstStyle/>
          <a:p>
            <a:pPr algn="ctr" indent="0" marL="0">
              <a:buNone/>
            </a:pPr>
            <a:r>
              <a:rPr lang="en-US" sz="900" dirty="0">
                <a:solidFill>
                  <a:srgbClr val="202020"/>
                </a:solidFill>
                <a:latin typeface="Calibri" pitchFamily="34" charset="0"/>
                <a:ea typeface="Calibri" pitchFamily="34" charset="-122"/>
                <a:cs typeface="Calibri" pitchFamily="34" charset="-120"/>
              </a:rPr>
              <a:t>one number, scaled</a:t>
            </a:r>
            <a:endParaRPr lang="en-US" sz="900" dirty="0"/>
          </a:p>
        </p:txBody>
      </p:sp>
      <p:sp>
        <p:nvSpPr>
          <p:cNvPr id="12" name="Text 10"/>
          <p:cNvSpPr txBox="1"/>
          <p:nvPr/>
        </p:nvSpPr>
        <p:spPr>
          <a:xfrm>
            <a:off x="658368" y="2615184"/>
            <a:ext cx="1005840" cy="365760"/>
          </a:xfrm>
          <a:prstGeom prst="rect">
            <a:avLst/>
          </a:prstGeom>
          <a:solidFill>
            <a:srgbClr val="BDD7EE"/>
          </a:solidFill>
          <a:ln w="12700">
            <a:solidFill>
              <a:srgbClr val="7F7F7F"/>
            </a:solidFill>
            <a:prstDash val="solid"/>
          </a:ln>
        </p:spPr>
        <p:txBody>
          <a:bodyPr wrap="square" lIns="0" tIns="0" rIns="0" bIns="0" rtlCol="0" anchor="ctr"/>
          <a:lstStyle/>
          <a:p>
            <a:pPr algn="ctr" indent="0" marL="0">
              <a:buNone/>
            </a:pPr>
            <a:r>
              <a:rPr lang="en-US" sz="950" dirty="0">
                <a:solidFill>
                  <a:srgbClr val="202020"/>
                </a:solidFill>
                <a:latin typeface="Consolas" pitchFamily="34" charset="0"/>
                <a:ea typeface="Consolas" pitchFamily="34" charset="-122"/>
                <a:cs typeface="Consolas" pitchFamily="34" charset="-120"/>
              </a:rPr>
              <a:t>HS</a:t>
            </a:r>
            <a:endParaRPr lang="en-US" sz="950" dirty="0"/>
          </a:p>
        </p:txBody>
      </p:sp>
      <p:sp>
        <p:nvSpPr>
          <p:cNvPr id="13" name="Shape 11"/>
          <p:cNvSpPr/>
          <p:nvPr/>
        </p:nvSpPr>
        <p:spPr>
          <a:xfrm>
            <a:off x="1664208" y="2798064"/>
            <a:ext cx="548640" cy="0"/>
          </a:xfrm>
          <a:prstGeom prst="line">
            <a:avLst/>
          </a:prstGeom>
          <a:noFill/>
          <a:ln w="15240">
            <a:solidFill>
              <a:srgbClr val="595959"/>
            </a:solidFill>
            <a:prstDash val="solid"/>
            <a:headEnd type="none"/>
            <a:tailEnd type="triangle"/>
          </a:ln>
        </p:spPr>
      </p:sp>
      <p:sp>
        <p:nvSpPr>
          <p:cNvPr id="14" name="Text 12"/>
          <p:cNvSpPr txBox="1"/>
          <p:nvPr/>
        </p:nvSpPr>
        <p:spPr>
          <a:xfrm>
            <a:off x="2212848" y="2615184"/>
            <a:ext cx="2103120" cy="365760"/>
          </a:xfrm>
          <a:prstGeom prst="rect">
            <a:avLst/>
          </a:prstGeom>
          <a:solidFill>
            <a:srgbClr val="F7F7F9"/>
          </a:solidFill>
          <a:ln w="12700">
            <a:solidFill>
              <a:srgbClr val="7F7F7F"/>
            </a:solidFill>
            <a:prstDash val="solid"/>
          </a:ln>
        </p:spPr>
        <p:txBody>
          <a:bodyPr wrap="square" lIns="0" tIns="0" rIns="0" bIns="0" rtlCol="0" anchor="ctr"/>
          <a:lstStyle/>
          <a:p>
            <a:pPr algn="ctr" indent="0" marL="0">
              <a:buNone/>
            </a:pPr>
            <a:r>
              <a:rPr lang="en-US" sz="900" dirty="0">
                <a:solidFill>
                  <a:srgbClr val="202020"/>
                </a:solidFill>
                <a:latin typeface="Calibri" pitchFamily="34" charset="0"/>
                <a:ea typeface="Calibri" pitchFamily="34" charset="-122"/>
                <a:cs typeface="Calibri" pitchFamily="34" charset="-120"/>
              </a:rPr>
              <a:t>one number, scaled</a:t>
            </a:r>
            <a:endParaRPr lang="en-US" sz="900" dirty="0"/>
          </a:p>
        </p:txBody>
      </p:sp>
      <p:sp>
        <p:nvSpPr>
          <p:cNvPr id="15" name="Text 13"/>
          <p:cNvSpPr txBox="1"/>
          <p:nvPr/>
        </p:nvSpPr>
        <p:spPr>
          <a:xfrm>
            <a:off x="658368" y="3182112"/>
            <a:ext cx="1005840" cy="365760"/>
          </a:xfrm>
          <a:prstGeom prst="rect">
            <a:avLst/>
          </a:prstGeom>
          <a:solidFill>
            <a:srgbClr val="BDD7EE"/>
          </a:solidFill>
          <a:ln w="12700">
            <a:solidFill>
              <a:srgbClr val="7F7F7F"/>
            </a:solidFill>
            <a:prstDash val="solid"/>
          </a:ln>
        </p:spPr>
        <p:txBody>
          <a:bodyPr wrap="square" lIns="0" tIns="0" rIns="0" bIns="0" rtlCol="0" anchor="ctr"/>
          <a:lstStyle/>
          <a:p>
            <a:pPr algn="ctr" indent="0" marL="0">
              <a:buNone/>
            </a:pPr>
            <a:r>
              <a:rPr lang="en-US" sz="950" dirty="0">
                <a:solidFill>
                  <a:srgbClr val="202020"/>
                </a:solidFill>
                <a:latin typeface="Consolas" pitchFamily="34" charset="0"/>
                <a:ea typeface="Consolas" pitchFamily="34" charset="-122"/>
                <a:cs typeface="Consolas" pitchFamily="34" charset="-120"/>
              </a:rPr>
              <a:t>HCO3</a:t>
            </a:r>
            <a:endParaRPr lang="en-US" sz="950" dirty="0"/>
          </a:p>
        </p:txBody>
      </p:sp>
      <p:sp>
        <p:nvSpPr>
          <p:cNvPr id="16" name="Shape 14"/>
          <p:cNvSpPr/>
          <p:nvPr/>
        </p:nvSpPr>
        <p:spPr>
          <a:xfrm>
            <a:off x="1664208" y="3364992"/>
            <a:ext cx="548640" cy="0"/>
          </a:xfrm>
          <a:prstGeom prst="line">
            <a:avLst/>
          </a:prstGeom>
          <a:noFill/>
          <a:ln w="15240">
            <a:solidFill>
              <a:srgbClr val="595959"/>
            </a:solidFill>
            <a:prstDash val="solid"/>
            <a:headEnd type="none"/>
            <a:tailEnd type="triangle"/>
          </a:ln>
        </p:spPr>
      </p:sp>
      <p:sp>
        <p:nvSpPr>
          <p:cNvPr id="17" name="Text 15"/>
          <p:cNvSpPr txBox="1"/>
          <p:nvPr/>
        </p:nvSpPr>
        <p:spPr>
          <a:xfrm>
            <a:off x="2212848" y="3182112"/>
            <a:ext cx="2103120" cy="365760"/>
          </a:xfrm>
          <a:prstGeom prst="rect">
            <a:avLst/>
          </a:prstGeom>
          <a:solidFill>
            <a:srgbClr val="F7F7F9"/>
          </a:solidFill>
          <a:ln w="12700">
            <a:solidFill>
              <a:srgbClr val="7F7F7F"/>
            </a:solidFill>
            <a:prstDash val="solid"/>
          </a:ln>
        </p:spPr>
        <p:txBody>
          <a:bodyPr wrap="square" lIns="0" tIns="0" rIns="0" bIns="0" rtlCol="0" anchor="ctr"/>
          <a:lstStyle/>
          <a:p>
            <a:pPr algn="ctr" indent="0" marL="0">
              <a:buNone/>
            </a:pPr>
            <a:r>
              <a:rPr lang="en-US" sz="900" dirty="0">
                <a:solidFill>
                  <a:srgbClr val="202020"/>
                </a:solidFill>
                <a:latin typeface="Calibri" pitchFamily="34" charset="0"/>
                <a:ea typeface="Calibri" pitchFamily="34" charset="-122"/>
                <a:cs typeface="Calibri" pitchFamily="34" charset="-120"/>
              </a:rPr>
              <a:t>one number, scaled</a:t>
            </a:r>
            <a:endParaRPr lang="en-US" sz="900" dirty="0"/>
          </a:p>
        </p:txBody>
      </p:sp>
      <p:sp>
        <p:nvSpPr>
          <p:cNvPr id="18" name="Text 16"/>
          <p:cNvSpPr txBox="1"/>
          <p:nvPr/>
        </p:nvSpPr>
        <p:spPr>
          <a:xfrm>
            <a:off x="621792" y="3858768"/>
            <a:ext cx="3749040" cy="329184"/>
          </a:xfrm>
          <a:prstGeom prst="rect">
            <a:avLst/>
          </a:prstGeom>
          <a:noFill/>
          <a:ln/>
        </p:spPr>
        <p:txBody>
          <a:bodyPr wrap="square" lIns="0" tIns="0" rIns="0" bIns="0" rtlCol="0" anchor="t"/>
          <a:lstStyle/>
          <a:p>
            <a:pPr algn="l" indent="0" marL="0">
              <a:lnSpc>
                <a:spcPts val="1100"/>
              </a:lnSpc>
              <a:buNone/>
            </a:pPr>
            <a:r>
              <a:rPr lang="en-US" sz="900" i="1" dirty="0">
                <a:solidFill>
                  <a:srgbClr val="606060"/>
                </a:solidFill>
                <a:latin typeface="Calibri" pitchFamily="34" charset="0"/>
                <a:ea typeface="Calibri" pitchFamily="34" charset="-122"/>
                <a:cs typeface="Calibri" pitchFamily="34" charset="-120"/>
              </a:rPr>
              <a:t>four independent numbers. Nothing in the arithmetic ties them together.</a:t>
            </a:r>
            <a:endParaRPr lang="en-US" sz="900" dirty="0"/>
          </a:p>
        </p:txBody>
      </p:sp>
      <p:sp>
        <p:nvSpPr>
          <p:cNvPr id="19" name="Shape 17"/>
          <p:cNvSpPr/>
          <p:nvPr/>
        </p:nvSpPr>
        <p:spPr>
          <a:xfrm>
            <a:off x="4663440" y="1005840"/>
            <a:ext cx="4069080" cy="3246120"/>
          </a:xfrm>
          <a:prstGeom prst="rect">
            <a:avLst/>
          </a:prstGeom>
          <a:solidFill>
            <a:srgbClr val="F7F7F9"/>
          </a:solidFill>
          <a:ln w="12700">
            <a:solidFill>
              <a:srgbClr val="BFBFBF"/>
            </a:solidFill>
            <a:prstDash val="solid"/>
          </a:ln>
        </p:spPr>
      </p:sp>
      <p:sp>
        <p:nvSpPr>
          <p:cNvPr id="20" name="Text 18"/>
          <p:cNvSpPr txBox="1"/>
          <p:nvPr/>
        </p:nvSpPr>
        <p:spPr>
          <a:xfrm>
            <a:off x="4791456" y="1078992"/>
            <a:ext cx="3813048" cy="237744"/>
          </a:xfrm>
          <a:prstGeom prst="rect">
            <a:avLst/>
          </a:prstGeom>
          <a:noFill/>
          <a:ln/>
        </p:spPr>
        <p:txBody>
          <a:bodyPr wrap="square" lIns="0" tIns="0" rIns="0" bIns="0" rtlCol="0" anchor="t"/>
          <a:lstStyle/>
          <a:p>
            <a:pPr algn="l" indent="0" marL="0">
              <a:buNone/>
            </a:pPr>
            <a:r>
              <a:rPr lang="en-US" sz="950" b="1" dirty="0">
                <a:solidFill>
                  <a:srgbClr val="B0603A"/>
                </a:solidFill>
                <a:latin typeface="Calibri" pitchFamily="34" charset="0"/>
                <a:ea typeface="Calibri" pitchFamily="34" charset="-122"/>
                <a:cs typeface="Calibri" pitchFamily="34" charset="-120"/>
              </a:rPr>
              <a:t>extent readout</a:t>
            </a:r>
            <a:endParaRPr lang="en-US" sz="950" dirty="0"/>
          </a:p>
        </p:txBody>
      </p:sp>
      <p:sp>
        <p:nvSpPr>
          <p:cNvPr id="21" name="Text 19"/>
          <p:cNvSpPr txBox="1"/>
          <p:nvPr/>
        </p:nvSpPr>
        <p:spPr>
          <a:xfrm>
            <a:off x="4919472" y="1517904"/>
            <a:ext cx="914400" cy="365760"/>
          </a:xfrm>
          <a:prstGeom prst="rect">
            <a:avLst/>
          </a:prstGeom>
          <a:solidFill>
            <a:srgbClr val="F2B2B2"/>
          </a:solidFill>
          <a:ln w="12700">
            <a:solidFill>
              <a:srgbClr val="7F7F7F"/>
            </a:solidFill>
            <a:prstDash val="solid"/>
          </a:ln>
        </p:spPr>
        <p:txBody>
          <a:bodyPr wrap="square" lIns="0" tIns="0" rIns="0" bIns="0" rtlCol="0" anchor="ctr"/>
          <a:lstStyle/>
          <a:p>
            <a:pPr algn="ctr" indent="0" marL="0">
              <a:buNone/>
            </a:pPr>
            <a:r>
              <a:rPr lang="en-US" sz="950" b="1" dirty="0">
                <a:solidFill>
                  <a:srgbClr val="202020"/>
                </a:solidFill>
                <a:latin typeface="Consolas" pitchFamily="34" charset="0"/>
                <a:ea typeface="Consolas" pitchFamily="34" charset="-122"/>
                <a:cs typeface="Consolas" pitchFamily="34" charset="-120"/>
              </a:rPr>
              <a:t>R1</a:t>
            </a:r>
            <a:endParaRPr lang="en-US" sz="950" dirty="0"/>
          </a:p>
        </p:txBody>
      </p:sp>
      <p:sp>
        <p:nvSpPr>
          <p:cNvPr id="22" name="Text 20"/>
          <p:cNvSpPr txBox="1"/>
          <p:nvPr/>
        </p:nvSpPr>
        <p:spPr>
          <a:xfrm>
            <a:off x="4919472" y="2121408"/>
            <a:ext cx="914400" cy="365760"/>
          </a:xfrm>
          <a:prstGeom prst="rect">
            <a:avLst/>
          </a:prstGeom>
          <a:solidFill>
            <a:srgbClr val="F2B2B2"/>
          </a:solidFill>
          <a:ln w="12700">
            <a:solidFill>
              <a:srgbClr val="7F7F7F"/>
            </a:solidFill>
            <a:prstDash val="solid"/>
          </a:ln>
        </p:spPr>
        <p:txBody>
          <a:bodyPr wrap="square" lIns="0" tIns="0" rIns="0" bIns="0" rtlCol="0" anchor="ctr"/>
          <a:lstStyle/>
          <a:p>
            <a:pPr algn="ctr" indent="0" marL="0">
              <a:buNone/>
            </a:pPr>
            <a:r>
              <a:rPr lang="en-US" sz="950" b="1" dirty="0">
                <a:solidFill>
                  <a:srgbClr val="202020"/>
                </a:solidFill>
                <a:latin typeface="Consolas" pitchFamily="34" charset="0"/>
                <a:ea typeface="Consolas" pitchFamily="34" charset="-122"/>
                <a:cs typeface="Consolas" pitchFamily="34" charset="-120"/>
              </a:rPr>
              <a:t>R2</a:t>
            </a:r>
            <a:endParaRPr lang="en-US" sz="950" dirty="0"/>
          </a:p>
        </p:txBody>
      </p:sp>
      <p:sp>
        <p:nvSpPr>
          <p:cNvPr id="23" name="Shape 21"/>
          <p:cNvSpPr/>
          <p:nvPr/>
        </p:nvSpPr>
        <p:spPr>
          <a:xfrm>
            <a:off x="5833872" y="1700784"/>
            <a:ext cx="429768" cy="0"/>
          </a:xfrm>
          <a:prstGeom prst="line">
            <a:avLst/>
          </a:prstGeom>
          <a:noFill/>
          <a:ln w="15240">
            <a:solidFill>
              <a:srgbClr val="595959"/>
            </a:solidFill>
            <a:prstDash val="solid"/>
            <a:headEnd type="none"/>
            <a:tailEnd type="triangle"/>
          </a:ln>
        </p:spPr>
      </p:sp>
      <p:sp>
        <p:nvSpPr>
          <p:cNvPr id="24" name="Shape 22"/>
          <p:cNvSpPr/>
          <p:nvPr/>
        </p:nvSpPr>
        <p:spPr>
          <a:xfrm>
            <a:off x="5833872" y="2304288"/>
            <a:ext cx="429768" cy="0"/>
          </a:xfrm>
          <a:prstGeom prst="line">
            <a:avLst/>
          </a:prstGeom>
          <a:noFill/>
          <a:ln w="15240">
            <a:solidFill>
              <a:srgbClr val="595959"/>
            </a:solidFill>
            <a:prstDash val="solid"/>
            <a:headEnd type="none"/>
            <a:tailEnd type="triangle"/>
          </a:ln>
        </p:spPr>
      </p:sp>
      <p:sp>
        <p:nvSpPr>
          <p:cNvPr id="25" name="Text 23"/>
          <p:cNvSpPr txBox="1"/>
          <p:nvPr/>
        </p:nvSpPr>
        <p:spPr>
          <a:xfrm>
            <a:off x="6263640" y="1517904"/>
            <a:ext cx="822960" cy="365760"/>
          </a:xfrm>
          <a:prstGeom prst="rect">
            <a:avLst/>
          </a:prstGeom>
          <a:solidFill>
            <a:srgbClr val="F7F7F9"/>
          </a:solidFill>
          <a:ln w="12700">
            <a:solidFill>
              <a:srgbClr val="7F7F7F"/>
            </a:solidFill>
            <a:prstDash val="solid"/>
          </a:ln>
        </p:spPr>
        <p:txBody>
          <a:bodyPr wrap="square" lIns="0" tIns="0" rIns="0" bIns="0" rtlCol="0" anchor="ctr"/>
          <a:lstStyle/>
          <a:p>
            <a:pPr algn="ctr" indent="0" marL="0">
              <a:buNone/>
            </a:pPr>
            <a:r>
              <a:rPr lang="en-US" sz="1100" dirty="0">
                <a:solidFill>
                  <a:srgbClr val="202020"/>
                </a:solidFill>
                <a:latin typeface="Consolas" pitchFamily="34" charset="0"/>
                <a:ea typeface="Consolas" pitchFamily="34" charset="-122"/>
                <a:cs typeface="Consolas" pitchFamily="34" charset="-120"/>
              </a:rPr>
              <a:t>ξ₁</a:t>
            </a:r>
            <a:endParaRPr lang="en-US" sz="1100" dirty="0"/>
          </a:p>
        </p:txBody>
      </p:sp>
      <p:sp>
        <p:nvSpPr>
          <p:cNvPr id="26" name="Text 24"/>
          <p:cNvSpPr txBox="1"/>
          <p:nvPr/>
        </p:nvSpPr>
        <p:spPr>
          <a:xfrm>
            <a:off x="6263640" y="2121408"/>
            <a:ext cx="822960" cy="365760"/>
          </a:xfrm>
          <a:prstGeom prst="rect">
            <a:avLst/>
          </a:prstGeom>
          <a:solidFill>
            <a:srgbClr val="F7F7F9"/>
          </a:solidFill>
          <a:ln w="12700">
            <a:solidFill>
              <a:srgbClr val="7F7F7F"/>
            </a:solidFill>
            <a:prstDash val="solid"/>
          </a:ln>
        </p:spPr>
        <p:txBody>
          <a:bodyPr wrap="square" lIns="0" tIns="0" rIns="0" bIns="0" rtlCol="0" anchor="ctr"/>
          <a:lstStyle/>
          <a:p>
            <a:pPr algn="ctr" indent="0" marL="0">
              <a:buNone/>
            </a:pPr>
            <a:r>
              <a:rPr lang="en-US" sz="1100" dirty="0">
                <a:solidFill>
                  <a:srgbClr val="202020"/>
                </a:solidFill>
                <a:latin typeface="Consolas" pitchFamily="34" charset="0"/>
                <a:ea typeface="Consolas" pitchFamily="34" charset="-122"/>
                <a:cs typeface="Consolas" pitchFamily="34" charset="-120"/>
              </a:rPr>
              <a:t>ξ₂</a:t>
            </a:r>
            <a:endParaRPr lang="en-US" sz="1100" dirty="0"/>
          </a:p>
        </p:txBody>
      </p:sp>
      <p:sp>
        <p:nvSpPr>
          <p:cNvPr id="27" name="Shape 25"/>
          <p:cNvSpPr/>
          <p:nvPr/>
        </p:nvSpPr>
        <p:spPr>
          <a:xfrm>
            <a:off x="7086600" y="1700784"/>
            <a:ext cx="274320" cy="0"/>
          </a:xfrm>
          <a:prstGeom prst="line">
            <a:avLst/>
          </a:prstGeom>
          <a:noFill/>
          <a:ln w="15875">
            <a:solidFill>
              <a:srgbClr val="595959"/>
            </a:solidFill>
            <a:prstDash val="solid"/>
            <a:headEnd type="none"/>
            <a:tailEnd type="none"/>
          </a:ln>
        </p:spPr>
      </p:sp>
      <p:sp>
        <p:nvSpPr>
          <p:cNvPr id="28" name="Shape 26"/>
          <p:cNvSpPr/>
          <p:nvPr/>
        </p:nvSpPr>
        <p:spPr>
          <a:xfrm>
            <a:off x="7360920" y="1700784"/>
            <a:ext cx="0" cy="301752"/>
          </a:xfrm>
          <a:prstGeom prst="line">
            <a:avLst/>
          </a:prstGeom>
          <a:noFill/>
          <a:ln w="15875">
            <a:solidFill>
              <a:srgbClr val="595959"/>
            </a:solidFill>
            <a:prstDash val="solid"/>
            <a:headEnd type="none"/>
            <a:tailEnd type="none"/>
          </a:ln>
        </p:spPr>
      </p:sp>
      <p:sp>
        <p:nvSpPr>
          <p:cNvPr id="29" name="Shape 27"/>
          <p:cNvSpPr/>
          <p:nvPr/>
        </p:nvSpPr>
        <p:spPr>
          <a:xfrm>
            <a:off x="7360920" y="2002536"/>
            <a:ext cx="274320" cy="0"/>
          </a:xfrm>
          <a:prstGeom prst="line">
            <a:avLst/>
          </a:prstGeom>
          <a:noFill/>
          <a:ln w="15875">
            <a:solidFill>
              <a:srgbClr val="595959"/>
            </a:solidFill>
            <a:prstDash val="solid"/>
            <a:headEnd type="none"/>
            <a:tailEnd type="triangle"/>
          </a:ln>
        </p:spPr>
      </p:sp>
      <p:sp>
        <p:nvSpPr>
          <p:cNvPr id="30" name="Shape 28"/>
          <p:cNvSpPr/>
          <p:nvPr/>
        </p:nvSpPr>
        <p:spPr>
          <a:xfrm>
            <a:off x="7086600" y="2304288"/>
            <a:ext cx="274320" cy="0"/>
          </a:xfrm>
          <a:prstGeom prst="line">
            <a:avLst/>
          </a:prstGeom>
          <a:noFill/>
          <a:ln w="15875">
            <a:solidFill>
              <a:srgbClr val="595959"/>
            </a:solidFill>
            <a:prstDash val="solid"/>
            <a:headEnd type="none"/>
            <a:tailEnd type="none"/>
          </a:ln>
        </p:spPr>
      </p:sp>
      <p:sp>
        <p:nvSpPr>
          <p:cNvPr id="31" name="Shape 29"/>
          <p:cNvSpPr/>
          <p:nvPr/>
        </p:nvSpPr>
        <p:spPr>
          <a:xfrm flipV="1">
            <a:off x="7360920" y="2002536"/>
            <a:ext cx="0" cy="301752"/>
          </a:xfrm>
          <a:prstGeom prst="line">
            <a:avLst/>
          </a:prstGeom>
          <a:noFill/>
          <a:ln w="15875">
            <a:solidFill>
              <a:srgbClr val="595959"/>
            </a:solidFill>
            <a:prstDash val="solid"/>
            <a:headEnd type="none"/>
            <a:tailEnd type="none"/>
          </a:ln>
        </p:spPr>
      </p:sp>
      <p:sp>
        <p:nvSpPr>
          <p:cNvPr id="32" name="Shape 30"/>
          <p:cNvSpPr/>
          <p:nvPr/>
        </p:nvSpPr>
        <p:spPr>
          <a:xfrm>
            <a:off x="7360920" y="2002536"/>
            <a:ext cx="274320" cy="0"/>
          </a:xfrm>
          <a:prstGeom prst="line">
            <a:avLst/>
          </a:prstGeom>
          <a:noFill/>
          <a:ln w="15875">
            <a:solidFill>
              <a:srgbClr val="595959"/>
            </a:solidFill>
            <a:prstDash val="solid"/>
            <a:headEnd type="none"/>
            <a:tailEnd type="triangle"/>
          </a:ln>
        </p:spPr>
      </p:sp>
      <p:sp>
        <p:nvSpPr>
          <p:cNvPr id="33" name="Text 31"/>
          <p:cNvSpPr txBox="1"/>
          <p:nvPr/>
        </p:nvSpPr>
        <p:spPr>
          <a:xfrm>
            <a:off x="7635240" y="1636776"/>
            <a:ext cx="914400" cy="731520"/>
          </a:xfrm>
          <a:prstGeom prst="rect">
            <a:avLst/>
          </a:prstGeom>
          <a:solidFill>
            <a:srgbClr val="C6E0B4"/>
          </a:solidFill>
          <a:ln w="12700">
            <a:solidFill>
              <a:srgbClr val="7F7F7F"/>
            </a:solidFill>
            <a:prstDash val="solid"/>
          </a:ln>
        </p:spPr>
        <p:txBody>
          <a:bodyPr wrap="square" lIns="0" tIns="0" rIns="0" bIns="0" rtlCol="0" anchor="ctr"/>
          <a:lstStyle/>
          <a:p>
            <a:pPr algn="ctr" indent="0" marL="0">
              <a:buNone/>
            </a:pPr>
            <a:r>
              <a:rPr lang="en-US" sz="900" dirty="0">
                <a:solidFill>
                  <a:srgbClr val="202020"/>
                </a:solidFill>
                <a:latin typeface="Calibri" pitchFamily="34" charset="0"/>
                <a:ea typeface="Calibri" pitchFamily="34" charset="-122"/>
                <a:cs typeface="Calibri" pitchFamily="34" charset="-120"/>
              </a:rPr>
              <a:t>the four</a:t>
            </a:r>
            <a:endParaRPr lang="en-US" sz="900" dirty="0"/>
          </a:p>
          <a:p>
            <a:pPr algn="ctr" indent="0" marL="0">
              <a:buNone/>
            </a:pPr>
            <a:r>
              <a:rPr lang="en-US" sz="900" dirty="0">
                <a:solidFill>
                  <a:srgbClr val="202020"/>
                </a:solidFill>
                <a:latin typeface="Calibri" pitchFamily="34" charset="0"/>
                <a:ea typeface="Calibri" pitchFamily="34" charset="-122"/>
                <a:cs typeface="Calibri" pitchFamily="34" charset="-120"/>
              </a:rPr>
              <a:t>species rates</a:t>
            </a:r>
            <a:endParaRPr lang="en-US" sz="900" dirty="0"/>
          </a:p>
        </p:txBody>
      </p:sp>
      <p:sp>
        <p:nvSpPr>
          <p:cNvPr id="34" name="Shape 32"/>
          <p:cNvSpPr/>
          <p:nvPr/>
        </p:nvSpPr>
        <p:spPr>
          <a:xfrm>
            <a:off x="4919472" y="2788920"/>
            <a:ext cx="3630168" cy="365760"/>
          </a:xfrm>
          <a:prstGeom prst="rect">
            <a:avLst/>
          </a:prstGeom>
          <a:solidFill>
            <a:srgbClr val="F7F7F9"/>
          </a:solidFill>
          <a:ln w="12700">
            <a:solidFill>
              <a:srgbClr val="BFBFBF"/>
            </a:solidFill>
            <a:prstDash val="solid"/>
          </a:ln>
        </p:spPr>
      </p:sp>
      <p:sp>
        <p:nvSpPr>
          <p:cNvPr id="35" name="Text 33"/>
          <p:cNvSpPr txBox="1"/>
          <p:nvPr/>
        </p:nvSpPr>
        <p:spPr>
          <a:xfrm>
            <a:off x="5038344" y="2880360"/>
            <a:ext cx="3392424" cy="182880"/>
          </a:xfrm>
          <a:prstGeom prst="rect">
            <a:avLst/>
          </a:prstGeom>
          <a:noFill/>
          <a:ln/>
        </p:spPr>
        <p:txBody>
          <a:bodyPr wrap="square" lIns="0" tIns="0" rIns="0" bIns="0" rtlCol="0" anchor="t"/>
          <a:lstStyle/>
          <a:p>
            <a:pPr algn="l" indent="0" marL="0">
              <a:lnSpc>
                <a:spcPts val="1200"/>
              </a:lnSpc>
              <a:buNone/>
            </a:pPr>
            <a:r>
              <a:rPr lang="en-US" sz="1050" dirty="0">
                <a:solidFill>
                  <a:srgbClr val="202020"/>
                </a:solidFill>
                <a:latin typeface="Consolas" pitchFamily="34" charset="0"/>
                <a:ea typeface="Consolas" pitchFamily="34" charset="-122"/>
                <a:cs typeface="Consolas" pitchFamily="34" charset="-120"/>
              </a:rPr>
              <a:t>r_i  =  SUM_r  S[i][r] * xi_r</a:t>
            </a:r>
            <a:endParaRPr lang="en-US" sz="1050" dirty="0"/>
          </a:p>
        </p:txBody>
      </p:sp>
      <p:sp>
        <p:nvSpPr>
          <p:cNvPr id="36" name="Text 34"/>
          <p:cNvSpPr txBox="1"/>
          <p:nvPr/>
        </p:nvSpPr>
        <p:spPr>
          <a:xfrm>
            <a:off x="4882896" y="3273552"/>
            <a:ext cx="3749040" cy="457200"/>
          </a:xfrm>
          <a:prstGeom prst="rect">
            <a:avLst/>
          </a:prstGeom>
          <a:noFill/>
          <a:ln/>
        </p:spPr>
        <p:txBody>
          <a:bodyPr wrap="square" lIns="0" tIns="0" rIns="0" bIns="0" rtlCol="0" anchor="t"/>
          <a:lstStyle/>
          <a:p>
            <a:pPr algn="l" indent="0" marL="0">
              <a:lnSpc>
                <a:spcPts val="1100"/>
              </a:lnSpc>
              <a:buNone/>
            </a:pPr>
            <a:r>
              <a:rPr lang="en-US" sz="900" i="1" dirty="0">
                <a:solidFill>
                  <a:srgbClr val="606060"/>
                </a:solidFill>
                <a:latin typeface="Calibri" pitchFamily="34" charset="0"/>
                <a:ea typeface="Calibri" pitchFamily="34" charset="-122"/>
                <a:cs typeface="Calibri" pitchFamily="34" charset="-120"/>
              </a:rPr>
              <a:t>one extent per reaction, and the species rates built from the matrix, so their ratios are whatever the matrix says.</a:t>
            </a:r>
            <a:endParaRPr lang="en-US" sz="900" dirty="0"/>
          </a:p>
        </p:txBody>
      </p:sp>
      <p:sp>
        <p:nvSpPr>
          <p:cNvPr id="37" name="Text 35"/>
          <p:cNvSpPr txBox="1"/>
          <p:nvPr/>
        </p:nvSpPr>
        <p:spPr>
          <a:xfrm>
            <a:off x="457200" y="4498848"/>
            <a:ext cx="6035040" cy="237744"/>
          </a:xfrm>
          <a:prstGeom prst="rect">
            <a:avLst/>
          </a:prstGeom>
          <a:noFill/>
          <a:ln/>
        </p:spPr>
        <p:txBody>
          <a:bodyPr wrap="square" lIns="0" tIns="0" rIns="0" bIns="0" rtlCol="0" anchor="t"/>
          <a:lstStyle/>
          <a:p>
            <a:pPr algn="l" indent="0" marL="0">
              <a:buNone/>
            </a:pPr>
            <a:r>
              <a:rPr lang="en-US" sz="1000" b="1" dirty="0">
                <a:solidFill>
                  <a:srgbClr val="202020"/>
                </a:solidFill>
                <a:latin typeface="Calibri" pitchFamily="34" charset="0"/>
                <a:ea typeface="Calibri" pitchFamily="34" charset="-122"/>
                <a:cs typeface="Calibri" pitchFamily="34" charset="-120"/>
              </a:rPr>
              <a:t>the same fit, judged on the one thing the chemistry already fixes</a:t>
            </a:r>
            <a:endParaRPr lang="en-US" sz="1000" dirty="0"/>
          </a:p>
        </p:txBody>
      </p:sp>
      <p:sp>
        <p:nvSpPr>
          <p:cNvPr id="38" name="Text 36"/>
          <p:cNvSpPr txBox="1"/>
          <p:nvPr/>
        </p:nvSpPr>
        <p:spPr>
          <a:xfrm>
            <a:off x="457200" y="4754880"/>
            <a:ext cx="6035040" cy="274320"/>
          </a:xfrm>
          <a:prstGeom prst="rect">
            <a:avLst/>
          </a:prstGeom>
          <a:noFill/>
          <a:ln/>
        </p:spPr>
        <p:txBody>
          <a:bodyPr wrap="square" lIns="0" tIns="0" rIns="0" bIns="0" rtlCol="0" anchor="t"/>
          <a:lstStyle/>
          <a:p>
            <a:pPr algn="l" indent="0" marL="0">
              <a:lnSpc>
                <a:spcPts val="1200"/>
              </a:lnSpc>
              <a:buNone/>
            </a:pPr>
            <a:r>
              <a:rPr lang="en-US" sz="900" i="1" dirty="0">
                <a:solidFill>
                  <a:srgbClr val="606060"/>
                </a:solidFill>
                <a:latin typeface="Calibri" pitchFamily="34" charset="0"/>
                <a:ea typeface="Calibri" pitchFamily="34" charset="-122"/>
                <a:cs typeface="Calibri" pitchFamily="34" charset="-120"/>
              </a:rPr>
              <a:t>reaction R1 makes one HS for every CH4 it consumes, so this ratio has to be 1</a:t>
            </a:r>
            <a:endParaRPr lang="en-US" sz="900" dirty="0"/>
          </a:p>
        </p:txBody>
      </p:sp>
      <p:sp>
        <p:nvSpPr>
          <p:cNvPr id="39" name="Text 37"/>
          <p:cNvSpPr txBox="1"/>
          <p:nvPr/>
        </p:nvSpPr>
        <p:spPr>
          <a:xfrm>
            <a:off x="502920" y="5138928"/>
            <a:ext cx="1554480" cy="219456"/>
          </a:xfrm>
          <a:prstGeom prst="rect">
            <a:avLst/>
          </a:prstGeom>
          <a:noFill/>
          <a:ln/>
        </p:spPr>
        <p:txBody>
          <a:bodyPr wrap="square" lIns="0" tIns="0" rIns="0" bIns="0" rtlCol="0" anchor="t"/>
          <a:lstStyle/>
          <a:p>
            <a:pPr algn="l" indent="0" marL="0">
              <a:buNone/>
            </a:pPr>
            <a:r>
              <a:rPr lang="en-US" sz="950" b="1" dirty="0">
                <a:solidFill>
                  <a:srgbClr val="2E6DA4"/>
                </a:solidFill>
                <a:latin typeface="Calibri" pitchFamily="34" charset="0"/>
                <a:ea typeface="Calibri" pitchFamily="34" charset="-122"/>
                <a:cs typeface="Calibri" pitchFamily="34" charset="-120"/>
              </a:rPr>
              <a:t>species readout</a:t>
            </a:r>
            <a:endParaRPr lang="en-US" sz="950" dirty="0"/>
          </a:p>
        </p:txBody>
      </p:sp>
      <p:sp>
        <p:nvSpPr>
          <p:cNvPr id="40" name="Shape 38"/>
          <p:cNvSpPr/>
          <p:nvPr/>
        </p:nvSpPr>
        <p:spPr>
          <a:xfrm>
            <a:off x="2514600" y="5084064"/>
            <a:ext cx="2400300" cy="292608"/>
          </a:xfrm>
          <a:prstGeom prst="rect">
            <a:avLst/>
          </a:prstGeom>
          <a:solidFill>
            <a:srgbClr val="D6E4F0"/>
          </a:solidFill>
          <a:ln w="15240">
            <a:solidFill>
              <a:srgbClr val="2E6DA4"/>
            </a:solidFill>
            <a:prstDash val="solid"/>
          </a:ln>
        </p:spPr>
      </p:sp>
      <p:sp>
        <p:nvSpPr>
          <p:cNvPr id="41" name="Text 39"/>
          <p:cNvSpPr txBox="1"/>
          <p:nvPr/>
        </p:nvSpPr>
        <p:spPr>
          <a:xfrm>
            <a:off x="2514600" y="5129784"/>
            <a:ext cx="2400300" cy="219456"/>
          </a:xfrm>
          <a:prstGeom prst="rect">
            <a:avLst/>
          </a:prstGeom>
          <a:noFill/>
          <a:ln/>
        </p:spPr>
        <p:txBody>
          <a:bodyPr wrap="square" lIns="0" tIns="0" rIns="0" bIns="0" rtlCol="0" anchor="t"/>
          <a:lstStyle/>
          <a:p>
            <a:pPr algn="ctr" indent="0" marL="0">
              <a:buNone/>
            </a:pPr>
            <a:r>
              <a:rPr lang="en-US" sz="950" dirty="0">
                <a:solidFill>
                  <a:srgbClr val="2E6DA4"/>
                </a:solidFill>
                <a:latin typeface="Calibri" pitchFamily="34" charset="0"/>
                <a:ea typeface="Calibri" pitchFamily="34" charset="-122"/>
                <a:cs typeface="Calibri" pitchFamily="34" charset="-120"/>
              </a:rPr>
              <a:t>0.76 to 1.11</a:t>
            </a:r>
            <a:endParaRPr lang="en-US" sz="950" dirty="0"/>
          </a:p>
        </p:txBody>
      </p:sp>
      <p:sp>
        <p:nvSpPr>
          <p:cNvPr id="42" name="Text 40"/>
          <p:cNvSpPr txBox="1"/>
          <p:nvPr/>
        </p:nvSpPr>
        <p:spPr>
          <a:xfrm>
            <a:off x="502920" y="5577840"/>
            <a:ext cx="1554480" cy="219456"/>
          </a:xfrm>
          <a:prstGeom prst="rect">
            <a:avLst/>
          </a:prstGeom>
          <a:noFill/>
          <a:ln/>
        </p:spPr>
        <p:txBody>
          <a:bodyPr wrap="square" lIns="0" tIns="0" rIns="0" bIns="0" rtlCol="0" anchor="t"/>
          <a:lstStyle/>
          <a:p>
            <a:pPr algn="l" indent="0" marL="0">
              <a:buNone/>
            </a:pPr>
            <a:r>
              <a:rPr lang="en-US" sz="950" b="1" dirty="0">
                <a:solidFill>
                  <a:srgbClr val="B0603A"/>
                </a:solidFill>
                <a:latin typeface="Calibri" pitchFamily="34" charset="0"/>
                <a:ea typeface="Calibri" pitchFamily="34" charset="-122"/>
                <a:cs typeface="Calibri" pitchFamily="34" charset="-120"/>
              </a:rPr>
              <a:t>extent readout</a:t>
            </a:r>
            <a:endParaRPr lang="en-US" sz="950" dirty="0"/>
          </a:p>
        </p:txBody>
      </p:sp>
      <p:sp>
        <p:nvSpPr>
          <p:cNvPr id="43" name="Shape 41"/>
          <p:cNvSpPr/>
          <p:nvPr/>
        </p:nvSpPr>
        <p:spPr>
          <a:xfrm>
            <a:off x="4133088" y="5522976"/>
            <a:ext cx="54864" cy="292608"/>
          </a:xfrm>
          <a:prstGeom prst="rect">
            <a:avLst/>
          </a:prstGeom>
          <a:solidFill>
            <a:srgbClr val="B0603A"/>
          </a:solidFill>
          <a:ln w="12700">
            <a:solidFill>
              <a:srgbClr val="B0603A"/>
            </a:solidFill>
            <a:prstDash val="solid"/>
          </a:ln>
        </p:spPr>
      </p:sp>
      <p:sp>
        <p:nvSpPr>
          <p:cNvPr id="44" name="Text 42"/>
          <p:cNvSpPr txBox="1"/>
          <p:nvPr/>
        </p:nvSpPr>
        <p:spPr>
          <a:xfrm>
            <a:off x="4288536" y="5568696"/>
            <a:ext cx="1920240" cy="219456"/>
          </a:xfrm>
          <a:prstGeom prst="rect">
            <a:avLst/>
          </a:prstGeom>
          <a:noFill/>
          <a:ln/>
        </p:spPr>
        <p:txBody>
          <a:bodyPr wrap="square" lIns="0" tIns="0" rIns="0" bIns="0" rtlCol="0" anchor="t"/>
          <a:lstStyle/>
          <a:p>
            <a:pPr algn="l" indent="0" marL="0">
              <a:buNone/>
            </a:pPr>
            <a:r>
              <a:rPr lang="en-US" sz="950" dirty="0">
                <a:solidFill>
                  <a:srgbClr val="B0603A"/>
                </a:solidFill>
                <a:latin typeface="Calibri" pitchFamily="34" charset="0"/>
                <a:ea typeface="Calibri" pitchFamily="34" charset="-122"/>
                <a:cs typeface="Calibri" pitchFamily="34" charset="-120"/>
              </a:rPr>
              <a:t>exactly 1, at every input</a:t>
            </a:r>
            <a:endParaRPr lang="en-US" sz="950" dirty="0"/>
          </a:p>
        </p:txBody>
      </p:sp>
      <p:sp>
        <p:nvSpPr>
          <p:cNvPr id="45" name="Shape 43"/>
          <p:cNvSpPr/>
          <p:nvPr/>
        </p:nvSpPr>
        <p:spPr>
          <a:xfrm>
            <a:off x="2011680" y="6053328"/>
            <a:ext cx="3721608" cy="0"/>
          </a:xfrm>
          <a:prstGeom prst="line">
            <a:avLst/>
          </a:prstGeom>
          <a:noFill/>
          <a:ln w="15240">
            <a:solidFill>
              <a:srgbClr val="595959"/>
            </a:solidFill>
            <a:prstDash val="solid"/>
            <a:headEnd type="none"/>
            <a:tailEnd type="triangle"/>
          </a:ln>
        </p:spPr>
      </p:sp>
      <p:sp>
        <p:nvSpPr>
          <p:cNvPr id="46" name="Shape 44"/>
          <p:cNvSpPr/>
          <p:nvPr/>
        </p:nvSpPr>
        <p:spPr>
          <a:xfrm>
            <a:off x="2103120" y="6053328"/>
            <a:ext cx="0" cy="82296"/>
          </a:xfrm>
          <a:prstGeom prst="line">
            <a:avLst/>
          </a:prstGeom>
          <a:noFill/>
          <a:ln w="11430">
            <a:solidFill>
              <a:srgbClr val="595959"/>
            </a:solidFill>
            <a:prstDash val="solid"/>
            <a:headEnd type="none"/>
            <a:tailEnd type="none"/>
          </a:ln>
        </p:spPr>
      </p:sp>
      <p:sp>
        <p:nvSpPr>
          <p:cNvPr id="47" name="Text 45"/>
          <p:cNvSpPr txBox="1"/>
          <p:nvPr/>
        </p:nvSpPr>
        <p:spPr>
          <a:xfrm>
            <a:off x="1920240" y="6172200"/>
            <a:ext cx="365760" cy="201168"/>
          </a:xfrm>
          <a:prstGeom prst="rect">
            <a:avLst/>
          </a:prstGeom>
          <a:noFill/>
          <a:ln/>
        </p:spPr>
        <p:txBody>
          <a:bodyPr wrap="square" lIns="0" tIns="0" rIns="0" bIns="0" rtlCol="0" anchor="t"/>
          <a:lstStyle/>
          <a:p>
            <a:pPr algn="ctr" indent="0" marL="0">
              <a:buNone/>
            </a:pPr>
            <a:r>
              <a:rPr lang="en-US" sz="850" dirty="0">
                <a:solidFill>
                  <a:srgbClr val="606060"/>
                </a:solidFill>
                <a:latin typeface="Calibri" pitchFamily="34" charset="0"/>
                <a:ea typeface="Calibri" pitchFamily="34" charset="-122"/>
                <a:cs typeface="Calibri" pitchFamily="34" charset="-120"/>
              </a:rPr>
              <a:t>0.7</a:t>
            </a:r>
            <a:endParaRPr lang="en-US" sz="850" dirty="0"/>
          </a:p>
        </p:txBody>
      </p:sp>
      <p:sp>
        <p:nvSpPr>
          <p:cNvPr id="48" name="Shape 46"/>
          <p:cNvSpPr/>
          <p:nvPr/>
        </p:nvSpPr>
        <p:spPr>
          <a:xfrm>
            <a:off x="2788920" y="6053328"/>
            <a:ext cx="0" cy="82296"/>
          </a:xfrm>
          <a:prstGeom prst="line">
            <a:avLst/>
          </a:prstGeom>
          <a:noFill/>
          <a:ln w="11430">
            <a:solidFill>
              <a:srgbClr val="595959"/>
            </a:solidFill>
            <a:prstDash val="solid"/>
            <a:headEnd type="none"/>
            <a:tailEnd type="none"/>
          </a:ln>
        </p:spPr>
      </p:sp>
      <p:sp>
        <p:nvSpPr>
          <p:cNvPr id="49" name="Text 47"/>
          <p:cNvSpPr txBox="1"/>
          <p:nvPr/>
        </p:nvSpPr>
        <p:spPr>
          <a:xfrm>
            <a:off x="2606040" y="6172200"/>
            <a:ext cx="365760" cy="201168"/>
          </a:xfrm>
          <a:prstGeom prst="rect">
            <a:avLst/>
          </a:prstGeom>
          <a:noFill/>
          <a:ln/>
        </p:spPr>
        <p:txBody>
          <a:bodyPr wrap="square" lIns="0" tIns="0" rIns="0" bIns="0" rtlCol="0" anchor="t"/>
          <a:lstStyle/>
          <a:p>
            <a:pPr algn="ctr" indent="0" marL="0">
              <a:buNone/>
            </a:pPr>
            <a:r>
              <a:rPr lang="en-US" sz="850" dirty="0">
                <a:solidFill>
                  <a:srgbClr val="606060"/>
                </a:solidFill>
                <a:latin typeface="Calibri" pitchFamily="34" charset="0"/>
                <a:ea typeface="Calibri" pitchFamily="34" charset="-122"/>
                <a:cs typeface="Calibri" pitchFamily="34" charset="-120"/>
              </a:rPr>
              <a:t>0.8</a:t>
            </a:r>
            <a:endParaRPr lang="en-US" sz="850" dirty="0"/>
          </a:p>
        </p:txBody>
      </p:sp>
      <p:sp>
        <p:nvSpPr>
          <p:cNvPr id="50" name="Shape 48"/>
          <p:cNvSpPr/>
          <p:nvPr/>
        </p:nvSpPr>
        <p:spPr>
          <a:xfrm>
            <a:off x="3474720" y="6053328"/>
            <a:ext cx="0" cy="82296"/>
          </a:xfrm>
          <a:prstGeom prst="line">
            <a:avLst/>
          </a:prstGeom>
          <a:noFill/>
          <a:ln w="11430">
            <a:solidFill>
              <a:srgbClr val="595959"/>
            </a:solidFill>
            <a:prstDash val="solid"/>
            <a:headEnd type="none"/>
            <a:tailEnd type="none"/>
          </a:ln>
        </p:spPr>
      </p:sp>
      <p:sp>
        <p:nvSpPr>
          <p:cNvPr id="51" name="Text 49"/>
          <p:cNvSpPr txBox="1"/>
          <p:nvPr/>
        </p:nvSpPr>
        <p:spPr>
          <a:xfrm>
            <a:off x="3291840" y="6172200"/>
            <a:ext cx="365760" cy="201168"/>
          </a:xfrm>
          <a:prstGeom prst="rect">
            <a:avLst/>
          </a:prstGeom>
          <a:noFill/>
          <a:ln/>
        </p:spPr>
        <p:txBody>
          <a:bodyPr wrap="square" lIns="0" tIns="0" rIns="0" bIns="0" rtlCol="0" anchor="t"/>
          <a:lstStyle/>
          <a:p>
            <a:pPr algn="ctr" indent="0" marL="0">
              <a:buNone/>
            </a:pPr>
            <a:r>
              <a:rPr lang="en-US" sz="850" dirty="0">
                <a:solidFill>
                  <a:srgbClr val="606060"/>
                </a:solidFill>
                <a:latin typeface="Calibri" pitchFamily="34" charset="0"/>
                <a:ea typeface="Calibri" pitchFamily="34" charset="-122"/>
                <a:cs typeface="Calibri" pitchFamily="34" charset="-120"/>
              </a:rPr>
              <a:t>0.9</a:t>
            </a:r>
            <a:endParaRPr lang="en-US" sz="850" dirty="0"/>
          </a:p>
        </p:txBody>
      </p:sp>
      <p:sp>
        <p:nvSpPr>
          <p:cNvPr id="52" name="Shape 50"/>
          <p:cNvSpPr/>
          <p:nvPr/>
        </p:nvSpPr>
        <p:spPr>
          <a:xfrm>
            <a:off x="4160520" y="6053328"/>
            <a:ext cx="0" cy="82296"/>
          </a:xfrm>
          <a:prstGeom prst="line">
            <a:avLst/>
          </a:prstGeom>
          <a:noFill/>
          <a:ln w="11430">
            <a:solidFill>
              <a:srgbClr val="595959"/>
            </a:solidFill>
            <a:prstDash val="solid"/>
            <a:headEnd type="none"/>
            <a:tailEnd type="none"/>
          </a:ln>
        </p:spPr>
      </p:sp>
      <p:sp>
        <p:nvSpPr>
          <p:cNvPr id="53" name="Text 51"/>
          <p:cNvSpPr txBox="1"/>
          <p:nvPr/>
        </p:nvSpPr>
        <p:spPr>
          <a:xfrm>
            <a:off x="3977640" y="6172200"/>
            <a:ext cx="365760" cy="201168"/>
          </a:xfrm>
          <a:prstGeom prst="rect">
            <a:avLst/>
          </a:prstGeom>
          <a:noFill/>
          <a:ln/>
        </p:spPr>
        <p:txBody>
          <a:bodyPr wrap="square" lIns="0" tIns="0" rIns="0" bIns="0" rtlCol="0" anchor="t"/>
          <a:lstStyle/>
          <a:p>
            <a:pPr algn="ctr" indent="0" marL="0">
              <a:buNone/>
            </a:pPr>
            <a:r>
              <a:rPr lang="en-US" sz="850" dirty="0">
                <a:solidFill>
                  <a:srgbClr val="606060"/>
                </a:solidFill>
                <a:latin typeface="Calibri" pitchFamily="34" charset="0"/>
                <a:ea typeface="Calibri" pitchFamily="34" charset="-122"/>
                <a:cs typeface="Calibri" pitchFamily="34" charset="-120"/>
              </a:rPr>
              <a:t>1.0</a:t>
            </a:r>
            <a:endParaRPr lang="en-US" sz="850" dirty="0"/>
          </a:p>
        </p:txBody>
      </p:sp>
      <p:sp>
        <p:nvSpPr>
          <p:cNvPr id="54" name="Shape 52"/>
          <p:cNvSpPr/>
          <p:nvPr/>
        </p:nvSpPr>
        <p:spPr>
          <a:xfrm>
            <a:off x="4846320" y="6053328"/>
            <a:ext cx="0" cy="82296"/>
          </a:xfrm>
          <a:prstGeom prst="line">
            <a:avLst/>
          </a:prstGeom>
          <a:noFill/>
          <a:ln w="11430">
            <a:solidFill>
              <a:srgbClr val="595959"/>
            </a:solidFill>
            <a:prstDash val="solid"/>
            <a:headEnd type="none"/>
            <a:tailEnd type="none"/>
          </a:ln>
        </p:spPr>
      </p:sp>
      <p:sp>
        <p:nvSpPr>
          <p:cNvPr id="55" name="Text 53"/>
          <p:cNvSpPr txBox="1"/>
          <p:nvPr/>
        </p:nvSpPr>
        <p:spPr>
          <a:xfrm>
            <a:off x="4663440" y="6172200"/>
            <a:ext cx="365760" cy="201168"/>
          </a:xfrm>
          <a:prstGeom prst="rect">
            <a:avLst/>
          </a:prstGeom>
          <a:noFill/>
          <a:ln/>
        </p:spPr>
        <p:txBody>
          <a:bodyPr wrap="square" lIns="0" tIns="0" rIns="0" bIns="0" rtlCol="0" anchor="t"/>
          <a:lstStyle/>
          <a:p>
            <a:pPr algn="ctr" indent="0" marL="0">
              <a:buNone/>
            </a:pPr>
            <a:r>
              <a:rPr lang="en-US" sz="850" dirty="0">
                <a:solidFill>
                  <a:srgbClr val="606060"/>
                </a:solidFill>
                <a:latin typeface="Calibri" pitchFamily="34" charset="0"/>
                <a:ea typeface="Calibri" pitchFamily="34" charset="-122"/>
                <a:cs typeface="Calibri" pitchFamily="34" charset="-120"/>
              </a:rPr>
              <a:t>1.1</a:t>
            </a:r>
            <a:endParaRPr lang="en-US" sz="850" dirty="0"/>
          </a:p>
        </p:txBody>
      </p:sp>
      <p:sp>
        <p:nvSpPr>
          <p:cNvPr id="56" name="Shape 54"/>
          <p:cNvSpPr/>
          <p:nvPr/>
        </p:nvSpPr>
        <p:spPr>
          <a:xfrm>
            <a:off x="5532120" y="6053328"/>
            <a:ext cx="0" cy="82296"/>
          </a:xfrm>
          <a:prstGeom prst="line">
            <a:avLst/>
          </a:prstGeom>
          <a:noFill/>
          <a:ln w="11430">
            <a:solidFill>
              <a:srgbClr val="595959"/>
            </a:solidFill>
            <a:prstDash val="solid"/>
            <a:headEnd type="none"/>
            <a:tailEnd type="none"/>
          </a:ln>
        </p:spPr>
      </p:sp>
      <p:sp>
        <p:nvSpPr>
          <p:cNvPr id="57" name="Text 55"/>
          <p:cNvSpPr txBox="1"/>
          <p:nvPr/>
        </p:nvSpPr>
        <p:spPr>
          <a:xfrm>
            <a:off x="5349240" y="6172200"/>
            <a:ext cx="365760" cy="201168"/>
          </a:xfrm>
          <a:prstGeom prst="rect">
            <a:avLst/>
          </a:prstGeom>
          <a:noFill/>
          <a:ln/>
        </p:spPr>
        <p:txBody>
          <a:bodyPr wrap="square" lIns="0" tIns="0" rIns="0" bIns="0" rtlCol="0" anchor="t"/>
          <a:lstStyle/>
          <a:p>
            <a:pPr algn="ctr" indent="0" marL="0">
              <a:buNone/>
            </a:pPr>
            <a:r>
              <a:rPr lang="en-US" sz="850" dirty="0">
                <a:solidFill>
                  <a:srgbClr val="606060"/>
                </a:solidFill>
                <a:latin typeface="Calibri" pitchFamily="34" charset="0"/>
                <a:ea typeface="Calibri" pitchFamily="34" charset="-122"/>
                <a:cs typeface="Calibri" pitchFamily="34" charset="-120"/>
              </a:rPr>
              <a:t>1.2</a:t>
            </a:r>
            <a:endParaRPr lang="en-US" sz="850" dirty="0"/>
          </a:p>
        </p:txBody>
      </p:sp>
      <p:sp>
        <p:nvSpPr>
          <p:cNvPr id="58" name="Text 56"/>
          <p:cNvSpPr txBox="1"/>
          <p:nvPr/>
        </p:nvSpPr>
        <p:spPr>
          <a:xfrm>
            <a:off x="2011680" y="6419088"/>
            <a:ext cx="3703320" cy="219456"/>
          </a:xfrm>
          <a:prstGeom prst="rect">
            <a:avLst/>
          </a:prstGeom>
          <a:noFill/>
          <a:ln/>
        </p:spPr>
        <p:txBody>
          <a:bodyPr wrap="square" lIns="0" tIns="0" rIns="0" bIns="0" rtlCol="0" anchor="t"/>
          <a:lstStyle/>
          <a:p>
            <a:pPr algn="ctr" indent="0" marL="0">
              <a:buNone/>
            </a:pPr>
            <a:r>
              <a:rPr lang="en-US" sz="900" dirty="0">
                <a:solidFill>
                  <a:srgbClr val="606060"/>
                </a:solidFill>
                <a:latin typeface="Calibri" pitchFamily="34" charset="0"/>
                <a:ea typeface="Calibri" pitchFamily="34" charset="-122"/>
                <a:cs typeface="Calibri" pitchFamily="34" charset="-120"/>
              </a:rPr>
              <a:t>HS produced per CH4 consumed</a:t>
            </a:r>
            <a:endParaRPr lang="en-US" sz="900" dirty="0"/>
          </a:p>
        </p:txBody>
      </p:sp>
      <p:sp>
        <p:nvSpPr>
          <p:cNvPr id="59" name="Shape 57"/>
          <p:cNvSpPr/>
          <p:nvPr/>
        </p:nvSpPr>
        <p:spPr>
          <a:xfrm>
            <a:off x="6446520" y="4434840"/>
            <a:ext cx="2286000" cy="2377440"/>
          </a:xfrm>
          <a:prstGeom prst="rect">
            <a:avLst/>
          </a:prstGeom>
          <a:solidFill>
            <a:srgbClr val="F7F7F9"/>
          </a:solidFill>
          <a:ln w="12700">
            <a:solidFill>
              <a:srgbClr val="BFBFBF"/>
            </a:solidFill>
            <a:prstDash val="solid"/>
          </a:ln>
        </p:spPr>
      </p:sp>
      <p:sp>
        <p:nvSpPr>
          <p:cNvPr id="60" name="Text 58"/>
          <p:cNvSpPr txBox="1"/>
          <p:nvPr/>
        </p:nvSpPr>
        <p:spPr>
          <a:xfrm>
            <a:off x="6574536" y="4507992"/>
            <a:ext cx="2029968" cy="237744"/>
          </a:xfrm>
          <a:prstGeom prst="rect">
            <a:avLst/>
          </a:prstGeom>
          <a:noFill/>
          <a:ln/>
        </p:spPr>
        <p:txBody>
          <a:bodyPr wrap="square" lIns="0" tIns="0" rIns="0" bIns="0" rtlCol="0" anchor="t"/>
          <a:lstStyle/>
          <a:p>
            <a:pPr algn="l" indent="0" marL="0">
              <a:buNone/>
            </a:pPr>
            <a:r>
              <a:rPr lang="en-US" sz="950" b="1" dirty="0">
                <a:solidFill>
                  <a:srgbClr val="606060"/>
                </a:solidFill>
                <a:latin typeface="Calibri" pitchFamily="34" charset="0"/>
                <a:ea typeface="Calibri" pitchFamily="34" charset="-122"/>
                <a:cs typeface="Calibri" pitchFamily="34" charset="-120"/>
              </a:rPr>
              <a:t>and the fit is no worse for it</a:t>
            </a:r>
            <a:endParaRPr lang="en-US" sz="950" dirty="0"/>
          </a:p>
        </p:txBody>
      </p:sp>
      <p:sp>
        <p:nvSpPr>
          <p:cNvPr id="61" name="Text 59"/>
          <p:cNvSpPr txBox="1"/>
          <p:nvPr/>
        </p:nvSpPr>
        <p:spPr>
          <a:xfrm>
            <a:off x="7205472" y="4754880"/>
            <a:ext cx="658368" cy="201168"/>
          </a:xfrm>
          <a:prstGeom prst="rect">
            <a:avLst/>
          </a:prstGeom>
          <a:noFill/>
          <a:ln/>
        </p:spPr>
        <p:txBody>
          <a:bodyPr wrap="square" lIns="0" tIns="0" rIns="0" bIns="0" rtlCol="0" anchor="t"/>
          <a:lstStyle/>
          <a:p>
            <a:pPr algn="ctr" indent="0" marL="0">
              <a:buNone/>
            </a:pPr>
            <a:r>
              <a:rPr lang="en-US" sz="850" b="1" dirty="0">
                <a:solidFill>
                  <a:srgbClr val="2E6DA4"/>
                </a:solidFill>
                <a:latin typeface="Calibri" pitchFamily="34" charset="0"/>
                <a:ea typeface="Calibri" pitchFamily="34" charset="-122"/>
                <a:cs typeface="Calibri" pitchFamily="34" charset="-120"/>
              </a:rPr>
              <a:t>species</a:t>
            </a:r>
            <a:endParaRPr lang="en-US" sz="850" dirty="0"/>
          </a:p>
        </p:txBody>
      </p:sp>
      <p:sp>
        <p:nvSpPr>
          <p:cNvPr id="62" name="Text 60"/>
          <p:cNvSpPr txBox="1"/>
          <p:nvPr/>
        </p:nvSpPr>
        <p:spPr>
          <a:xfrm>
            <a:off x="7918704" y="4754880"/>
            <a:ext cx="658368" cy="201168"/>
          </a:xfrm>
          <a:prstGeom prst="rect">
            <a:avLst/>
          </a:prstGeom>
          <a:noFill/>
          <a:ln/>
        </p:spPr>
        <p:txBody>
          <a:bodyPr wrap="square" lIns="0" tIns="0" rIns="0" bIns="0" rtlCol="0" anchor="t"/>
          <a:lstStyle/>
          <a:p>
            <a:pPr algn="ctr" indent="0" marL="0">
              <a:buNone/>
            </a:pPr>
            <a:r>
              <a:rPr lang="en-US" sz="850" b="1" dirty="0">
                <a:solidFill>
                  <a:srgbClr val="B0603A"/>
                </a:solidFill>
                <a:latin typeface="Calibri" pitchFamily="34" charset="0"/>
                <a:ea typeface="Calibri" pitchFamily="34" charset="-122"/>
                <a:cs typeface="Calibri" pitchFamily="34" charset="-120"/>
              </a:rPr>
              <a:t>extent</a:t>
            </a:r>
            <a:endParaRPr lang="en-US" sz="850" dirty="0"/>
          </a:p>
        </p:txBody>
      </p:sp>
      <p:sp>
        <p:nvSpPr>
          <p:cNvPr id="63" name="Text 61"/>
          <p:cNvSpPr txBox="1"/>
          <p:nvPr/>
        </p:nvSpPr>
        <p:spPr>
          <a:xfrm>
            <a:off x="6547104" y="5065776"/>
            <a:ext cx="731520" cy="201168"/>
          </a:xfrm>
          <a:prstGeom prst="rect">
            <a:avLst/>
          </a:prstGeom>
          <a:noFill/>
          <a:ln/>
        </p:spPr>
        <p:txBody>
          <a:bodyPr wrap="square" lIns="0" tIns="0" rIns="0" bIns="0" rtlCol="0" anchor="t"/>
          <a:lstStyle/>
          <a:p>
            <a:pPr algn="l" indent="0" marL="0">
              <a:buNone/>
            </a:pPr>
            <a:r>
              <a:rPr lang="en-US" sz="850" dirty="0">
                <a:solidFill>
                  <a:srgbClr val="606060"/>
                </a:solidFill>
                <a:latin typeface="Calibri" pitchFamily="34" charset="0"/>
                <a:ea typeface="Calibri" pitchFamily="34" charset="-122"/>
                <a:cs typeface="Calibri" pitchFamily="34" charset="-120"/>
              </a:rPr>
              <a:t>correlation</a:t>
            </a:r>
            <a:endParaRPr lang="en-US" sz="850" dirty="0"/>
          </a:p>
        </p:txBody>
      </p:sp>
      <p:sp>
        <p:nvSpPr>
          <p:cNvPr id="64" name="Text 62"/>
          <p:cNvSpPr txBox="1"/>
          <p:nvPr/>
        </p:nvSpPr>
        <p:spPr>
          <a:xfrm>
            <a:off x="7205472" y="5065776"/>
            <a:ext cx="658368" cy="201168"/>
          </a:xfrm>
          <a:prstGeom prst="rect">
            <a:avLst/>
          </a:prstGeom>
          <a:noFill/>
          <a:ln/>
        </p:spPr>
        <p:txBody>
          <a:bodyPr wrap="square" lIns="0" tIns="0" rIns="0" bIns="0" rtlCol="0" anchor="t"/>
          <a:lstStyle/>
          <a:p>
            <a:pPr algn="ctr" indent="0" marL="0">
              <a:buNone/>
            </a:pPr>
            <a:r>
              <a:rPr lang="en-US" sz="850" dirty="0">
                <a:solidFill>
                  <a:srgbClr val="202020"/>
                </a:solidFill>
                <a:latin typeface="Consolas" pitchFamily="34" charset="0"/>
                <a:ea typeface="Consolas" pitchFamily="34" charset="-122"/>
                <a:cs typeface="Consolas" pitchFamily="34" charset="-120"/>
              </a:rPr>
              <a:t>0.968</a:t>
            </a:r>
            <a:endParaRPr lang="en-US" sz="850" dirty="0"/>
          </a:p>
        </p:txBody>
      </p:sp>
      <p:sp>
        <p:nvSpPr>
          <p:cNvPr id="65" name="Text 63"/>
          <p:cNvSpPr txBox="1"/>
          <p:nvPr/>
        </p:nvSpPr>
        <p:spPr>
          <a:xfrm>
            <a:off x="7918704" y="5065776"/>
            <a:ext cx="658368" cy="201168"/>
          </a:xfrm>
          <a:prstGeom prst="rect">
            <a:avLst/>
          </a:prstGeom>
          <a:noFill/>
          <a:ln/>
        </p:spPr>
        <p:txBody>
          <a:bodyPr wrap="square" lIns="0" tIns="0" rIns="0" bIns="0" rtlCol="0" anchor="t"/>
          <a:lstStyle/>
          <a:p>
            <a:pPr algn="ctr" indent="0" marL="0">
              <a:buNone/>
            </a:pPr>
            <a:r>
              <a:rPr lang="en-US" sz="850" dirty="0">
                <a:solidFill>
                  <a:srgbClr val="202020"/>
                </a:solidFill>
                <a:latin typeface="Consolas" pitchFamily="34" charset="0"/>
                <a:ea typeface="Consolas" pitchFamily="34" charset="-122"/>
                <a:cs typeface="Consolas" pitchFamily="34" charset="-120"/>
              </a:rPr>
              <a:t>0.972</a:t>
            </a:r>
            <a:endParaRPr lang="en-US" sz="850" dirty="0"/>
          </a:p>
        </p:txBody>
      </p:sp>
      <p:sp>
        <p:nvSpPr>
          <p:cNvPr id="66" name="Text 64"/>
          <p:cNvSpPr txBox="1"/>
          <p:nvPr/>
        </p:nvSpPr>
        <p:spPr>
          <a:xfrm>
            <a:off x="6547104" y="5449824"/>
            <a:ext cx="731520" cy="201168"/>
          </a:xfrm>
          <a:prstGeom prst="rect">
            <a:avLst/>
          </a:prstGeom>
          <a:noFill/>
          <a:ln/>
        </p:spPr>
        <p:txBody>
          <a:bodyPr wrap="square" lIns="0" tIns="0" rIns="0" bIns="0" rtlCol="0" anchor="t"/>
          <a:lstStyle/>
          <a:p>
            <a:pPr algn="l" indent="0" marL="0">
              <a:buNone/>
            </a:pPr>
            <a:r>
              <a:rPr lang="en-US" sz="850" dirty="0">
                <a:solidFill>
                  <a:srgbClr val="606060"/>
                </a:solidFill>
                <a:latin typeface="Calibri" pitchFamily="34" charset="0"/>
                <a:ea typeface="Calibri" pitchFamily="34" charset="-122"/>
                <a:cs typeface="Calibri" pitchFamily="34" charset="-120"/>
              </a:rPr>
              <a:t>scaled error</a:t>
            </a:r>
            <a:endParaRPr lang="en-US" sz="850" dirty="0"/>
          </a:p>
        </p:txBody>
      </p:sp>
      <p:sp>
        <p:nvSpPr>
          <p:cNvPr id="67" name="Text 65"/>
          <p:cNvSpPr txBox="1"/>
          <p:nvPr/>
        </p:nvSpPr>
        <p:spPr>
          <a:xfrm>
            <a:off x="7205472" y="5449824"/>
            <a:ext cx="658368" cy="201168"/>
          </a:xfrm>
          <a:prstGeom prst="rect">
            <a:avLst/>
          </a:prstGeom>
          <a:noFill/>
          <a:ln/>
        </p:spPr>
        <p:txBody>
          <a:bodyPr wrap="square" lIns="0" tIns="0" rIns="0" bIns="0" rtlCol="0" anchor="t"/>
          <a:lstStyle/>
          <a:p>
            <a:pPr algn="ctr" indent="0" marL="0">
              <a:buNone/>
            </a:pPr>
            <a:r>
              <a:rPr lang="en-US" sz="850" dirty="0">
                <a:solidFill>
                  <a:srgbClr val="202020"/>
                </a:solidFill>
                <a:latin typeface="Consolas" pitchFamily="34" charset="0"/>
                <a:ea typeface="Consolas" pitchFamily="34" charset="-122"/>
                <a:cs typeface="Consolas" pitchFamily="34" charset="-120"/>
              </a:rPr>
              <a:t>2.21e-2</a:t>
            </a:r>
            <a:endParaRPr lang="en-US" sz="850" dirty="0"/>
          </a:p>
        </p:txBody>
      </p:sp>
      <p:sp>
        <p:nvSpPr>
          <p:cNvPr id="68" name="Text 66"/>
          <p:cNvSpPr txBox="1"/>
          <p:nvPr/>
        </p:nvSpPr>
        <p:spPr>
          <a:xfrm>
            <a:off x="7918704" y="5449824"/>
            <a:ext cx="658368" cy="201168"/>
          </a:xfrm>
          <a:prstGeom prst="rect">
            <a:avLst/>
          </a:prstGeom>
          <a:noFill/>
          <a:ln/>
        </p:spPr>
        <p:txBody>
          <a:bodyPr wrap="square" lIns="0" tIns="0" rIns="0" bIns="0" rtlCol="0" anchor="t"/>
          <a:lstStyle/>
          <a:p>
            <a:pPr algn="ctr" indent="0" marL="0">
              <a:buNone/>
            </a:pPr>
            <a:r>
              <a:rPr lang="en-US" sz="850" dirty="0">
                <a:solidFill>
                  <a:srgbClr val="202020"/>
                </a:solidFill>
                <a:latin typeface="Consolas" pitchFamily="34" charset="0"/>
                <a:ea typeface="Consolas" pitchFamily="34" charset="-122"/>
                <a:cs typeface="Consolas" pitchFamily="34" charset="-120"/>
              </a:rPr>
              <a:t>1.06e-2</a:t>
            </a:r>
            <a:endParaRPr lang="en-US" sz="850" dirty="0"/>
          </a:p>
        </p:txBody>
      </p:sp>
      <p:sp>
        <p:nvSpPr>
          <p:cNvPr id="69" name="Text 67"/>
          <p:cNvSpPr txBox="1"/>
          <p:nvPr/>
        </p:nvSpPr>
        <p:spPr>
          <a:xfrm>
            <a:off x="6547104" y="5833872"/>
            <a:ext cx="731520" cy="201168"/>
          </a:xfrm>
          <a:prstGeom prst="rect">
            <a:avLst/>
          </a:prstGeom>
          <a:noFill/>
          <a:ln/>
        </p:spPr>
        <p:txBody>
          <a:bodyPr wrap="square" lIns="0" tIns="0" rIns="0" bIns="0" rtlCol="0" anchor="t"/>
          <a:lstStyle/>
          <a:p>
            <a:pPr algn="l" indent="0" marL="0">
              <a:buNone/>
            </a:pPr>
            <a:r>
              <a:rPr lang="en-US" sz="850" dirty="0">
                <a:solidFill>
                  <a:srgbClr val="606060"/>
                </a:solidFill>
                <a:latin typeface="Calibri" pitchFamily="34" charset="0"/>
                <a:ea typeface="Calibri" pitchFamily="34" charset="-122"/>
                <a:cs typeface="Calibri" pitchFamily="34" charset="-120"/>
              </a:rPr>
              <a:t>stoich residual</a:t>
            </a:r>
            <a:endParaRPr lang="en-US" sz="850" dirty="0"/>
          </a:p>
        </p:txBody>
      </p:sp>
      <p:sp>
        <p:nvSpPr>
          <p:cNvPr id="70" name="Text 68"/>
          <p:cNvSpPr txBox="1"/>
          <p:nvPr/>
        </p:nvSpPr>
        <p:spPr>
          <a:xfrm>
            <a:off x="7205472" y="5833872"/>
            <a:ext cx="658368" cy="201168"/>
          </a:xfrm>
          <a:prstGeom prst="rect">
            <a:avLst/>
          </a:prstGeom>
          <a:noFill/>
          <a:ln/>
        </p:spPr>
        <p:txBody>
          <a:bodyPr wrap="square" lIns="0" tIns="0" rIns="0" bIns="0" rtlCol="0" anchor="t"/>
          <a:lstStyle/>
          <a:p>
            <a:pPr algn="ctr" indent="0" marL="0">
              <a:buNone/>
            </a:pPr>
            <a:r>
              <a:rPr lang="en-US" sz="850" dirty="0">
                <a:solidFill>
                  <a:srgbClr val="202020"/>
                </a:solidFill>
                <a:latin typeface="Consolas" pitchFamily="34" charset="0"/>
                <a:ea typeface="Consolas" pitchFamily="34" charset="-122"/>
                <a:cs typeface="Consolas" pitchFamily="34" charset="-120"/>
              </a:rPr>
              <a:t>n/a</a:t>
            </a:r>
            <a:endParaRPr lang="en-US" sz="850" dirty="0"/>
          </a:p>
        </p:txBody>
      </p:sp>
      <p:sp>
        <p:nvSpPr>
          <p:cNvPr id="71" name="Text 69"/>
          <p:cNvSpPr txBox="1"/>
          <p:nvPr/>
        </p:nvSpPr>
        <p:spPr>
          <a:xfrm>
            <a:off x="7918704" y="5833872"/>
            <a:ext cx="658368" cy="201168"/>
          </a:xfrm>
          <a:prstGeom prst="rect">
            <a:avLst/>
          </a:prstGeom>
          <a:noFill/>
          <a:ln/>
        </p:spPr>
        <p:txBody>
          <a:bodyPr wrap="square" lIns="0" tIns="0" rIns="0" bIns="0" rtlCol="0" anchor="t"/>
          <a:lstStyle/>
          <a:p>
            <a:pPr algn="ctr" indent="0" marL="0">
              <a:buNone/>
            </a:pPr>
            <a:r>
              <a:rPr lang="en-US" sz="850" dirty="0">
                <a:solidFill>
                  <a:srgbClr val="202020"/>
                </a:solidFill>
                <a:latin typeface="Consolas" pitchFamily="34" charset="0"/>
                <a:ea typeface="Consolas" pitchFamily="34" charset="-122"/>
                <a:cs typeface="Consolas" pitchFamily="34" charset="-120"/>
              </a:rPr>
              <a:t>0</a:t>
            </a:r>
            <a:endParaRPr lang="en-US" sz="850" dirty="0"/>
          </a:p>
        </p:txBody>
      </p:sp>
      <p:sp>
        <p:nvSpPr>
          <p:cNvPr id="72" name="Text 70"/>
          <p:cNvSpPr txBox="1"/>
          <p:nvPr/>
        </p:nvSpPr>
        <p:spPr>
          <a:xfrm>
            <a:off x="6547104" y="6035040"/>
            <a:ext cx="2084832" cy="640080"/>
          </a:xfrm>
          <a:prstGeom prst="rect">
            <a:avLst/>
          </a:prstGeom>
          <a:noFill/>
          <a:ln/>
        </p:spPr>
        <p:txBody>
          <a:bodyPr wrap="square" lIns="0" tIns="0" rIns="0" bIns="0" rtlCol="0" anchor="t"/>
          <a:lstStyle/>
          <a:p>
            <a:pPr algn="l" indent="0" marL="0">
              <a:lnSpc>
                <a:spcPts val="1100"/>
              </a:lnSpc>
              <a:buNone/>
            </a:pPr>
            <a:r>
              <a:rPr lang="en-US" sz="900" i="1" dirty="0">
                <a:solidFill>
                  <a:srgbClr val="606060"/>
                </a:solidFill>
                <a:latin typeface="Calibri" pitchFamily="34" charset="0"/>
                <a:ea typeface="Calibri" pitchFamily="34" charset="-122"/>
                <a:cs typeface="Calibri" pitchFamily="34" charset="-120"/>
              </a:rPr>
              <a:t>fewer output numbers, a slightly</a:t>
            </a:r>
            <a:endParaRPr lang="en-US" sz="900" dirty="0"/>
          </a:p>
          <a:p>
            <a:pPr algn="l" indent="0" marL="0">
              <a:lnSpc>
                <a:spcPts val="1100"/>
              </a:lnSpc>
              <a:buNone/>
            </a:pPr>
            <a:r>
              <a:rPr lang="en-US" sz="900" i="1" dirty="0">
                <a:solidFill>
                  <a:srgbClr val="606060"/>
                </a:solidFill>
                <a:latin typeface="Calibri" pitchFamily="34" charset="0"/>
                <a:ea typeface="Calibri" pitchFamily="34" charset="-122"/>
                <a:cs typeface="Calibri" pitchFamily="34" charset="-120"/>
              </a:rPr>
              <a:t>better fit, and a mass balance</a:t>
            </a:r>
            <a:endParaRPr lang="en-US" sz="900" dirty="0"/>
          </a:p>
          <a:p>
            <a:pPr algn="l" indent="0" marL="0">
              <a:lnSpc>
                <a:spcPts val="1100"/>
              </a:lnSpc>
              <a:buNone/>
            </a:pPr>
            <a:r>
              <a:rPr lang="en-US" sz="900" i="1" dirty="0">
                <a:solidFill>
                  <a:srgbClr val="606060"/>
                </a:solidFill>
                <a:latin typeface="Calibri" pitchFamily="34" charset="0"/>
                <a:ea typeface="Calibri" pitchFamily="34" charset="-122"/>
                <a:cs typeface="Calibri" pitchFamily="34" charset="-120"/>
              </a:rPr>
              <a:t>that is exact rather than close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365760" y="128016"/>
            <a:ext cx="8412480" cy="365760"/>
          </a:xfrm>
          <a:prstGeom prst="rect">
            <a:avLst/>
          </a:prstGeom>
          <a:noFill/>
          <a:ln/>
        </p:spPr>
        <p:txBody>
          <a:bodyPr wrap="square" lIns="0" tIns="0" rIns="0" bIns="0" rtlCol="0" anchor="t"/>
          <a:lstStyle/>
          <a:p>
            <a:pPr algn="l" indent="0" marL="0">
              <a:buNone/>
            </a:pPr>
            <a:r>
              <a:rPr lang="en-US" sz="1700" b="1" dirty="0">
                <a:solidFill>
                  <a:srgbClr val="202020"/>
                </a:solidFill>
                <a:latin typeface="Calibri" pitchFamily="34" charset="0"/>
                <a:ea typeface="Calibri" pitchFamily="34" charset="-122"/>
                <a:cs typeface="Calibri" pitchFamily="34" charset="-120"/>
              </a:rPr>
              <a:t>Fitting it offline, and the file it produces</a:t>
            </a:r>
            <a:endParaRPr lang="en-US" sz="1700" dirty="0"/>
          </a:p>
        </p:txBody>
      </p:sp>
      <p:sp>
        <p:nvSpPr>
          <p:cNvPr id="3" name="Text 1"/>
          <p:cNvSpPr txBox="1"/>
          <p:nvPr/>
        </p:nvSpPr>
        <p:spPr>
          <a:xfrm>
            <a:off x="365760" y="512064"/>
            <a:ext cx="8412480" cy="420624"/>
          </a:xfrm>
          <a:prstGeom prst="rect">
            <a:avLst/>
          </a:prstGeom>
          <a:noFill/>
          <a:ln/>
        </p:spPr>
        <p:txBody>
          <a:bodyPr wrap="square" lIns="0" tIns="0" rIns="0" bIns="0" rtlCol="0" anchor="t"/>
          <a:lstStyle/>
          <a:p>
            <a:pPr algn="l" indent="0" marL="0">
              <a:buNone/>
            </a:pPr>
            <a:r>
              <a:rPr lang="en-US" sz="950" i="1" dirty="0">
                <a:solidFill>
                  <a:srgbClr val="606060"/>
                </a:solidFill>
                <a:latin typeface="Calibri" pitchFamily="34" charset="0"/>
                <a:ea typeface="Calibri" pitchFamily="34" charset="-122"/>
                <a:cs typeface="Calibri" pitchFamily="34" charset="-120"/>
              </a:rPr>
              <a:t>None of this row is inside CompLaB3D. The reader and the writer were checked against each other to machine precision.</a:t>
            </a:r>
            <a:endParaRPr lang="en-US" sz="950" dirty="0"/>
          </a:p>
        </p:txBody>
      </p:sp>
      <p:sp>
        <p:nvSpPr>
          <p:cNvPr id="4" name="Text 2"/>
          <p:cNvSpPr txBox="1"/>
          <p:nvPr/>
        </p:nvSpPr>
        <p:spPr>
          <a:xfrm>
            <a:off x="502920" y="1051560"/>
            <a:ext cx="1481328" cy="475488"/>
          </a:xfrm>
          <a:prstGeom prst="rect">
            <a:avLst/>
          </a:prstGeom>
          <a:solidFill>
            <a:srgbClr val="FFE699"/>
          </a:solidFill>
          <a:ln w="12700">
            <a:solidFill>
              <a:srgbClr val="7F7F7F"/>
            </a:solidFill>
            <a:prstDash val="solid"/>
          </a:ln>
        </p:spPr>
        <p:txBody>
          <a:bodyPr wrap="square" lIns="0" tIns="0" rIns="0" bIns="0" rtlCol="0" anchor="ctr"/>
          <a:lstStyle/>
          <a:p>
            <a:pPr algn="ctr" indent="0" marL="0">
              <a:buNone/>
            </a:pPr>
            <a:r>
              <a:rPr lang="en-US" sz="1000" b="1" dirty="0">
                <a:solidFill>
                  <a:srgbClr val="202020"/>
                </a:solidFill>
                <a:latin typeface="Calibri" pitchFamily="34" charset="0"/>
                <a:ea typeface="Calibri" pitchFamily="34" charset="-122"/>
                <a:cs typeface="Calibri" pitchFamily="34" charset="-120"/>
              </a:rPr>
              <a:t>a stoichiometry</a:t>
            </a:r>
            <a:endParaRPr lang="en-US" sz="1000" dirty="0"/>
          </a:p>
          <a:p>
            <a:pPr algn="ctr" indent="0" marL="0">
              <a:buNone/>
            </a:pPr>
            <a:r>
              <a:rPr lang="en-US" sz="1000" b="1" dirty="0">
                <a:solidFill>
                  <a:srgbClr val="202020"/>
                </a:solidFill>
                <a:latin typeface="Calibri" pitchFamily="34" charset="0"/>
                <a:ea typeface="Calibri" pitchFamily="34" charset="-122"/>
                <a:cs typeface="Calibri" pitchFamily="34" charset="-120"/>
              </a:rPr>
              <a:t>file</a:t>
            </a:r>
            <a:endParaRPr lang="en-US" sz="1000" dirty="0"/>
          </a:p>
        </p:txBody>
      </p:sp>
      <p:sp>
        <p:nvSpPr>
          <p:cNvPr id="5" name="Text 3"/>
          <p:cNvSpPr txBox="1"/>
          <p:nvPr/>
        </p:nvSpPr>
        <p:spPr>
          <a:xfrm>
            <a:off x="448056" y="1600200"/>
            <a:ext cx="1591056" cy="548640"/>
          </a:xfrm>
          <a:prstGeom prst="rect">
            <a:avLst/>
          </a:prstGeom>
          <a:noFill/>
          <a:ln/>
        </p:spPr>
        <p:txBody>
          <a:bodyPr wrap="square" lIns="0" tIns="0" rIns="0" bIns="0" rtlCol="0" anchor="t"/>
          <a:lstStyle/>
          <a:p>
            <a:pPr algn="ctr" indent="0" marL="0">
              <a:lnSpc>
                <a:spcPts val="1100"/>
              </a:lnSpc>
              <a:buNone/>
            </a:pPr>
            <a:r>
              <a:rPr lang="en-US" sz="840" dirty="0">
                <a:solidFill>
                  <a:srgbClr val="606060"/>
                </a:solidFill>
                <a:latin typeface="Calibri" pitchFamily="34" charset="0"/>
                <a:ea typeface="Calibri" pitchFamily="34" charset="-122"/>
                <a:cs typeface="Calibri" pitchFamily="34" charset="-120"/>
              </a:rPr>
              <a:t>species by reactions</a:t>
            </a:r>
            <a:endParaRPr lang="en-US" sz="840" dirty="0"/>
          </a:p>
        </p:txBody>
      </p:sp>
      <p:sp>
        <p:nvSpPr>
          <p:cNvPr id="6" name="Shape 4"/>
          <p:cNvSpPr/>
          <p:nvPr/>
        </p:nvSpPr>
        <p:spPr>
          <a:xfrm>
            <a:off x="1984248" y="1289304"/>
            <a:ext cx="182880" cy="0"/>
          </a:xfrm>
          <a:prstGeom prst="line">
            <a:avLst/>
          </a:prstGeom>
          <a:noFill/>
          <a:ln w="15240">
            <a:solidFill>
              <a:srgbClr val="595959"/>
            </a:solidFill>
            <a:prstDash val="solid"/>
            <a:headEnd type="none"/>
            <a:tailEnd type="triangle"/>
          </a:ln>
        </p:spPr>
      </p:sp>
      <p:sp>
        <p:nvSpPr>
          <p:cNvPr id="7" name="Text 5"/>
          <p:cNvSpPr txBox="1"/>
          <p:nvPr/>
        </p:nvSpPr>
        <p:spPr>
          <a:xfrm>
            <a:off x="2167128" y="1051560"/>
            <a:ext cx="1481328" cy="475488"/>
          </a:xfrm>
          <a:prstGeom prst="rect">
            <a:avLst/>
          </a:prstGeom>
          <a:solidFill>
            <a:srgbClr val="FFE699"/>
          </a:solidFill>
          <a:ln w="12700">
            <a:solidFill>
              <a:srgbClr val="7F7F7F"/>
            </a:solidFill>
            <a:prstDash val="solid"/>
          </a:ln>
        </p:spPr>
        <p:txBody>
          <a:bodyPr wrap="square" lIns="0" tIns="0" rIns="0" bIns="0" rtlCol="0" anchor="ctr"/>
          <a:lstStyle/>
          <a:p>
            <a:pPr algn="ctr" indent="0" marL="0">
              <a:buNone/>
            </a:pPr>
            <a:r>
              <a:rPr lang="en-US" sz="1000" b="1" dirty="0">
                <a:solidFill>
                  <a:srgbClr val="202020"/>
                </a:solidFill>
                <a:latin typeface="Calibri" pitchFamily="34" charset="0"/>
                <a:ea typeface="Calibri" pitchFamily="34" charset="-122"/>
                <a:cs typeface="Calibri" pitchFamily="34" charset="-120"/>
              </a:rPr>
              <a:t>a sample table</a:t>
            </a:r>
            <a:endParaRPr lang="en-US" sz="1000" dirty="0"/>
          </a:p>
        </p:txBody>
      </p:sp>
      <p:sp>
        <p:nvSpPr>
          <p:cNvPr id="8" name="Text 6"/>
          <p:cNvSpPr txBox="1"/>
          <p:nvPr/>
        </p:nvSpPr>
        <p:spPr>
          <a:xfrm>
            <a:off x="2112264" y="1600200"/>
            <a:ext cx="1591056" cy="548640"/>
          </a:xfrm>
          <a:prstGeom prst="rect">
            <a:avLst/>
          </a:prstGeom>
          <a:noFill/>
          <a:ln/>
        </p:spPr>
        <p:txBody>
          <a:bodyPr wrap="square" lIns="0" tIns="0" rIns="0" bIns="0" rtlCol="0" anchor="t"/>
          <a:lstStyle/>
          <a:p>
            <a:pPr algn="ctr" indent="0" marL="0">
              <a:lnSpc>
                <a:spcPts val="1100"/>
              </a:lnSpc>
              <a:buNone/>
            </a:pPr>
            <a:r>
              <a:rPr lang="en-US" sz="840" dirty="0">
                <a:solidFill>
                  <a:srgbClr val="606060"/>
                </a:solidFill>
                <a:latin typeface="Calibri" pitchFamily="34" charset="0"/>
                <a:ea typeface="Calibri" pitchFamily="34" charset="-122"/>
                <a:cs typeface="Calibri" pitchFamily="34" charset="-120"/>
              </a:rPr>
              <a:t>one row per condition,</a:t>
            </a:r>
            <a:endParaRPr lang="en-US" sz="840" dirty="0"/>
          </a:p>
          <a:p>
            <a:pPr algn="ctr" indent="0" marL="0">
              <a:lnSpc>
                <a:spcPts val="1100"/>
              </a:lnSpc>
              <a:buNone/>
            </a:pPr>
            <a:r>
              <a:rPr lang="en-US" sz="840" dirty="0">
                <a:solidFill>
                  <a:srgbClr val="606060"/>
                </a:solidFill>
                <a:latin typeface="Calibri" pitchFamily="34" charset="0"/>
                <a:ea typeface="Calibri" pitchFamily="34" charset="-122"/>
                <a:cs typeface="Calibri" pitchFamily="34" charset="-120"/>
              </a:rPr>
              <a:t>from sweeping the solver</a:t>
            </a:r>
            <a:endParaRPr lang="en-US" sz="840" dirty="0"/>
          </a:p>
        </p:txBody>
      </p:sp>
      <p:sp>
        <p:nvSpPr>
          <p:cNvPr id="9" name="Shape 7"/>
          <p:cNvSpPr/>
          <p:nvPr/>
        </p:nvSpPr>
        <p:spPr>
          <a:xfrm>
            <a:off x="3648456" y="1289304"/>
            <a:ext cx="182880" cy="0"/>
          </a:xfrm>
          <a:prstGeom prst="line">
            <a:avLst/>
          </a:prstGeom>
          <a:noFill/>
          <a:ln w="15240">
            <a:solidFill>
              <a:srgbClr val="595959"/>
            </a:solidFill>
            <a:prstDash val="solid"/>
            <a:headEnd type="none"/>
            <a:tailEnd type="triangle"/>
          </a:ln>
        </p:spPr>
      </p:sp>
      <p:sp>
        <p:nvSpPr>
          <p:cNvPr id="10" name="Text 8"/>
          <p:cNvSpPr txBox="1"/>
          <p:nvPr/>
        </p:nvSpPr>
        <p:spPr>
          <a:xfrm>
            <a:off x="3831336" y="1051560"/>
            <a:ext cx="1481328" cy="475488"/>
          </a:xfrm>
          <a:prstGeom prst="rect">
            <a:avLst/>
          </a:prstGeom>
          <a:solidFill>
            <a:srgbClr val="FFE699"/>
          </a:solidFill>
          <a:ln w="12700">
            <a:solidFill>
              <a:srgbClr val="7F7F7F"/>
            </a:solidFill>
            <a:prstDash val="solid"/>
          </a:ln>
        </p:spPr>
        <p:txBody>
          <a:bodyPr wrap="square" lIns="0" tIns="0" rIns="0" bIns="0" rtlCol="0" anchor="ctr"/>
          <a:lstStyle/>
          <a:p>
            <a:pPr algn="ctr" indent="0" marL="0">
              <a:buNone/>
            </a:pPr>
            <a:r>
              <a:rPr lang="en-US" sz="1000" b="1" dirty="0">
                <a:solidFill>
                  <a:srgbClr val="202020"/>
                </a:solidFill>
                <a:latin typeface="Calibri" pitchFamily="34" charset="0"/>
                <a:ea typeface="Calibri" pitchFamily="34" charset="-122"/>
                <a:cs typeface="Calibri" pitchFamily="34" charset="-120"/>
              </a:rPr>
              <a:t>train_graphnet.py</a:t>
            </a:r>
            <a:endParaRPr lang="en-US" sz="1000" dirty="0"/>
          </a:p>
        </p:txBody>
      </p:sp>
      <p:sp>
        <p:nvSpPr>
          <p:cNvPr id="11" name="Text 9"/>
          <p:cNvSpPr txBox="1"/>
          <p:nvPr/>
        </p:nvSpPr>
        <p:spPr>
          <a:xfrm>
            <a:off x="3776472" y="1600200"/>
            <a:ext cx="1591056" cy="548640"/>
          </a:xfrm>
          <a:prstGeom prst="rect">
            <a:avLst/>
          </a:prstGeom>
          <a:noFill/>
          <a:ln/>
        </p:spPr>
        <p:txBody>
          <a:bodyPr wrap="square" lIns="0" tIns="0" rIns="0" bIns="0" rtlCol="0" anchor="t"/>
          <a:lstStyle/>
          <a:p>
            <a:pPr algn="ctr" indent="0" marL="0">
              <a:lnSpc>
                <a:spcPts val="1100"/>
              </a:lnSpc>
              <a:buNone/>
            </a:pPr>
            <a:r>
              <a:rPr lang="en-US" sz="840" dirty="0">
                <a:solidFill>
                  <a:srgbClr val="606060"/>
                </a:solidFill>
                <a:latin typeface="Calibri" pitchFamily="34" charset="0"/>
                <a:ea typeface="Calibri" pitchFamily="34" charset="-122"/>
                <a:cs typeface="Calibri" pitchFamily="34" charset="-120"/>
              </a:rPr>
              <a:t>fits the shared weights,</a:t>
            </a:r>
            <a:endParaRPr lang="en-US" sz="840" dirty="0"/>
          </a:p>
          <a:p>
            <a:pPr algn="ctr" indent="0" marL="0">
              <a:lnSpc>
                <a:spcPts val="1100"/>
              </a:lnSpc>
              <a:buNone/>
            </a:pPr>
            <a:r>
              <a:rPr lang="en-US" sz="840" dirty="0">
                <a:solidFill>
                  <a:srgbClr val="606060"/>
                </a:solidFill>
                <a:latin typeface="Calibri" pitchFamily="34" charset="0"/>
                <a:ea typeface="Calibri" pitchFamily="34" charset="-122"/>
                <a:cs typeface="Calibri" pitchFamily="34" charset="-120"/>
              </a:rPr>
              <a:t>checks the residual</a:t>
            </a:r>
            <a:endParaRPr lang="en-US" sz="840" dirty="0"/>
          </a:p>
        </p:txBody>
      </p:sp>
      <p:sp>
        <p:nvSpPr>
          <p:cNvPr id="12" name="Shape 10"/>
          <p:cNvSpPr/>
          <p:nvPr/>
        </p:nvSpPr>
        <p:spPr>
          <a:xfrm>
            <a:off x="5312664" y="1289304"/>
            <a:ext cx="182880" cy="0"/>
          </a:xfrm>
          <a:prstGeom prst="line">
            <a:avLst/>
          </a:prstGeom>
          <a:noFill/>
          <a:ln w="15240">
            <a:solidFill>
              <a:srgbClr val="595959"/>
            </a:solidFill>
            <a:prstDash val="solid"/>
            <a:headEnd type="none"/>
            <a:tailEnd type="triangle"/>
          </a:ln>
        </p:spPr>
      </p:sp>
      <p:sp>
        <p:nvSpPr>
          <p:cNvPr id="13" name="Text 11"/>
          <p:cNvSpPr txBox="1"/>
          <p:nvPr/>
        </p:nvSpPr>
        <p:spPr>
          <a:xfrm>
            <a:off x="5495544" y="1051560"/>
            <a:ext cx="1481328" cy="475488"/>
          </a:xfrm>
          <a:prstGeom prst="rect">
            <a:avLst/>
          </a:prstGeom>
          <a:solidFill>
            <a:srgbClr val="FFE699"/>
          </a:solidFill>
          <a:ln w="12700">
            <a:solidFill>
              <a:srgbClr val="7F7F7F"/>
            </a:solidFill>
            <a:prstDash val="solid"/>
          </a:ln>
        </p:spPr>
        <p:txBody>
          <a:bodyPr wrap="square" lIns="0" tIns="0" rIns="0" bIns="0" rtlCol="0" anchor="ctr"/>
          <a:lstStyle/>
          <a:p>
            <a:pPr algn="ctr" indent="0" marL="0">
              <a:buNone/>
            </a:pPr>
            <a:r>
              <a:rPr lang="en-US" sz="1000" b="1" dirty="0">
                <a:solidFill>
                  <a:srgbClr val="202020"/>
                </a:solidFill>
                <a:latin typeface="Calibri" pitchFamily="34" charset="0"/>
                <a:ea typeface="Calibri" pitchFamily="34" charset="-122"/>
                <a:cs typeface="Calibri" pitchFamily="34" charset="-120"/>
              </a:rPr>
              <a:t>a held-out check</a:t>
            </a:r>
            <a:endParaRPr lang="en-US" sz="1000" dirty="0"/>
          </a:p>
        </p:txBody>
      </p:sp>
      <p:sp>
        <p:nvSpPr>
          <p:cNvPr id="14" name="Text 12"/>
          <p:cNvSpPr txBox="1"/>
          <p:nvPr/>
        </p:nvSpPr>
        <p:spPr>
          <a:xfrm>
            <a:off x="5440680" y="1600200"/>
            <a:ext cx="1591056" cy="548640"/>
          </a:xfrm>
          <a:prstGeom prst="rect">
            <a:avLst/>
          </a:prstGeom>
          <a:noFill/>
          <a:ln/>
        </p:spPr>
        <p:txBody>
          <a:bodyPr wrap="square" lIns="0" tIns="0" rIns="0" bIns="0" rtlCol="0" anchor="t"/>
          <a:lstStyle/>
          <a:p>
            <a:pPr algn="ctr" indent="0" marL="0">
              <a:lnSpc>
                <a:spcPts val="1100"/>
              </a:lnSpc>
              <a:buNone/>
            </a:pPr>
            <a:r>
              <a:rPr lang="en-US" sz="840" dirty="0">
                <a:solidFill>
                  <a:srgbClr val="606060"/>
                </a:solidFill>
                <a:latin typeface="Calibri" pitchFamily="34" charset="0"/>
                <a:ea typeface="Calibri" pitchFamily="34" charset="-122"/>
                <a:cs typeface="Calibri" pitchFamily="34" charset="-120"/>
              </a:rPr>
              <a:t>error and correlation on</a:t>
            </a:r>
            <a:endParaRPr lang="en-US" sz="840" dirty="0"/>
          </a:p>
          <a:p>
            <a:pPr algn="ctr" indent="0" marL="0">
              <a:lnSpc>
                <a:spcPts val="1100"/>
              </a:lnSpc>
              <a:buNone/>
            </a:pPr>
            <a:r>
              <a:rPr lang="en-US" sz="840" dirty="0">
                <a:solidFill>
                  <a:srgbClr val="606060"/>
                </a:solidFill>
                <a:latin typeface="Calibri" pitchFamily="34" charset="0"/>
                <a:ea typeface="Calibri" pitchFamily="34" charset="-122"/>
                <a:cs typeface="Calibri" pitchFamily="34" charset="-120"/>
              </a:rPr>
              <a:t>rows never fitted</a:t>
            </a:r>
            <a:endParaRPr lang="en-US" sz="840" dirty="0"/>
          </a:p>
        </p:txBody>
      </p:sp>
      <p:sp>
        <p:nvSpPr>
          <p:cNvPr id="15" name="Shape 13"/>
          <p:cNvSpPr/>
          <p:nvPr/>
        </p:nvSpPr>
        <p:spPr>
          <a:xfrm>
            <a:off x="6976872" y="1289304"/>
            <a:ext cx="182880" cy="0"/>
          </a:xfrm>
          <a:prstGeom prst="line">
            <a:avLst/>
          </a:prstGeom>
          <a:noFill/>
          <a:ln w="15240">
            <a:solidFill>
              <a:srgbClr val="595959"/>
            </a:solidFill>
            <a:prstDash val="solid"/>
            <a:headEnd type="none"/>
            <a:tailEnd type="triangle"/>
          </a:ln>
        </p:spPr>
      </p:sp>
      <p:sp>
        <p:nvSpPr>
          <p:cNvPr id="16" name="Text 14"/>
          <p:cNvSpPr txBox="1"/>
          <p:nvPr/>
        </p:nvSpPr>
        <p:spPr>
          <a:xfrm>
            <a:off x="7159752" y="1051560"/>
            <a:ext cx="1481328" cy="475488"/>
          </a:xfrm>
          <a:prstGeom prst="rect">
            <a:avLst/>
          </a:prstGeom>
          <a:solidFill>
            <a:srgbClr val="FFE699"/>
          </a:solidFill>
          <a:ln w="12700">
            <a:solidFill>
              <a:srgbClr val="7F7F7F"/>
            </a:solidFill>
            <a:prstDash val="solid"/>
          </a:ln>
        </p:spPr>
        <p:txBody>
          <a:bodyPr wrap="square" lIns="0" tIns="0" rIns="0" bIns="0" rtlCol="0" anchor="ctr"/>
          <a:lstStyle/>
          <a:p>
            <a:pPr algn="ctr" indent="0" marL="0">
              <a:buNone/>
            </a:pPr>
            <a:r>
              <a:rPr lang="en-US" sz="1000" b="1" dirty="0">
                <a:solidFill>
                  <a:srgbClr val="202020"/>
                </a:solidFill>
                <a:latin typeface="Calibri" pitchFamily="34" charset="0"/>
                <a:ea typeface="Calibri" pitchFamily="34" charset="-122"/>
                <a:cs typeface="Calibri" pitchFamily="34" charset="-120"/>
              </a:rPr>
              <a:t>write aom.gnn</a:t>
            </a:r>
            <a:endParaRPr lang="en-US" sz="1000" dirty="0"/>
          </a:p>
        </p:txBody>
      </p:sp>
      <p:sp>
        <p:nvSpPr>
          <p:cNvPr id="17" name="Text 15"/>
          <p:cNvSpPr txBox="1"/>
          <p:nvPr/>
        </p:nvSpPr>
        <p:spPr>
          <a:xfrm>
            <a:off x="7104888" y="1600200"/>
            <a:ext cx="1591056" cy="548640"/>
          </a:xfrm>
          <a:prstGeom prst="rect">
            <a:avLst/>
          </a:prstGeom>
          <a:noFill/>
          <a:ln/>
        </p:spPr>
        <p:txBody>
          <a:bodyPr wrap="square" lIns="0" tIns="0" rIns="0" bIns="0" rtlCol="0" anchor="t"/>
          <a:lstStyle/>
          <a:p>
            <a:pPr algn="ctr" indent="0" marL="0">
              <a:lnSpc>
                <a:spcPts val="1100"/>
              </a:lnSpc>
              <a:buNone/>
            </a:pPr>
            <a:r>
              <a:rPr lang="en-US" sz="840" dirty="0">
                <a:solidFill>
                  <a:srgbClr val="606060"/>
                </a:solidFill>
                <a:latin typeface="Calibri" pitchFamily="34" charset="0"/>
                <a:ea typeface="Calibri" pitchFamily="34" charset="-122"/>
                <a:cs typeface="Calibri" pitchFamily="34" charset="-120"/>
              </a:rPr>
              <a:t>weights, scalings and</a:t>
            </a:r>
            <a:endParaRPr lang="en-US" sz="840" dirty="0"/>
          </a:p>
          <a:p>
            <a:pPr algn="ctr" indent="0" marL="0">
              <a:lnSpc>
                <a:spcPts val="1100"/>
              </a:lnSpc>
              <a:buNone/>
            </a:pPr>
            <a:r>
              <a:rPr lang="en-US" sz="840" dirty="0">
                <a:solidFill>
                  <a:srgbClr val="606060"/>
                </a:solidFill>
                <a:latin typeface="Calibri" pitchFamily="34" charset="0"/>
                <a:ea typeface="Calibri" pitchFamily="34" charset="-122"/>
                <a:cs typeface="Calibri" pitchFamily="34" charset="-120"/>
              </a:rPr>
              <a:t>the training box</a:t>
            </a:r>
            <a:endParaRPr lang="en-US" sz="840" dirty="0"/>
          </a:p>
        </p:txBody>
      </p:sp>
      <p:sp>
        <p:nvSpPr>
          <p:cNvPr id="18" name="Shape 16"/>
          <p:cNvSpPr/>
          <p:nvPr/>
        </p:nvSpPr>
        <p:spPr>
          <a:xfrm>
            <a:off x="502920" y="2423160"/>
            <a:ext cx="4709160" cy="2926080"/>
          </a:xfrm>
          <a:prstGeom prst="rect">
            <a:avLst/>
          </a:prstGeom>
          <a:solidFill>
            <a:srgbClr val="F7F7F9"/>
          </a:solidFill>
          <a:ln w="12700">
            <a:solidFill>
              <a:srgbClr val="BFBFBF"/>
            </a:solidFill>
            <a:prstDash val="solid"/>
          </a:ln>
        </p:spPr>
      </p:sp>
      <p:sp>
        <p:nvSpPr>
          <p:cNvPr id="19" name="Text 17"/>
          <p:cNvSpPr txBox="1"/>
          <p:nvPr/>
        </p:nvSpPr>
        <p:spPr>
          <a:xfrm>
            <a:off x="621792" y="2514600"/>
            <a:ext cx="4471416" cy="2743200"/>
          </a:xfrm>
          <a:prstGeom prst="rect">
            <a:avLst/>
          </a:prstGeom>
          <a:noFill/>
          <a:ln/>
        </p:spPr>
        <p:txBody>
          <a:bodyPr wrap="square" lIns="0" tIns="0" rIns="0" bIns="0" rtlCol="0" anchor="t"/>
          <a:lstStyle/>
          <a:p>
            <a:pPr algn="l" indent="0" marL="0">
              <a:lnSpc>
                <a:spcPts val="1200"/>
              </a:lnSpc>
              <a:buNone/>
            </a:pPr>
            <a:r>
              <a:rPr lang="en-US" sz="880" dirty="0">
                <a:solidFill>
                  <a:srgbClr val="202020"/>
                </a:solidFill>
                <a:latin typeface="Consolas" pitchFamily="34" charset="0"/>
                <a:ea typeface="Consolas" pitchFamily="34" charset="-122"/>
                <a:cs typeface="Consolas" pitchFamily="34" charset="-120"/>
              </a:rPr>
              <a:t># CompLaB3D graph network
provenance fitted from aom_samples.csv
provenance samples 400, R 0.972
provenance stoichiometric residual 0
version 1
units per_hour
species CH4 SO4 HS HCO3
reactions R1
rounds 2
width 6
growth 1
readout extent
stoich 4 1
-1
-1
1
1
trainmin 2.08e-05 5.20e-05 ...
trainmax 4.99e-03 7.93e-03 ...
Wenc 0.1198 0.5363 0.6114 ...
</a:t>
            </a:r>
            <a:endParaRPr lang="en-US" sz="880" dirty="0"/>
          </a:p>
        </p:txBody>
      </p:sp>
      <p:sp>
        <p:nvSpPr>
          <p:cNvPr id="20" name="Shape 18"/>
          <p:cNvSpPr/>
          <p:nvPr/>
        </p:nvSpPr>
        <p:spPr>
          <a:xfrm>
            <a:off x="5257800" y="2712568"/>
            <a:ext cx="246888" cy="0"/>
          </a:xfrm>
          <a:prstGeom prst="line">
            <a:avLst/>
          </a:prstGeom>
          <a:noFill/>
          <a:ln w="12700">
            <a:solidFill>
              <a:srgbClr val="BFBFBF"/>
            </a:solidFill>
            <a:prstDash val="solid"/>
            <a:headEnd type="none"/>
            <a:tailEnd type="triangle"/>
          </a:ln>
        </p:spPr>
      </p:sp>
      <p:sp>
        <p:nvSpPr>
          <p:cNvPr id="21" name="Text 19"/>
          <p:cNvSpPr txBox="1"/>
          <p:nvPr/>
        </p:nvSpPr>
        <p:spPr>
          <a:xfrm>
            <a:off x="5559552" y="2593696"/>
            <a:ext cx="3154680" cy="402336"/>
          </a:xfrm>
          <a:prstGeom prst="rect">
            <a:avLst/>
          </a:prstGeom>
          <a:noFill/>
          <a:ln/>
        </p:spPr>
        <p:txBody>
          <a:bodyPr wrap="square" lIns="0" tIns="0" rIns="0" bIns="0" rtlCol="0" anchor="t"/>
          <a:lstStyle/>
          <a:p>
            <a:pPr algn="l" indent="0" marL="0">
              <a:lnSpc>
                <a:spcPts val="1100"/>
              </a:lnSpc>
              <a:buNone/>
            </a:pPr>
            <a:r>
              <a:rPr lang="en-US" sz="880" dirty="0">
                <a:solidFill>
                  <a:srgbClr val="606060"/>
                </a:solidFill>
                <a:latin typeface="Calibri" pitchFamily="34" charset="0"/>
                <a:ea typeface="Calibri" pitchFamily="34" charset="-122"/>
                <a:cs typeface="Calibri" pitchFamily="34" charset="-120"/>
              </a:rPr>
              <a:t>where it came from, echoed into the log</a:t>
            </a:r>
            <a:endParaRPr lang="en-US" sz="880" dirty="0"/>
          </a:p>
        </p:txBody>
      </p:sp>
      <p:sp>
        <p:nvSpPr>
          <p:cNvPr id="22" name="Shape 20"/>
          <p:cNvSpPr/>
          <p:nvPr/>
        </p:nvSpPr>
        <p:spPr>
          <a:xfrm>
            <a:off x="5257800" y="2980487"/>
            <a:ext cx="246888" cy="0"/>
          </a:xfrm>
          <a:prstGeom prst="line">
            <a:avLst/>
          </a:prstGeom>
          <a:noFill/>
          <a:ln w="12700">
            <a:solidFill>
              <a:srgbClr val="BFBFBF"/>
            </a:solidFill>
            <a:prstDash val="solid"/>
            <a:headEnd type="none"/>
            <a:tailEnd type="triangle"/>
          </a:ln>
        </p:spPr>
      </p:sp>
      <p:sp>
        <p:nvSpPr>
          <p:cNvPr id="23" name="Text 21"/>
          <p:cNvSpPr txBox="1"/>
          <p:nvPr/>
        </p:nvSpPr>
        <p:spPr>
          <a:xfrm>
            <a:off x="5559552" y="2861615"/>
            <a:ext cx="3154680" cy="402336"/>
          </a:xfrm>
          <a:prstGeom prst="rect">
            <a:avLst/>
          </a:prstGeom>
          <a:noFill/>
          <a:ln/>
        </p:spPr>
        <p:txBody>
          <a:bodyPr wrap="square" lIns="0" tIns="0" rIns="0" bIns="0" rtlCol="0" anchor="t"/>
          <a:lstStyle/>
          <a:p>
            <a:pPr algn="l" indent="0" marL="0">
              <a:lnSpc>
                <a:spcPts val="1100"/>
              </a:lnSpc>
              <a:buNone/>
            </a:pPr>
            <a:r>
              <a:rPr lang="en-US" sz="880" dirty="0">
                <a:solidFill>
                  <a:srgbClr val="606060"/>
                </a:solidFill>
                <a:latin typeface="Calibri" pitchFamily="34" charset="0"/>
                <a:ea typeface="Calibri" pitchFamily="34" charset="-122"/>
                <a:cs typeface="Calibri" pitchFamily="34" charset="-120"/>
              </a:rPr>
              <a:t>the check that the answer respects the matrix</a:t>
            </a:r>
            <a:endParaRPr lang="en-US" sz="880" dirty="0"/>
          </a:p>
        </p:txBody>
      </p:sp>
      <p:sp>
        <p:nvSpPr>
          <p:cNvPr id="24" name="Shape 22"/>
          <p:cNvSpPr/>
          <p:nvPr/>
        </p:nvSpPr>
        <p:spPr>
          <a:xfrm>
            <a:off x="5257800" y="3248406"/>
            <a:ext cx="246888" cy="0"/>
          </a:xfrm>
          <a:prstGeom prst="line">
            <a:avLst/>
          </a:prstGeom>
          <a:noFill/>
          <a:ln w="12700">
            <a:solidFill>
              <a:srgbClr val="BFBFBF"/>
            </a:solidFill>
            <a:prstDash val="solid"/>
            <a:headEnd type="none"/>
            <a:tailEnd type="triangle"/>
          </a:ln>
        </p:spPr>
      </p:sp>
      <p:sp>
        <p:nvSpPr>
          <p:cNvPr id="25" name="Text 23"/>
          <p:cNvSpPr txBox="1"/>
          <p:nvPr/>
        </p:nvSpPr>
        <p:spPr>
          <a:xfrm>
            <a:off x="5559552" y="3129534"/>
            <a:ext cx="3154680" cy="402336"/>
          </a:xfrm>
          <a:prstGeom prst="rect">
            <a:avLst/>
          </a:prstGeom>
          <a:noFill/>
          <a:ln/>
        </p:spPr>
        <p:txBody>
          <a:bodyPr wrap="square" lIns="0" tIns="0" rIns="0" bIns="0" rtlCol="0" anchor="t"/>
          <a:lstStyle/>
          <a:p>
            <a:pPr algn="l" indent="0" marL="0">
              <a:lnSpc>
                <a:spcPts val="1100"/>
              </a:lnSpc>
              <a:buNone/>
            </a:pPr>
            <a:r>
              <a:rPr lang="en-US" sz="880" dirty="0">
                <a:solidFill>
                  <a:srgbClr val="606060"/>
                </a:solidFill>
                <a:latin typeface="Calibri" pitchFamily="34" charset="0"/>
                <a:ea typeface="Calibri" pitchFamily="34" charset="-122"/>
                <a:cs typeface="Calibri" pitchFamily="34" charset="-120"/>
              </a:rPr>
              <a:t>per_hour divides every rate by 3600 on load</a:t>
            </a:r>
            <a:endParaRPr lang="en-US" sz="880" dirty="0"/>
          </a:p>
        </p:txBody>
      </p:sp>
      <p:sp>
        <p:nvSpPr>
          <p:cNvPr id="26" name="Shape 24"/>
          <p:cNvSpPr/>
          <p:nvPr/>
        </p:nvSpPr>
        <p:spPr>
          <a:xfrm>
            <a:off x="5257800" y="3382366"/>
            <a:ext cx="246888" cy="0"/>
          </a:xfrm>
          <a:prstGeom prst="line">
            <a:avLst/>
          </a:prstGeom>
          <a:noFill/>
          <a:ln w="12700">
            <a:solidFill>
              <a:srgbClr val="BFBFBF"/>
            </a:solidFill>
            <a:prstDash val="solid"/>
            <a:headEnd type="none"/>
            <a:tailEnd type="triangle"/>
          </a:ln>
        </p:spPr>
      </p:sp>
      <p:sp>
        <p:nvSpPr>
          <p:cNvPr id="27" name="Text 25"/>
          <p:cNvSpPr txBox="1"/>
          <p:nvPr/>
        </p:nvSpPr>
        <p:spPr>
          <a:xfrm>
            <a:off x="5559552" y="3263494"/>
            <a:ext cx="3154680" cy="402336"/>
          </a:xfrm>
          <a:prstGeom prst="rect">
            <a:avLst/>
          </a:prstGeom>
          <a:noFill/>
          <a:ln/>
        </p:spPr>
        <p:txBody>
          <a:bodyPr wrap="square" lIns="0" tIns="0" rIns="0" bIns="0" rtlCol="0" anchor="t"/>
          <a:lstStyle/>
          <a:p>
            <a:pPr algn="l" indent="0" marL="0">
              <a:lnSpc>
                <a:spcPts val="1100"/>
              </a:lnSpc>
              <a:buNone/>
            </a:pPr>
            <a:r>
              <a:rPr lang="en-US" sz="880" dirty="0">
                <a:solidFill>
                  <a:srgbClr val="606060"/>
                </a:solidFill>
                <a:latin typeface="Calibri" pitchFamily="34" charset="0"/>
                <a:ea typeface="Calibri" pitchFamily="34" charset="-122"/>
                <a:cs typeface="Calibri" pitchFamily="34" charset="-120"/>
              </a:rPr>
              <a:t>THE BINDING: these must be the substrate names of the run</a:t>
            </a:r>
            <a:endParaRPr lang="en-US" sz="880" dirty="0"/>
          </a:p>
        </p:txBody>
      </p:sp>
      <p:sp>
        <p:nvSpPr>
          <p:cNvPr id="28" name="Shape 26"/>
          <p:cNvSpPr/>
          <p:nvPr/>
        </p:nvSpPr>
        <p:spPr>
          <a:xfrm>
            <a:off x="5257800" y="3650285"/>
            <a:ext cx="246888" cy="0"/>
          </a:xfrm>
          <a:prstGeom prst="line">
            <a:avLst/>
          </a:prstGeom>
          <a:noFill/>
          <a:ln w="12700">
            <a:solidFill>
              <a:srgbClr val="BFBFBF"/>
            </a:solidFill>
            <a:prstDash val="solid"/>
            <a:headEnd type="none"/>
            <a:tailEnd type="triangle"/>
          </a:ln>
        </p:spPr>
      </p:sp>
      <p:sp>
        <p:nvSpPr>
          <p:cNvPr id="29" name="Text 27"/>
          <p:cNvSpPr txBox="1"/>
          <p:nvPr/>
        </p:nvSpPr>
        <p:spPr>
          <a:xfrm>
            <a:off x="5559552" y="3531413"/>
            <a:ext cx="3154680" cy="402336"/>
          </a:xfrm>
          <a:prstGeom prst="rect">
            <a:avLst/>
          </a:prstGeom>
          <a:noFill/>
          <a:ln/>
        </p:spPr>
        <p:txBody>
          <a:bodyPr wrap="square" lIns="0" tIns="0" rIns="0" bIns="0" rtlCol="0" anchor="t"/>
          <a:lstStyle/>
          <a:p>
            <a:pPr algn="l" indent="0" marL="0">
              <a:lnSpc>
                <a:spcPts val="1100"/>
              </a:lnSpc>
              <a:buNone/>
            </a:pPr>
            <a:r>
              <a:rPr lang="en-US" sz="880" dirty="0">
                <a:solidFill>
                  <a:srgbClr val="606060"/>
                </a:solidFill>
                <a:latin typeface="Calibri" pitchFamily="34" charset="0"/>
                <a:ea typeface="Calibri" pitchFamily="34" charset="-122"/>
                <a:cs typeface="Calibri" pitchFamily="34" charset="-120"/>
              </a:rPr>
              <a:t>how many rounds of message passing</a:t>
            </a:r>
            <a:endParaRPr lang="en-US" sz="880" dirty="0"/>
          </a:p>
        </p:txBody>
      </p:sp>
      <p:sp>
        <p:nvSpPr>
          <p:cNvPr id="30" name="Shape 28"/>
          <p:cNvSpPr/>
          <p:nvPr/>
        </p:nvSpPr>
        <p:spPr>
          <a:xfrm>
            <a:off x="5257800" y="4052164"/>
            <a:ext cx="246888" cy="0"/>
          </a:xfrm>
          <a:prstGeom prst="line">
            <a:avLst/>
          </a:prstGeom>
          <a:noFill/>
          <a:ln w="12700">
            <a:solidFill>
              <a:srgbClr val="BFBFBF"/>
            </a:solidFill>
            <a:prstDash val="solid"/>
            <a:headEnd type="none"/>
            <a:tailEnd type="triangle"/>
          </a:ln>
        </p:spPr>
      </p:sp>
      <p:sp>
        <p:nvSpPr>
          <p:cNvPr id="31" name="Text 29"/>
          <p:cNvSpPr txBox="1"/>
          <p:nvPr/>
        </p:nvSpPr>
        <p:spPr>
          <a:xfrm>
            <a:off x="5559552" y="3933292"/>
            <a:ext cx="3154680" cy="402336"/>
          </a:xfrm>
          <a:prstGeom prst="rect">
            <a:avLst/>
          </a:prstGeom>
          <a:noFill/>
          <a:ln/>
        </p:spPr>
        <p:txBody>
          <a:bodyPr wrap="square" lIns="0" tIns="0" rIns="0" bIns="0" rtlCol="0" anchor="t"/>
          <a:lstStyle/>
          <a:p>
            <a:pPr algn="l" indent="0" marL="0">
              <a:lnSpc>
                <a:spcPts val="1100"/>
              </a:lnSpc>
              <a:buNone/>
            </a:pPr>
            <a:r>
              <a:rPr lang="en-US" sz="880" dirty="0">
                <a:solidFill>
                  <a:srgbClr val="606060"/>
                </a:solidFill>
                <a:latin typeface="Calibri" pitchFamily="34" charset="0"/>
                <a:ea typeface="Calibri" pitchFamily="34" charset="-122"/>
                <a:cs typeface="Calibri" pitchFamily="34" charset="-120"/>
              </a:rPr>
              <a:t>extent, so the readout is the exact one</a:t>
            </a:r>
            <a:endParaRPr lang="en-US" sz="880" dirty="0"/>
          </a:p>
        </p:txBody>
      </p:sp>
      <p:sp>
        <p:nvSpPr>
          <p:cNvPr id="32" name="Shape 30"/>
          <p:cNvSpPr/>
          <p:nvPr/>
        </p:nvSpPr>
        <p:spPr>
          <a:xfrm>
            <a:off x="5257800" y="4320083"/>
            <a:ext cx="246888" cy="0"/>
          </a:xfrm>
          <a:prstGeom prst="line">
            <a:avLst/>
          </a:prstGeom>
          <a:noFill/>
          <a:ln w="12700">
            <a:solidFill>
              <a:srgbClr val="BFBFBF"/>
            </a:solidFill>
            <a:prstDash val="solid"/>
            <a:headEnd type="none"/>
            <a:tailEnd type="triangle"/>
          </a:ln>
        </p:spPr>
      </p:sp>
      <p:sp>
        <p:nvSpPr>
          <p:cNvPr id="33" name="Text 31"/>
          <p:cNvSpPr txBox="1"/>
          <p:nvPr/>
        </p:nvSpPr>
        <p:spPr>
          <a:xfrm>
            <a:off x="5559552" y="4201211"/>
            <a:ext cx="3154680" cy="402336"/>
          </a:xfrm>
          <a:prstGeom prst="rect">
            <a:avLst/>
          </a:prstGeom>
          <a:noFill/>
          <a:ln/>
        </p:spPr>
        <p:txBody>
          <a:bodyPr wrap="square" lIns="0" tIns="0" rIns="0" bIns="0" rtlCol="0" anchor="t"/>
          <a:lstStyle/>
          <a:p>
            <a:pPr algn="l" indent="0" marL="0">
              <a:lnSpc>
                <a:spcPts val="1100"/>
              </a:lnSpc>
              <a:buNone/>
            </a:pPr>
            <a:r>
              <a:rPr lang="en-US" sz="880" dirty="0">
                <a:solidFill>
                  <a:srgbClr val="606060"/>
                </a:solidFill>
                <a:latin typeface="Calibri" pitchFamily="34" charset="0"/>
                <a:ea typeface="Calibri" pitchFamily="34" charset="-122"/>
                <a:cs typeface="Calibri" pitchFamily="34" charset="-120"/>
              </a:rPr>
              <a:t>the matrix itself, one entry per line</a:t>
            </a:r>
            <a:endParaRPr lang="en-US" sz="880" dirty="0"/>
          </a:p>
        </p:txBody>
      </p:sp>
      <p:sp>
        <p:nvSpPr>
          <p:cNvPr id="34" name="Shape 32"/>
          <p:cNvSpPr/>
          <p:nvPr/>
        </p:nvSpPr>
        <p:spPr>
          <a:xfrm>
            <a:off x="5257800" y="4855921"/>
            <a:ext cx="246888" cy="0"/>
          </a:xfrm>
          <a:prstGeom prst="line">
            <a:avLst/>
          </a:prstGeom>
          <a:noFill/>
          <a:ln w="12700">
            <a:solidFill>
              <a:srgbClr val="BFBFBF"/>
            </a:solidFill>
            <a:prstDash val="solid"/>
            <a:headEnd type="none"/>
            <a:tailEnd type="triangle"/>
          </a:ln>
        </p:spPr>
      </p:sp>
      <p:sp>
        <p:nvSpPr>
          <p:cNvPr id="35" name="Text 33"/>
          <p:cNvSpPr txBox="1"/>
          <p:nvPr/>
        </p:nvSpPr>
        <p:spPr>
          <a:xfrm>
            <a:off x="5559552" y="4737049"/>
            <a:ext cx="3154680" cy="402336"/>
          </a:xfrm>
          <a:prstGeom prst="rect">
            <a:avLst/>
          </a:prstGeom>
          <a:noFill/>
          <a:ln/>
        </p:spPr>
        <p:txBody>
          <a:bodyPr wrap="square" lIns="0" tIns="0" rIns="0" bIns="0" rtlCol="0" anchor="t"/>
          <a:lstStyle/>
          <a:p>
            <a:pPr algn="l" indent="0" marL="0">
              <a:lnSpc>
                <a:spcPts val="1100"/>
              </a:lnSpc>
              <a:buNone/>
            </a:pPr>
            <a:r>
              <a:rPr lang="en-US" sz="880" dirty="0">
                <a:solidFill>
                  <a:srgbClr val="606060"/>
                </a:solidFill>
                <a:latin typeface="Calibri" pitchFamily="34" charset="0"/>
                <a:ea typeface="Calibri" pitchFamily="34" charset="-122"/>
                <a:cs typeface="Calibri" pitchFamily="34" charset="-120"/>
              </a:rPr>
              <a:t>the training box, enforced at every evaluation</a:t>
            </a:r>
            <a:endParaRPr lang="en-US" sz="880" dirty="0"/>
          </a:p>
        </p:txBody>
      </p:sp>
      <p:sp>
        <p:nvSpPr>
          <p:cNvPr id="36" name="Shape 34"/>
          <p:cNvSpPr/>
          <p:nvPr/>
        </p:nvSpPr>
        <p:spPr>
          <a:xfrm>
            <a:off x="5257800" y="5123840"/>
            <a:ext cx="246888" cy="0"/>
          </a:xfrm>
          <a:prstGeom prst="line">
            <a:avLst/>
          </a:prstGeom>
          <a:noFill/>
          <a:ln w="12700">
            <a:solidFill>
              <a:srgbClr val="BFBFBF"/>
            </a:solidFill>
            <a:prstDash val="solid"/>
            <a:headEnd type="none"/>
            <a:tailEnd type="triangle"/>
          </a:ln>
        </p:spPr>
      </p:sp>
      <p:sp>
        <p:nvSpPr>
          <p:cNvPr id="37" name="Text 35"/>
          <p:cNvSpPr txBox="1"/>
          <p:nvPr/>
        </p:nvSpPr>
        <p:spPr>
          <a:xfrm>
            <a:off x="5559552" y="5004968"/>
            <a:ext cx="3154680" cy="402336"/>
          </a:xfrm>
          <a:prstGeom prst="rect">
            <a:avLst/>
          </a:prstGeom>
          <a:noFill/>
          <a:ln/>
        </p:spPr>
        <p:txBody>
          <a:bodyPr wrap="square" lIns="0" tIns="0" rIns="0" bIns="0" rtlCol="0" anchor="t"/>
          <a:lstStyle/>
          <a:p>
            <a:pPr algn="l" indent="0" marL="0">
              <a:lnSpc>
                <a:spcPts val="1100"/>
              </a:lnSpc>
              <a:buNone/>
            </a:pPr>
            <a:r>
              <a:rPr lang="en-US" sz="880" dirty="0">
                <a:solidFill>
                  <a:srgbClr val="606060"/>
                </a:solidFill>
                <a:latin typeface="Calibri" pitchFamily="34" charset="0"/>
                <a:ea typeface="Calibri" pitchFamily="34" charset="-122"/>
                <a:cs typeface="Calibri" pitchFamily="34" charset="-120"/>
              </a:rPr>
              <a:t>the fitted weights</a:t>
            </a:r>
            <a:endParaRPr lang="en-US" sz="880" dirty="0"/>
          </a:p>
        </p:txBody>
      </p:sp>
      <p:sp>
        <p:nvSpPr>
          <p:cNvPr id="38" name="Text 36"/>
          <p:cNvSpPr txBox="1"/>
          <p:nvPr/>
        </p:nvSpPr>
        <p:spPr>
          <a:xfrm>
            <a:off x="502920" y="5870448"/>
            <a:ext cx="2743200" cy="237744"/>
          </a:xfrm>
          <a:prstGeom prst="rect">
            <a:avLst/>
          </a:prstGeom>
          <a:noFill/>
          <a:ln/>
        </p:spPr>
        <p:txBody>
          <a:bodyPr wrap="square" lIns="0" tIns="0" rIns="0" bIns="0" rtlCol="0" anchor="t"/>
          <a:lstStyle/>
          <a:p>
            <a:pPr algn="l" indent="0" marL="0">
              <a:buNone/>
            </a:pPr>
            <a:r>
              <a:rPr lang="en-US" sz="950" b="1" dirty="0">
                <a:solidFill>
                  <a:srgbClr val="202020"/>
                </a:solidFill>
                <a:latin typeface="Calibri" pitchFamily="34" charset="0"/>
                <a:ea typeface="Calibri" pitchFamily="34" charset="-122"/>
                <a:cs typeface="Calibri" pitchFamily="34" charset="-120"/>
              </a:rPr>
              <a:t>and in CompLaB.xml:</a:t>
            </a:r>
            <a:endParaRPr lang="en-US" sz="950" dirty="0"/>
          </a:p>
        </p:txBody>
      </p:sp>
      <p:sp>
        <p:nvSpPr>
          <p:cNvPr id="39" name="Shape 37"/>
          <p:cNvSpPr/>
          <p:nvPr/>
        </p:nvSpPr>
        <p:spPr>
          <a:xfrm>
            <a:off x="502920" y="6144768"/>
            <a:ext cx="3977640" cy="868680"/>
          </a:xfrm>
          <a:prstGeom prst="rect">
            <a:avLst/>
          </a:prstGeom>
          <a:solidFill>
            <a:srgbClr val="F7F7F9"/>
          </a:solidFill>
          <a:ln w="12700">
            <a:solidFill>
              <a:srgbClr val="BFBFBF"/>
            </a:solidFill>
            <a:prstDash val="solid"/>
          </a:ln>
        </p:spPr>
      </p:sp>
      <p:sp>
        <p:nvSpPr>
          <p:cNvPr id="40" name="Text 38"/>
          <p:cNvSpPr txBox="1"/>
          <p:nvPr/>
        </p:nvSpPr>
        <p:spPr>
          <a:xfrm>
            <a:off x="621792" y="6236208"/>
            <a:ext cx="3739896" cy="685800"/>
          </a:xfrm>
          <a:prstGeom prst="rect">
            <a:avLst/>
          </a:prstGeom>
          <a:noFill/>
          <a:ln/>
        </p:spPr>
        <p:txBody>
          <a:bodyPr wrap="square" lIns="0" tIns="0" rIns="0" bIns="0" rtlCol="0" anchor="t"/>
          <a:lstStyle/>
          <a:p>
            <a:pPr algn="l" indent="0" marL="0">
              <a:lnSpc>
                <a:spcPts val="1200"/>
              </a:lnSpc>
              <a:buNone/>
            </a:pPr>
            <a:r>
              <a:rPr lang="en-US" sz="880" dirty="0">
                <a:solidFill>
                  <a:srgbClr val="202020"/>
                </a:solidFill>
                <a:latin typeface="Consolas" pitchFamily="34" charset="0"/>
                <a:ea typeface="Consolas" pitchFamily="34" charset="-122"/>
                <a:cs typeface="Consolas" pitchFamily="34" charset="-120"/>
              </a:rPr>
              <a:t>&lt;graphnet&gt;</a:t>
            </a:r>
            <a:endParaRPr lang="en-US" sz="880" dirty="0"/>
          </a:p>
          <a:p>
            <a:pPr algn="l" indent="0" marL="0">
              <a:lnSpc>
                <a:spcPts val="1200"/>
              </a:lnSpc>
              <a:buNone/>
            </a:pPr>
            <a:r>
              <a:rPr lang="en-US" sz="880" dirty="0">
                <a:solidFill>
                  <a:srgbClr val="202020"/>
                </a:solidFill>
                <a:latin typeface="Consolas" pitchFamily="34" charset="0"/>
                <a:ea typeface="Consolas" pitchFamily="34" charset="-122"/>
                <a:cs typeface="Consolas" pitchFamily="34" charset="-120"/>
              </a:rPr>
              <a:t>  &lt;enabled&gt;true&lt;/enabled&gt;</a:t>
            </a:r>
            <a:endParaRPr lang="en-US" sz="880" dirty="0"/>
          </a:p>
          <a:p>
            <a:pPr algn="l" indent="0" marL="0">
              <a:lnSpc>
                <a:spcPts val="1200"/>
              </a:lnSpc>
              <a:buNone/>
            </a:pPr>
            <a:r>
              <a:rPr lang="en-US" sz="880" dirty="0">
                <a:solidFill>
                  <a:srgbClr val="202020"/>
                </a:solidFill>
                <a:latin typeface="Consolas" pitchFamily="34" charset="0"/>
                <a:ea typeface="Consolas" pitchFamily="34" charset="-122"/>
                <a:cs typeface="Consolas" pitchFamily="34" charset="-120"/>
              </a:rPr>
              <a:t>  &lt;network_file&gt;input/aom.gnn&lt;/network_file&gt;</a:t>
            </a:r>
            <a:endParaRPr lang="en-US" sz="880" dirty="0"/>
          </a:p>
          <a:p>
            <a:pPr algn="l" indent="0" marL="0">
              <a:lnSpc>
                <a:spcPts val="1200"/>
              </a:lnSpc>
              <a:buNone/>
            </a:pPr>
            <a:r>
              <a:rPr lang="en-US" sz="880" dirty="0">
                <a:solidFill>
                  <a:srgbClr val="202020"/>
                </a:solidFill>
                <a:latin typeface="Consolas" pitchFamily="34" charset="0"/>
                <a:ea typeface="Consolas" pitchFamily="34" charset="-122"/>
                <a:cs typeface="Consolas" pitchFamily="34" charset="-120"/>
              </a:rPr>
              <a:t>&lt;/graphnet&gt;</a:t>
            </a:r>
            <a:endParaRPr lang="en-US" sz="880" dirty="0"/>
          </a:p>
        </p:txBody>
      </p:sp>
      <p:sp>
        <p:nvSpPr>
          <p:cNvPr id="41" name="Shape 39"/>
          <p:cNvSpPr/>
          <p:nvPr/>
        </p:nvSpPr>
        <p:spPr>
          <a:xfrm>
            <a:off x="4754880" y="6144768"/>
            <a:ext cx="3977640" cy="868680"/>
          </a:xfrm>
          <a:prstGeom prst="rect">
            <a:avLst/>
          </a:prstGeom>
          <a:solidFill>
            <a:srgbClr val="F7F7F9"/>
          </a:solidFill>
          <a:ln w="12700">
            <a:solidFill>
              <a:srgbClr val="BFBFBF"/>
            </a:solidFill>
            <a:prstDash val="solid"/>
          </a:ln>
        </p:spPr>
      </p:sp>
      <p:sp>
        <p:nvSpPr>
          <p:cNvPr id="42" name="Text 40"/>
          <p:cNvSpPr txBox="1"/>
          <p:nvPr/>
        </p:nvSpPr>
        <p:spPr>
          <a:xfrm>
            <a:off x="4873752" y="6236208"/>
            <a:ext cx="3739896" cy="685800"/>
          </a:xfrm>
          <a:prstGeom prst="rect">
            <a:avLst/>
          </a:prstGeom>
          <a:noFill/>
          <a:ln/>
        </p:spPr>
        <p:txBody>
          <a:bodyPr wrap="square" lIns="0" tIns="0" rIns="0" bIns="0" rtlCol="0" anchor="t"/>
          <a:lstStyle/>
          <a:p>
            <a:pPr algn="l" indent="0" marL="0">
              <a:lnSpc>
                <a:spcPts val="1200"/>
              </a:lnSpc>
              <a:buNone/>
            </a:pPr>
            <a:r>
              <a:rPr lang="en-US" sz="880" dirty="0">
                <a:solidFill>
                  <a:srgbClr val="202020"/>
                </a:solidFill>
                <a:latin typeface="Consolas" pitchFamily="34" charset="0"/>
                <a:ea typeface="Consolas" pitchFamily="34" charset="-122"/>
                <a:cs typeface="Consolas" pitchFamily="34" charset="-120"/>
              </a:rPr>
              <a:t>&lt;microbe0&gt;</a:t>
            </a:r>
            <a:endParaRPr lang="en-US" sz="880" dirty="0"/>
          </a:p>
          <a:p>
            <a:pPr algn="l" indent="0" marL="0">
              <a:lnSpc>
                <a:spcPts val="1200"/>
              </a:lnSpc>
              <a:buNone/>
            </a:pPr>
            <a:r>
              <a:rPr lang="en-US" sz="880" dirty="0">
                <a:solidFill>
                  <a:srgbClr val="202020"/>
                </a:solidFill>
                <a:latin typeface="Consolas" pitchFamily="34" charset="0"/>
                <a:ea typeface="Consolas" pitchFamily="34" charset="-122"/>
                <a:cs typeface="Consolas" pitchFamily="34" charset="-120"/>
              </a:rPr>
              <a:t>  &lt;reaction_type&gt;graphnet&lt;/reaction_type&gt;</a:t>
            </a:r>
            <a:endParaRPr lang="en-US" sz="880" dirty="0"/>
          </a:p>
          <a:p>
            <a:pPr algn="l" indent="0" marL="0">
              <a:lnSpc>
                <a:spcPts val="1200"/>
              </a:lnSpc>
              <a:buNone/>
            </a:pPr>
            <a:r>
              <a:rPr lang="en-US" sz="880" dirty="0">
                <a:solidFill>
                  <a:srgbClr val="202020"/>
                </a:solidFill>
                <a:latin typeface="Consolas" pitchFamily="34" charset="0"/>
                <a:ea typeface="Consolas" pitchFamily="34" charset="-122"/>
                <a:cs typeface="Consolas" pitchFamily="34" charset="-120"/>
              </a:rPr>
              <a:t>  ...</a:t>
            </a:r>
            <a:endParaRPr lang="en-US" sz="880" dirty="0"/>
          </a:p>
          <a:p>
            <a:pPr algn="l" indent="0" marL="0">
              <a:lnSpc>
                <a:spcPts val="1200"/>
              </a:lnSpc>
              <a:buNone/>
            </a:pPr>
            <a:r>
              <a:rPr lang="en-US" sz="880" dirty="0">
                <a:solidFill>
                  <a:srgbClr val="202020"/>
                </a:solidFill>
                <a:latin typeface="Consolas" pitchFamily="34" charset="0"/>
                <a:ea typeface="Consolas" pitchFamily="34" charset="-122"/>
                <a:cs typeface="Consolas" pitchFamily="34" charset="-120"/>
              </a:rPr>
              <a:t>&lt;/microbe0&gt;</a:t>
            </a:r>
            <a:endParaRPr lang="en-US" sz="8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2026-09-07T09:56:40Z</dcterms:created>
  <dcterms:modified xsi:type="dcterms:W3CDTF">2026-09-07T09:56:40Z</dcterms:modified>
</cp:coreProperties>
</file>