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73600" cy="26334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1214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9317736"/>
            <a:ext cx="1618488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4352544"/>
            <a:ext cx="914400" cy="2670048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321040" y="17611344"/>
            <a:ext cx="914400" cy="34747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336" y="1993392"/>
            <a:ext cx="82296" cy="6867144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20640" y="3072384"/>
            <a:ext cx="0" cy="84124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4791456"/>
            <a:ext cx="0" cy="3657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6035040"/>
            <a:ext cx="0" cy="40233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7315200"/>
            <a:ext cx="0" cy="44805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7280" y="5596128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7280" y="4352544"/>
            <a:ext cx="0" cy="1243584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352544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8769096"/>
            <a:ext cx="0" cy="1170432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336" y="9848088"/>
            <a:ext cx="82296" cy="40142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120640" y="10927080"/>
            <a:ext cx="0" cy="43891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2390120"/>
            <a:ext cx="0" cy="37490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60" y="11878056"/>
            <a:ext cx="228600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2336" y="13725144"/>
            <a:ext cx="82296" cy="6803136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20640" y="14749272"/>
            <a:ext cx="0" cy="46634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15873984"/>
            <a:ext cx="0" cy="51206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17044416"/>
            <a:ext cx="0" cy="47548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20640" y="18397728"/>
            <a:ext cx="0" cy="32918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0640" y="19568160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97280" y="19147536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97280" y="14447520"/>
            <a:ext cx="0" cy="4700016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7280" y="14447520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35440" y="5212080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15800832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306324"/>
            <a:ext cx="10205847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symbolic path as code: from a table of numbers to a change in one voxel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" y="877824"/>
            <a:ext cx="11418570" cy="44165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Read straight down. The yellow band runs once, before any simulation exists. The blue band runs once when the solver starts. The green band runs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in every wet voxel at every reaction step, and is the box marked in red in Figure 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20240" y="2414016"/>
            <a:ext cx="6400800" cy="658368"/>
          </a:xfrm>
          <a:prstGeom prst="roundRect">
            <a:avLst>
              <a:gd name="adj" fmla="val 9722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20240" y="3913632"/>
            <a:ext cx="6400800" cy="877824"/>
          </a:xfrm>
          <a:prstGeom prst="roundRect">
            <a:avLst>
              <a:gd name="adj" fmla="val 7291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3611880" y="5157216"/>
            <a:ext cx="3017520" cy="877824"/>
          </a:xfrm>
          <a:prstGeom prst="diamond">
            <a:avLst/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20240" y="6437376"/>
            <a:ext cx="6400800" cy="877824"/>
          </a:xfrm>
          <a:prstGeom prst="roundRect">
            <a:avLst>
              <a:gd name="adj" fmla="val 7291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20240" y="7763256"/>
            <a:ext cx="6400800" cy="1005840"/>
          </a:xfrm>
          <a:prstGeom prst="roundRect">
            <a:avLst>
              <a:gd name="adj" fmla="val 636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 rot="16200000">
            <a:off x="-69037" y="5300091"/>
            <a:ext cx="686714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offline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4" y="613562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6402" y="5349240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9043416"/>
            <a:ext cx="1112139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.sym 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8656" y="9354312"/>
            <a:ext cx="265290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is the only thing that crosses this 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10268712"/>
            <a:ext cx="6400800" cy="658368"/>
          </a:xfrm>
          <a:prstGeom prst="roundRect">
            <a:avLst>
              <a:gd name="adj" fmla="val 9722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iamond 48"/>
          <p:cNvSpPr/>
          <p:nvPr/>
        </p:nvSpPr>
        <p:spPr>
          <a:xfrm>
            <a:off x="2560320" y="11365992"/>
            <a:ext cx="5120640" cy="1024128"/>
          </a:xfrm>
          <a:prstGeom prst="diamond">
            <a:avLst/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20240" y="12765024"/>
            <a:ext cx="6400800" cy="1005840"/>
          </a:xfrm>
          <a:prstGeom prst="roundRect">
            <a:avLst>
              <a:gd name="adj" fmla="val 636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6200000">
            <a:off x="-111556" y="11728323"/>
            <a:ext cx="771753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5504" y="12476988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0" y="11530584"/>
            <a:ext cx="4389120" cy="694944"/>
          </a:xfrm>
          <a:prstGeom prst="roundRect">
            <a:avLst>
              <a:gd name="adj" fmla="val 9210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4112" y="1161288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0748" y="12353544"/>
            <a:ext cx="3201543" cy="35935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 name that does not exist is a typo, and a typo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that reached the first step would be a silent zero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20240" y="14145768"/>
            <a:ext cx="6400800" cy="603504"/>
          </a:xfrm>
          <a:prstGeom prst="roundRect">
            <a:avLst>
              <a:gd name="adj" fmla="val 10606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920240" y="15215616"/>
            <a:ext cx="6400800" cy="658368"/>
          </a:xfrm>
          <a:prstGeom prst="roundRect">
            <a:avLst>
              <a:gd name="adj" fmla="val 9722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920240" y="16386048"/>
            <a:ext cx="6400800" cy="658368"/>
          </a:xfrm>
          <a:prstGeom prst="roundRect">
            <a:avLst>
              <a:gd name="adj" fmla="val 9722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920240" y="17519904"/>
            <a:ext cx="6400800" cy="877824"/>
          </a:xfrm>
          <a:prstGeom prst="roundRect">
            <a:avLst>
              <a:gd name="adj" fmla="val 7291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3611880" y="18726912"/>
            <a:ext cx="3017520" cy="841248"/>
          </a:xfrm>
          <a:prstGeom prst="diamond">
            <a:avLst/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743200" y="19906488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 rot="16200000">
            <a:off x="-196596" y="16999839"/>
            <a:ext cx="94183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75504" y="1963674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16402" y="18900648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73184" y="618134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473184" y="669340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473184" y="720547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73184" y="771753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473184" y="822960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473184" y="1677009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473184" y="1728216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473184" y="1779422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473184" y="1830628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73184" y="1881835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769471" y="1924812"/>
            <a:ext cx="261289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offline, once, outside CompLaB3D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10669" y="2455164"/>
            <a:ext cx="17305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start-up, once per run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10072" y="2985516"/>
            <a:ext cx="213169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per voxel, per reaction step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80242" y="3515868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907202" y="4046220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32366" y="2528773"/>
            <a:ext cx="4376547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table of data: one row per state, the concentrations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in that state, and the one rate you want reproduced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4350" y="4037990"/>
            <a:ext cx="4632579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Breed a population of expression trees out of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+  −  ×  ÷  and your variable names, fit the numbers inside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each one by least squares, and score it against the data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9699" y="5486400"/>
            <a:ext cx="134188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generations left?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1198" y="6561734"/>
            <a:ext cx="477888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Keep the best tree at each length. What comes back is that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list, not one answer, and you pick one length off it. --verify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runs the same search twice to say which lengths are stable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2923" y="7951622"/>
            <a:ext cx="4615434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Write the .sym file: the fitted rate line, the reaction,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yield, the biomass name, one range line per variable,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units line, and a header saying how it was made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25521" y="10383469"/>
            <a:ext cx="4190238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file. Parse each rate line exactly once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into a small tree of nodes, held in one shared arena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3357" y="11586362"/>
            <a:ext cx="2234565" cy="5833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every name known to this run,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and no line using an output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defined below it?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50045" y="12953390"/>
            <a:ext cx="4941189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Bind each variable to its lattice by name, not by position.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Work the substrate lines out from the reaction and the yield.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Store the unit scale and the fitted range of each variable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15650" y="11663629"/>
            <a:ext cx="2491740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 before the first step,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naming the line and the name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51251" y="14333220"/>
            <a:ext cx="393877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this voxel's concentrations and its biomass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60357" y="15330373"/>
            <a:ext cx="4520565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Pull each input back inside the range the fit was shown,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and count every time you have to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69539" y="16500805"/>
            <a:ext cx="3902202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Walk each tree from the leaves up, in file order.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later line may read an earlier line's output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10028" y="17644262"/>
            <a:ext cx="5221224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Apply the unit scale. Multiply the growth output by biomass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add the substrate outputs up over organisms, then hand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increments to transport, floored at what the voxel holds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83430" y="19037808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02761" y="20057364"/>
            <a:ext cx="263575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back to the solve loop of Figure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18320" y="5394960"/>
            <a:ext cx="2991231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inside one generation of the search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18320" y="5760720"/>
            <a:ext cx="4425696" cy="40736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Nobody tells it about Monod. The shape of the formula is what is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being searched over, not just the numbers in a shape you chose.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942064" y="6281928"/>
            <a:ext cx="226771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take two trees that scored well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56264" y="6793992"/>
            <a:ext cx="363931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swap a branch between them, or change one node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493436" y="7306056"/>
            <a:ext cx="31649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fit that new tree's numbers by least squares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18532" y="7818120"/>
            <a:ext cx="391477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score it: the error it leaves, plus a penalty for its length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204257" y="8330184"/>
            <a:ext cx="374332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keep it only if it beats the best tree of its own length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418320" y="15983712"/>
            <a:ext cx="412851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inside one voxel, when the path is a symbolic law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18320" y="16349472"/>
            <a:ext cx="4523994" cy="40736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No linear program, no network, no linear algebra. One pass over a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tree that was already built before the first step ran.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94554" y="16870680"/>
            <a:ext cx="356273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leaves are read: a number, or a concentration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12283" y="17382744"/>
            <a:ext cx="332727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each node combines the two children below it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48822" y="17894808"/>
            <a:ext cx="385419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growth is worked out first, because it is first in the file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89957" y="18406872"/>
            <a:ext cx="397192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substrate lines reuse that growth number, unscaled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80788" y="18918936"/>
            <a:ext cx="439026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one growth rate and one source term per substrate come out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17991" y="3182112"/>
            <a:ext cx="5805297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make_training_data.py writes the example table, and the law it drew from beside it,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so this case can ask whether the search found the RIGHT law and not merely one that fits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65376" y="2082403"/>
            <a:ext cx="7694676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training/make_training_data.py   then   tools/method_3_symbolic/fit_symbolic.py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65376" y="9937099"/>
            <a:ext cx="251002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src/complab3d_symbolic.hh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65376" y="13814155"/>
            <a:ext cx="2798064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src/complab3d_integration.hh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99182" y="15983712"/>
            <a:ext cx="5042916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the count is printed at the end of the run: a law used outside the range it was</a:t>
            </a:r>
          </a:p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fitted over does not fail, it returns a confident number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633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1627632"/>
            <a:ext cx="9601200" cy="1901952"/>
          </a:xfrm>
          <a:prstGeom prst="roundRect">
            <a:avLst>
              <a:gd name="adj" fmla="val 4326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0" y="2103120"/>
            <a:ext cx="457200" cy="47548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06640" y="3657600"/>
            <a:ext cx="9601200" cy="1627632"/>
          </a:xfrm>
          <a:prstGeom prst="roundRect">
            <a:avLst>
              <a:gd name="adj" fmla="val 5056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49440" y="4133088"/>
            <a:ext cx="457200" cy="33832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5559552"/>
            <a:ext cx="9601200" cy="1938528"/>
          </a:xfrm>
          <a:prstGeom prst="roundRect">
            <a:avLst>
              <a:gd name="adj" fmla="val 4245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6144768"/>
            <a:ext cx="457200" cy="38404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7845552"/>
            <a:ext cx="9601200" cy="2340864"/>
          </a:xfrm>
          <a:prstGeom prst="roundRect">
            <a:avLst>
              <a:gd name="adj" fmla="val 3515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8558784"/>
            <a:ext cx="457200" cy="45720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2600432"/>
            <a:ext cx="9601200" cy="5669280"/>
          </a:xfrm>
          <a:prstGeom prst="roundRect">
            <a:avLst>
              <a:gd name="adj" fmla="val 1451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5435072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23920704"/>
            <a:ext cx="9601200" cy="1792224"/>
          </a:xfrm>
          <a:prstGeom prst="roundRect">
            <a:avLst>
              <a:gd name="adj" fmla="val 4591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4524208"/>
            <a:ext cx="457200" cy="29260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16368" y="13405104"/>
            <a:ext cx="9381744" cy="2157984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6368" y="15709392"/>
            <a:ext cx="6035040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606272" y="15709392"/>
            <a:ext cx="3291840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332720" y="20299680"/>
            <a:ext cx="0" cy="987552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49440" y="21287232"/>
            <a:ext cx="3383280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280160" y="21287232"/>
            <a:ext cx="365760" cy="0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0160" y="11320272"/>
            <a:ext cx="0" cy="9966960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" y="11320272"/>
            <a:ext cx="2962656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41248" y="11814048"/>
            <a:ext cx="1170432" cy="0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" y="11814048"/>
            <a:ext cx="0" cy="10497312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248" y="22311360"/>
            <a:ext cx="804672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02336" y="23335488"/>
            <a:ext cx="2157984" cy="0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02336" y="9601200"/>
            <a:ext cx="0" cy="13734288"/>
          </a:xfrm>
          <a:prstGeom prst="line">
            <a:avLst/>
          </a:prstGeom>
          <a:ln w="1619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2336" y="9601200"/>
            <a:ext cx="3840480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52944" y="1737360"/>
            <a:ext cx="737577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row per state of your system: the columns you measured, and the one column you want a formula for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54112" y="2596896"/>
            <a:ext cx="5376672" cy="0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52944" y="3767328"/>
            <a:ext cx="735863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a box is drawn from  +  -  *  /  or a name or a number, and whatever hangs under it is drawn the same 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2944" y="5669280"/>
            <a:ext cx="792441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least squares puts the best possible numbers in, the gap to your data is measured, then a penalty is added per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2944" y="7955280"/>
            <a:ext cx="658482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slot per number of boxes, so a short formula is only ever judged against another short 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8247888"/>
            <a:ext cx="1956816" cy="1700784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66960" y="8247888"/>
            <a:ext cx="1956816" cy="1700784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252960" y="8247888"/>
            <a:ext cx="1956816" cy="1700784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4538960" y="8247888"/>
            <a:ext cx="1956816" cy="1700784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1429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12710160"/>
            <a:ext cx="738492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of three moves, chosen at random. The odds are what keep the population both improving and varied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2944" y="24030432"/>
            <a:ext cx="566242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list: one formula per size. Choosing a row off it is your decision, not the tool's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22992" y="6455664"/>
            <a:ext cx="749808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606272" y="6455664"/>
            <a:ext cx="548640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44384" y="13496544"/>
            <a:ext cx="54063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SWAP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13505688"/>
            <a:ext cx="94754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6 of every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38944" y="13478256"/>
            <a:ext cx="4378833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alibri"/>
              </a:rPr>
              <a:t>two parents, each the best of three taken at random. Ring one box in</a:t>
            </a:r>
          </a:p>
          <a:p>
            <a:pPr algn="l"/>
            <a:r>
              <a:rPr sz="1200" b="0" i="0">
                <a:solidFill>
                  <a:srgbClr val="7F7F7F"/>
                </a:solidFill>
                <a:latin typeface="Calibri"/>
              </a:rPr>
              <a:t>each, everything under it included, and let the rings change places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3021" y="13853160"/>
            <a:ext cx="197853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02020"/>
                </a:solidFill>
                <a:latin typeface="Calibri"/>
              </a:rPr>
              <a:t>parent A,  from the population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7948" y="15005304"/>
            <a:ext cx="86868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B04A4A"/>
                </a:solidFill>
                <a:latin typeface="Calibri"/>
              </a:rPr>
              <a:t>this goes 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93970" y="13853160"/>
            <a:ext cx="197167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02020"/>
                </a:solidFill>
                <a:latin typeface="Calibri"/>
              </a:rPr>
              <a:t>parent B,  from the population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40896" y="15005304"/>
            <a:ext cx="87782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B04A4A"/>
                </a:solidFill>
                <a:latin typeface="Calibri"/>
              </a:rPr>
              <a:t>this comes 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368528" y="14520672"/>
            <a:ext cx="640080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5153322" y="13853160"/>
            <a:ext cx="636651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02020"/>
                </a:solidFill>
                <a:latin typeface="Calibri"/>
              </a:rPr>
              <a:t>the child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44384" y="15800832"/>
            <a:ext cx="71894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3648" y="15809976"/>
            <a:ext cx="94754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3 of every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6064" y="15809976"/>
            <a:ext cx="392049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alibri"/>
              </a:rPr>
              <a:t>one parent from the population, and exactly one box changes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1936" y="16066008"/>
            <a:ext cx="51206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02020"/>
                </a:solidFill>
                <a:latin typeface="Calibri"/>
              </a:rPr>
              <a:t>before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351008" y="16660368"/>
            <a:ext cx="658368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977497" y="16066008"/>
            <a:ext cx="40462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02020"/>
                </a:solidFill>
                <a:latin typeface="Calibri"/>
              </a:rPr>
              <a:t>after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83533" y="16806672"/>
            <a:ext cx="1393317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B04A4A"/>
                </a:solidFill>
                <a:latin typeface="Calibri"/>
              </a:rPr>
              <a:t>only the ringed box</a:t>
            </a:r>
          </a:p>
          <a:p>
            <a:pPr algn="ctr"/>
            <a:r>
              <a:rPr sz="1100" b="0" i="1">
                <a:solidFill>
                  <a:srgbClr val="B04A4A"/>
                </a:solidFill>
                <a:latin typeface="Calibri"/>
              </a:rPr>
              <a:t>changed:  /  became  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34288" y="15800832"/>
            <a:ext cx="55892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FRESH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520672" y="15809976"/>
            <a:ext cx="94754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1 of every 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34288" y="16075152"/>
            <a:ext cx="2690622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alibri"/>
              </a:rPr>
              <a:t>nothing from the population at all:</a:t>
            </a:r>
          </a:p>
          <a:p>
            <a:pPr algn="l"/>
            <a:r>
              <a:rPr sz="1200" b="0" i="0">
                <a:solidFill>
                  <a:srgbClr val="7F7F7F"/>
                </a:solidFill>
                <a:latin typeface="Calibri"/>
              </a:rPr>
              <a:t>a brand new random formula, as in step 1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132320" y="20007072"/>
            <a:ext cx="822960" cy="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297680" y="2350008"/>
            <a:ext cx="0" cy="1481328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97680" y="4434840"/>
            <a:ext cx="0" cy="1408176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97680" y="6446520"/>
            <a:ext cx="0" cy="1810512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297680" y="8860536"/>
            <a:ext cx="0" cy="1664208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97680" y="11055096"/>
            <a:ext cx="0" cy="301752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297680" y="12271248"/>
            <a:ext cx="0" cy="2862072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97680" y="15736824"/>
            <a:ext cx="0" cy="2779776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297680" y="19083528"/>
            <a:ext cx="0" cy="420624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297680" y="20509992"/>
            <a:ext cx="0" cy="512064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297680" y="22576536"/>
            <a:ext cx="0" cy="32004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297680" y="23774400"/>
            <a:ext cx="0" cy="502920"/>
          </a:xfrm>
          <a:prstGeom prst="line">
            <a:avLst/>
          </a:prstGeom>
          <a:ln w="16192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01752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94360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86968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645920" y="1856232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645920" y="383133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8165592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76488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9994392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305288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1512296" y="433425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978640" y="433425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2134088" y="468172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2444984" y="468172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3341096" y="433425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807440" y="433425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3962888" y="468172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273784" y="468172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15480792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5791688" y="433425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645920" y="584301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>
            <a:off x="8266176" y="6217920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955280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266176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887968" y="6217920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9198864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509760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649456" y="6217920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338560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1649456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2271248" y="6217920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12582144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2893040" y="6565392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14301216" y="6272784"/>
            <a:ext cx="1737360" cy="274320"/>
          </a:xfrm>
          <a:prstGeom prst="rect">
            <a:avLst/>
          </a:prstGeom>
          <a:solidFill>
            <a:srgbClr val="E3A7A7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038576" y="6272784"/>
            <a:ext cx="512064" cy="274320"/>
          </a:xfrm>
          <a:prstGeom prst="rect">
            <a:avLst/>
          </a:prstGeom>
          <a:solidFill>
            <a:srgbClr val="D9D9E0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645920" y="825703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67331" y="8330184"/>
            <a:ext cx="58407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3 boxes</a:t>
            </a:r>
          </a:p>
        </p:txBody>
      </p:sp>
      <p:cxnSp>
        <p:nvCxnSpPr>
          <p:cNvPr id="109" name="Connector 108"/>
          <p:cNvCxnSpPr/>
          <p:nvPr/>
        </p:nvCxnSpPr>
        <p:spPr>
          <a:xfrm flipH="1">
            <a:off x="8348472" y="881481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659368" y="8814816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355901" y="9628632"/>
            <a:ext cx="60693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02020"/>
                </a:solidFill>
                <a:latin typeface="Consolas"/>
              </a:rPr>
              <a:t>0.075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53331" y="8330184"/>
            <a:ext cx="58407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5 boxes</a:t>
            </a:r>
          </a:p>
        </p:txBody>
      </p:sp>
      <p:cxnSp>
        <p:nvCxnSpPr>
          <p:cNvPr id="113" name="Connector 112"/>
          <p:cNvCxnSpPr/>
          <p:nvPr/>
        </p:nvCxnSpPr>
        <p:spPr>
          <a:xfrm flipH="1">
            <a:off x="10323576" y="881481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789920" y="8814816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10945368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1256264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0641901" y="9628632"/>
            <a:ext cx="60693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02020"/>
                </a:solidFill>
                <a:latin typeface="Consolas"/>
              </a:rPr>
              <a:t>0.056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939903" y="8330184"/>
            <a:ext cx="58293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7 boxes</a:t>
            </a:r>
          </a:p>
        </p:txBody>
      </p:sp>
      <p:cxnSp>
        <p:nvCxnSpPr>
          <p:cNvPr id="119" name="Connector 118"/>
          <p:cNvCxnSpPr/>
          <p:nvPr/>
        </p:nvCxnSpPr>
        <p:spPr>
          <a:xfrm flipH="1">
            <a:off x="12609576" y="8814816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12298680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2609576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3231368" y="8814816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13542264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3853160" y="9162288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2927901" y="9628632"/>
            <a:ext cx="60693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02020"/>
                </a:solidFill>
                <a:latin typeface="Consolas"/>
              </a:rPr>
              <a:t>0.000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225903" y="8330184"/>
            <a:ext cx="58293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9 boxes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128748" y="8988552"/>
            <a:ext cx="77724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still empty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645920" y="10524744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iamond 128"/>
          <p:cNvSpPr/>
          <p:nvPr/>
        </p:nvSpPr>
        <p:spPr>
          <a:xfrm>
            <a:off x="2011680" y="11356848"/>
            <a:ext cx="457200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645920" y="15133320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H="1">
            <a:off x="8540496" y="14282928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006840" y="14282928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162288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473184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1868912" y="14282928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1558016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1868912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2335256" y="14282928"/>
            <a:ext cx="466344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4849856" y="14282928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14538960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4849856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5471648" y="14282928"/>
            <a:ext cx="621792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15782544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6093440" y="14630400"/>
            <a:ext cx="310896" cy="128016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8348472" y="16555212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753094" y="16555212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8887968" y="16856964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157716" y="16856964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1640312" y="16555212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2044934" y="16555212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12179808" y="16856964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2449556" y="16856964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14749272" y="16683228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5153894" y="16683228"/>
            <a:ext cx="404622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15288768" y="16984980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5558516" y="16984980"/>
            <a:ext cx="269748" cy="109728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1645920" y="185166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Diamond 157"/>
          <p:cNvSpPr/>
          <p:nvPr/>
        </p:nvSpPr>
        <p:spPr>
          <a:xfrm>
            <a:off x="1463040" y="19504152"/>
            <a:ext cx="5669280" cy="100584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7955280" y="1973275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645920" y="21022056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645920" y="22046184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Diamond 161"/>
          <p:cNvSpPr/>
          <p:nvPr/>
        </p:nvSpPr>
        <p:spPr>
          <a:xfrm>
            <a:off x="2560320" y="22896576"/>
            <a:ext cx="3474720" cy="877824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645920" y="24277320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 flipH="1">
            <a:off x="8517636" y="24697944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96528" y="24697944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11256264" y="24697944"/>
            <a:ext cx="418338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674602" y="24697944"/>
            <a:ext cx="418338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11814048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2092940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4273784" y="24697944"/>
            <a:ext cx="557784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13994892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273784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831568" y="24697944"/>
            <a:ext cx="557784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15110460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5389352" y="24999696"/>
            <a:ext cx="278892" cy="100584"/>
          </a:xfrm>
          <a:prstGeom prst="line">
            <a:avLst/>
          </a:prstGeom>
          <a:ln w="952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1664208" y="3849624"/>
            <a:ext cx="73152" cy="566928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900416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8522208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8211312" y="411480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729216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10351008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10040112" y="411480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1247120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11868912" y="48097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12490704" y="48097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12179808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1713464" y="411480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13075920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13697712" y="48097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14319504" y="48097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14008608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13542264" y="411480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15215616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15837408" y="44622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15526512" y="411480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664208" y="5861304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690104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8311896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8001000" y="634593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8933688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9555480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9244584" y="634593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8622792" y="599846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1073384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1695176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1384280" y="634593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2316968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2938760" y="6693408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2627864" y="634593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2006072" y="599846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664208" y="8275320"/>
            <a:ext cx="73152" cy="566928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8083296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8705088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8394192" y="859536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0058400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0680192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11301984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10991088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0524744" y="859536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2033504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12655296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12344400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13277088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13898880" y="929030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13587984" y="894283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12966192" y="8595360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664208" y="10543032"/>
            <a:ext cx="73152" cy="493776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664208" y="15151608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7607808" y="1299362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8275320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8897112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9518904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9208008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8741664" y="140634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11292840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11914632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11603736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12536424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12070080" y="140634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14273784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14895576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4584680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15517368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16139160" y="14758416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15828264" y="14410944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15206472" y="14063472"/>
            <a:ext cx="530352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14685264" y="15078456"/>
            <a:ext cx="1572768" cy="237744"/>
          </a:xfrm>
          <a:prstGeom prst="roundRect">
            <a:avLst>
              <a:gd name="adj" fmla="val 23076"/>
            </a:avLst>
          </a:prstGeom>
          <a:solidFill>
            <a:srgbClr val="E8F0DE"/>
          </a:solidFill>
          <a:ln w="11429">
            <a:solidFill>
              <a:srgbClr val="6E9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8119872" y="16664940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8659368" y="16966692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9198864" y="16966692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8929116" y="16664940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8524494" y="16363188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11411712" y="16664940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11951208" y="16966692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12490704" y="16966692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ounded Rectangle 255"/>
          <p:cNvSpPr/>
          <p:nvPr/>
        </p:nvSpPr>
        <p:spPr>
          <a:xfrm>
            <a:off x="12220956" y="16664940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11816334" y="16363188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ounded Rectangle 257"/>
          <p:cNvSpPr/>
          <p:nvPr/>
        </p:nvSpPr>
        <p:spPr>
          <a:xfrm>
            <a:off x="11393424" y="17327880"/>
            <a:ext cx="1572768" cy="237744"/>
          </a:xfrm>
          <a:prstGeom prst="roundRect">
            <a:avLst>
              <a:gd name="adj" fmla="val 23076"/>
            </a:avLst>
          </a:prstGeom>
          <a:solidFill>
            <a:srgbClr val="E8F0DE"/>
          </a:solidFill>
          <a:ln w="11429">
            <a:solidFill>
              <a:srgbClr val="6E9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14520672" y="16792956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15060168" y="17094708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>
            <a:off x="15599664" y="17094708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ounded Rectangle 261"/>
          <p:cNvSpPr/>
          <p:nvPr/>
        </p:nvSpPr>
        <p:spPr>
          <a:xfrm>
            <a:off x="15329916" y="16792956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4925294" y="16491204"/>
            <a:ext cx="457200" cy="192024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14502384" y="17327880"/>
            <a:ext cx="1572768" cy="237744"/>
          </a:xfrm>
          <a:prstGeom prst="roundRect">
            <a:avLst>
              <a:gd name="adj" fmla="val 23076"/>
            </a:avLst>
          </a:prstGeom>
          <a:solidFill>
            <a:srgbClr val="E8F0DE"/>
          </a:solidFill>
          <a:ln w="11429">
            <a:solidFill>
              <a:srgbClr val="6E9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7607808" y="17839944"/>
            <a:ext cx="676656" cy="237744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664208" y="18534888"/>
            <a:ext cx="73152" cy="53035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973568" y="19751040"/>
            <a:ext cx="73152" cy="530352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664208" y="21040344"/>
            <a:ext cx="73152" cy="493776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664208" y="22064472"/>
            <a:ext cx="73152" cy="493776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8279892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8837676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8558784" y="24496776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ounded Rectangle 272"/>
          <p:cNvSpPr/>
          <p:nvPr/>
        </p:nvSpPr>
        <p:spPr>
          <a:xfrm>
            <a:off x="11018520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11576304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12134088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11855196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ounded Rectangle 276"/>
          <p:cNvSpPr/>
          <p:nvPr/>
        </p:nvSpPr>
        <p:spPr>
          <a:xfrm>
            <a:off x="11436858" y="24496776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13757148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14314932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14036040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14872716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15430500" y="25100280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ounded Rectangle 282"/>
          <p:cNvSpPr/>
          <p:nvPr/>
        </p:nvSpPr>
        <p:spPr>
          <a:xfrm>
            <a:off x="15151608" y="24798528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14593824" y="24496776"/>
            <a:ext cx="475488" cy="201168"/>
          </a:xfrm>
          <a:prstGeom prst="roundRect">
            <a:avLst>
              <a:gd name="adj" fmla="val 18181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 rot="16200000">
            <a:off x="777240" y="16193452"/>
            <a:ext cx="1225296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formula</a:t>
            </a:r>
          </a:p>
        </p:txBody>
      </p:sp>
      <p:sp>
        <p:nvSpPr>
          <p:cNvPr id="286" name="TextBox 285"/>
          <p:cNvSpPr txBox="1"/>
          <p:nvPr/>
        </p:nvSpPr>
        <p:spPr>
          <a:xfrm rot="16200000">
            <a:off x="189738" y="16952404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round ends</a:t>
            </a:r>
          </a:p>
        </p:txBody>
      </p:sp>
      <p:sp>
        <p:nvSpPr>
          <p:cNvPr id="287" name="TextBox 286"/>
          <p:cNvSpPr txBox="1"/>
          <p:nvPr/>
        </p:nvSpPr>
        <p:spPr>
          <a:xfrm rot="16200000">
            <a:off x="-249174" y="16714660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round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10896" y="269748"/>
            <a:ext cx="7910703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Inside the search, drawn: what each step does to a formula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10896" y="768096"/>
            <a:ext cx="11544300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The flow is on the left and has no colour on purpose. All the colour belongs to the formulas on the right, because those are what the search changes.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0896" y="1152144"/>
            <a:ext cx="245859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every formula is drawn as boxes: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346704" y="1152144"/>
            <a:ext cx="167335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does one step:  +  -  *  /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272784" y="1152144"/>
            <a:ext cx="2002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 name, read from the voxel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198864" y="1152144"/>
            <a:ext cx="167449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 number, set by fitting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247834" y="1988820"/>
            <a:ext cx="2209419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START:  the data you bring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598789" y="1924812"/>
            <a:ext cx="212598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968424" y="2157984"/>
            <a:ext cx="1473327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an input you measured</a:t>
            </a:r>
          </a:p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here, a concentration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354437" y="1924812"/>
            <a:ext cx="212598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573768" y="2157984"/>
            <a:ext cx="1773936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a second input</a:t>
            </a:r>
          </a:p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here, another concentration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2110085" y="1924812"/>
            <a:ext cx="212598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onsolas"/>
              </a:rPr>
              <a:t>y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236261" y="2157984"/>
            <a:ext cx="1960245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the one you want a formula for</a:t>
            </a:r>
          </a:p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here, a growth rate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8421624" y="2624328"/>
            <a:ext cx="566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0.005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222992" y="2624328"/>
            <a:ext cx="4754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0.30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887200" y="2624328"/>
            <a:ext cx="65836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0.0700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421624" y="2788920"/>
            <a:ext cx="566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0.010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222992" y="2788920"/>
            <a:ext cx="4754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0.55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887200" y="2788920"/>
            <a:ext cx="65836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0.1167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421624" y="2953512"/>
            <a:ext cx="566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0.020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222992" y="2953512"/>
            <a:ext cx="4754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0.20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887200" y="2953512"/>
            <a:ext cx="65836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0.1750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513064" y="3118104"/>
            <a:ext cx="3840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...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268712" y="3118104"/>
            <a:ext cx="3840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...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2024360" y="3118104"/>
            <a:ext cx="3840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onsolas"/>
              </a:rPr>
              <a:t>...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3862304" y="2157984"/>
            <a:ext cx="3139821" cy="10424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names are yours. The search only ever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sees the numbers, so it cannot be led by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what you expect the answer to be.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Any number of input columns is allowed;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two are shown here to keep the pictures small.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1828800" y="39959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3298698" y="3921861"/>
            <a:ext cx="2510028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Make a few hundred formulas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at random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069008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690800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379904" y="411937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814369" y="4466844"/>
            <a:ext cx="36004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2.1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0519600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208704" y="411937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415712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037504" y="48143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2659296" y="48143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2348400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11882056" y="411937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3161073" y="4466844"/>
            <a:ext cx="36004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0.7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3866304" y="48143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4404657" y="4814316"/>
            <a:ext cx="36004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1.4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4177200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3710856" y="411937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5384208" y="44668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5922561" y="4466844"/>
            <a:ext cx="36004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0.9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5695104" y="411937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-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552944" y="5084064"/>
            <a:ext cx="226314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F7F7F"/>
                </a:solidFill>
                <a:latin typeface="Calibri"/>
              </a:rPr>
              <a:t>none of them means anything yet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828800" y="60076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3531298" y="6030468"/>
            <a:ext cx="2044827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Score every one of them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7858696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?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8480488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8169592" y="635050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9102280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?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9724072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9413176" y="635050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791384" y="600303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713535" y="6940296"/>
            <a:ext cx="234886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the shape, its numbers not chosen yet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0153840" y="6181344"/>
            <a:ext cx="888111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least squares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1116818" y="6697980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0.35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1863768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1552872" y="635050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2360402" y="6697980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3107352" y="6697980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2796456" y="635050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2174664" y="600303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1243119" y="6940296"/>
            <a:ext cx="205625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the same shape, best numbers in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4246352" y="6016752"/>
            <a:ext cx="67779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020"/>
                </a:solidFill>
                <a:latin typeface="Calibri"/>
              </a:rPr>
              <a:t>its score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4246352" y="6620256"/>
            <a:ext cx="196367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alibri"/>
              </a:rPr>
              <a:t>how far it lands from your data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4246352" y="6803136"/>
            <a:ext cx="172364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alibri"/>
              </a:rPr>
              <a:t>plus a penalty, one per box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1828800" y="84216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3537013" y="8347557"/>
            <a:ext cx="2033397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Put the best of each size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on the shelf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8168449" y="8947404"/>
            <a:ext cx="36004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2.1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8873680" y="894740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8562784" y="859993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0226992" y="894740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848784" y="929487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1470576" y="929487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1159680" y="894740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0693336" y="859993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2076938" y="9294876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0.35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2823888" y="929487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2512992" y="894740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3320522" y="9294876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4067472" y="929487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3756576" y="894740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3134784" y="8599932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1828800" y="10652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2730627" y="10675620"/>
            <a:ext cx="3646170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 a round with an empty new population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3275838" y="11704320"/>
            <a:ext cx="20436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is the new population full?</a:t>
            </a:r>
          </a:p>
        </p:txBody>
      </p:sp>
      <p:sp>
        <p:nvSpPr>
          <p:cNvPr id="378" name="Rounded Rectangle 377"/>
          <p:cNvSpPr/>
          <p:nvPr/>
        </p:nvSpPr>
        <p:spPr>
          <a:xfrm>
            <a:off x="1828800" y="152979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3573018" y="15223845"/>
            <a:ext cx="1961388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Make one new formula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from the population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7759255" y="13011912"/>
            <a:ext cx="24574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8229600" y="13011912"/>
            <a:ext cx="610933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population as step 2 left it: every formula in it already has its numbers fitted and its score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8443912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8940546" y="14762988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9687496" y="1476298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9376600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8910256" y="140680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1336274" y="14762988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0.35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2083224" y="1476298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1772328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2705016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2238672" y="140680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4317218" y="14762988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0.35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5064168" y="1476298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4753272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5560802" y="14762988"/>
            <a:ext cx="44348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6307752" y="14762988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5996856" y="14415516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5375064" y="14068044"/>
            <a:ext cx="193167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4909292" y="15096744"/>
            <a:ext cx="112471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E5A28"/>
                </a:solidFill>
                <a:latin typeface="Calibri"/>
              </a:rPr>
              <a:t>the new formula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8253603" y="1665579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8673084" y="16957548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9332595" y="1695754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9062847" y="1665579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658225" y="1635404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545443" y="1665579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1964924" y="16957548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2624435" y="1695754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2354687" y="1665579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1950065" y="1635404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1617452" y="17346168"/>
            <a:ext cx="112471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E5A28"/>
                </a:solidFill>
                <a:latin typeface="Calibri"/>
              </a:rPr>
              <a:t>the new formula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4574393" y="16783812"/>
            <a:ext cx="34975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0.7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5193899" y="1708556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5653385" y="17085564"/>
            <a:ext cx="34975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1.4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5463647" y="16783812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5059025" y="16482060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4726412" y="17346168"/>
            <a:ext cx="112471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E5A28"/>
                </a:solidFill>
                <a:latin typeface="Calibri"/>
              </a:rPr>
              <a:t>the new formula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7758684" y="17858232"/>
            <a:ext cx="3749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357616" y="17774107"/>
            <a:ext cx="6044184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whichever of the three ran, exactly one new formula leaves this step: the one tagged above.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Step 6 scores it, and the question under step 6 decides whether it earns a slot on the shelf.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1828800" y="18662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3408426" y="18685764"/>
            <a:ext cx="229057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Score it, exactly as in step 2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633347" y="19156680"/>
            <a:ext cx="532866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Calibri"/>
              </a:rPr>
              <a:t>its shape is new, so the numbers it inherited are refitted before anything is measured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3163252" y="19806361"/>
            <a:ext cx="2268855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does it beat the shelf's formula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of the same size?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8138160" y="19879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9058275" y="19901916"/>
            <a:ext cx="3006090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It takes that slot; the old one is gone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193149" y="20336256"/>
            <a:ext cx="237058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Calibri"/>
              </a:rPr>
              <a:t>the only place the shelf ever changes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05472" y="1974189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1828800" y="211500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3353562" y="21172932"/>
            <a:ext cx="2400300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Add it to the new population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1828800" y="221742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2879788" y="22197060"/>
            <a:ext cx="3347847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new population replaces the old one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3803332" y="23225760"/>
            <a:ext cx="98869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rounds left?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2731198" y="24409908"/>
            <a:ext cx="3242691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STOP:  write the shelf out, shortest first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8504491" y="24259032"/>
            <a:ext cx="58407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3 boxes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342757" y="24793956"/>
            <a:ext cx="34975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2.1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980551" y="2479395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8701659" y="2449220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8501634" y="25319736"/>
            <a:ext cx="5897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020"/>
                </a:solidFill>
                <a:latin typeface="Consolas"/>
              </a:rPr>
              <a:t>0.075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1522011" y="24259032"/>
            <a:ext cx="58407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5 boxes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1161395" y="2479395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1719179" y="2509570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2276963" y="2509570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b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1998071" y="2479395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1579733" y="2449220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1519154" y="25319736"/>
            <a:ext cx="5897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020"/>
                </a:solidFill>
                <a:latin typeface="Consolas"/>
              </a:rPr>
              <a:t>0.056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4540103" y="24259032"/>
            <a:ext cx="58293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7 boxes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3780008" y="25095708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0.35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4457807" y="2509570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4178915" y="2479395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*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4895576" y="25095708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0.02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5573375" y="25095708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a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5294483" y="24793956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+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4736699" y="24492204"/>
            <a:ext cx="18973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/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14536674" y="25319736"/>
            <a:ext cx="5897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020"/>
                </a:solidFill>
                <a:latin typeface="Consolas"/>
              </a:rPr>
              <a:t>0.000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4352544" y="1360170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4352544" y="2066544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4352544" y="23925276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634490" y="1155801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2183130" y="2307945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869376" y="402336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869376" y="603504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869376" y="8449056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869376" y="106801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869376" y="15325344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8211312" y="14346936"/>
            <a:ext cx="658368" cy="347472"/>
          </a:xfrm>
          <a:prstGeom prst="roundRect">
            <a:avLst>
              <a:gd name="adj" fmla="val 21052"/>
            </a:avLst>
          </a:prstGeom>
          <a:noFill/>
          <a:ln w="15240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ounded Rectangle 464"/>
          <p:cNvSpPr/>
          <p:nvPr/>
        </p:nvSpPr>
        <p:spPr>
          <a:xfrm>
            <a:off x="11228832" y="14346936"/>
            <a:ext cx="1280160" cy="694944"/>
          </a:xfrm>
          <a:prstGeom prst="roundRect">
            <a:avLst>
              <a:gd name="adj" fmla="val 10526"/>
            </a:avLst>
          </a:prstGeom>
          <a:noFill/>
          <a:ln w="15240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ounded Rectangle 465"/>
          <p:cNvSpPr/>
          <p:nvPr/>
        </p:nvSpPr>
        <p:spPr>
          <a:xfrm>
            <a:off x="14209776" y="14346936"/>
            <a:ext cx="1280160" cy="694944"/>
          </a:xfrm>
          <a:prstGeom prst="roundRect">
            <a:avLst>
              <a:gd name="adj" fmla="val 10526"/>
            </a:avLst>
          </a:prstGeom>
          <a:noFill/>
          <a:ln w="15240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ounded Rectangle 466"/>
          <p:cNvSpPr/>
          <p:nvPr/>
        </p:nvSpPr>
        <p:spPr>
          <a:xfrm>
            <a:off x="8460486" y="16299180"/>
            <a:ext cx="585216" cy="320040"/>
          </a:xfrm>
          <a:prstGeom prst="roundRect">
            <a:avLst>
              <a:gd name="adj" fmla="val 22857"/>
            </a:avLst>
          </a:prstGeom>
          <a:noFill/>
          <a:ln w="15240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ounded Rectangle 467"/>
          <p:cNvSpPr/>
          <p:nvPr/>
        </p:nvSpPr>
        <p:spPr>
          <a:xfrm>
            <a:off x="11752326" y="16299180"/>
            <a:ext cx="585216" cy="320040"/>
          </a:xfrm>
          <a:prstGeom prst="roundRect">
            <a:avLst>
              <a:gd name="adj" fmla="val 22857"/>
            </a:avLst>
          </a:prstGeom>
          <a:noFill/>
          <a:ln w="15240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868805" y="18690336"/>
            <a:ext cx="19431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8178736" y="19906488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869376" y="21177504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869376" y="2220163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