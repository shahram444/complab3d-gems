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7772400"/>
  <p:notesSz cx="77724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2801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CompLaB3D solve loop: where the thermodynamic gate runs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812280" y="566928"/>
            <a:ext cx="2103120" cy="256032"/>
          </a:xfrm>
          <a:prstGeom prst="rect">
            <a:avLst/>
          </a:prstGeom>
          <a:solidFill>
            <a:srgbClr val="BDD7EE"/>
          </a:solidFill>
          <a:ln w="9525">
            <a:solidFill>
              <a:srgbClr val="9AA5B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I/O and setup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812280" y="877824"/>
            <a:ext cx="2103120" cy="256032"/>
          </a:xfrm>
          <a:prstGeom prst="rect">
            <a:avLst/>
          </a:prstGeom>
          <a:solidFill>
            <a:srgbClr val="F8CBAD"/>
          </a:solidFill>
          <a:ln w="9525">
            <a:solidFill>
              <a:srgbClr val="9AA5B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solver (D3Q19)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12280" y="1188720"/>
            <a:ext cx="2103120" cy="256032"/>
          </a:xfrm>
          <a:prstGeom prst="rect">
            <a:avLst/>
          </a:prstGeom>
          <a:solidFill>
            <a:srgbClr val="C6E0B4"/>
          </a:solidFill>
          <a:ln w="9525">
            <a:solidFill>
              <a:srgbClr val="9AA5B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solver (D3Q7)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12280" y="1499616"/>
            <a:ext cx="2103120" cy="256032"/>
          </a:xfrm>
          <a:prstGeom prst="rect">
            <a:avLst/>
          </a:prstGeom>
          <a:solidFill>
            <a:srgbClr val="E4D3F5"/>
          </a:solidFill>
          <a:ln w="9525">
            <a:solidFill>
              <a:srgbClr val="9AA5B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solver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12280" y="1810512"/>
            <a:ext cx="2103120" cy="256032"/>
          </a:xfrm>
          <a:prstGeom prst="rect">
            <a:avLst/>
          </a:prstGeom>
          <a:solidFill>
            <a:srgbClr val="FFE699"/>
          </a:solidFill>
          <a:ln w="9525">
            <a:solidFill>
              <a:srgbClr val="9AA5B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 solver (VOP)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25880" y="566928"/>
            <a:ext cx="3108960" cy="365760"/>
          </a:xfrm>
          <a:prstGeom prst="rect">
            <a:avLst/>
          </a:prstGeom>
          <a:solidFill>
            <a:srgbClr val="BDD7EE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XML configuration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initialize the simulation conditions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80360" y="932688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325880" y="1051560"/>
            <a:ext cx="3108960" cy="365760"/>
          </a:xfrm>
          <a:prstGeom prst="rect">
            <a:avLst/>
          </a:prstGeom>
          <a:solidFill>
            <a:srgbClr val="F8CBAD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flow simulation to steady state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80360" y="1417320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325880" y="1536192"/>
            <a:ext cx="3108960" cy="365760"/>
          </a:xfrm>
          <a:prstGeom prst="rect">
            <a:avLst/>
          </a:prstGeom>
          <a:solidFill>
            <a:srgbClr val="C6E0B4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collision step for transport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80360" y="1901952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325880" y="2020824"/>
            <a:ext cx="3108960" cy="365760"/>
          </a:xfrm>
          <a:prstGeom prst="rect">
            <a:avLst/>
          </a:prstGeom>
          <a:solidFill>
            <a:srgbClr val="E4D3F5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Abiotic reaction kinetics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80360" y="2386584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325880" y="2505456"/>
            <a:ext cx="3108960" cy="365760"/>
          </a:xfrm>
          <a:prstGeom prst="rect">
            <a:avLst/>
          </a:prstGeom>
          <a:solidFill>
            <a:srgbClr val="F2B2B2"/>
          </a:solidFill>
          <a:ln w="22225">
            <a:solidFill>
              <a:srgbClr val="B0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Biotic reaction: one rate path per organism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80360" y="2871216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325880" y="2990088"/>
            <a:ext cx="3108960" cy="365760"/>
          </a:xfrm>
          <a:prstGeom prst="rect">
            <a:avLst/>
          </a:prstGeom>
          <a:solidFill>
            <a:srgbClr val="E4D3F5"/>
          </a:solidFill>
          <a:ln w="12700">
            <a:solidFill>
              <a:srgbClr val="7F7F7F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 chemistry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880360" y="3355848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325880" y="3474720"/>
            <a:ext cx="3108960" cy="365760"/>
          </a:xfrm>
          <a:prstGeom prst="rect">
            <a:avLst/>
          </a:prstGeom>
          <a:solidFill>
            <a:srgbClr val="FFE69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reactions on wetted voxels: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and dissolution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80360" y="3840480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325880" y="3959352"/>
            <a:ext cx="3108960" cy="365760"/>
          </a:xfrm>
          <a:prstGeom prst="rect">
            <a:avLst/>
          </a:prstGeom>
          <a:solidFill>
            <a:srgbClr val="C6E0B4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biomass expansion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880360" y="4325112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325880" y="4443984"/>
            <a:ext cx="3108960" cy="365760"/>
          </a:xfrm>
          <a:prstGeom prst="rect">
            <a:avLst/>
          </a:prstGeom>
          <a:solidFill>
            <a:srgbClr val="FFE69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 node update: seal full voxels,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emptied voxels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880360" y="4809744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920240" y="4928616"/>
            <a:ext cx="1920240" cy="53035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Pore geometry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changed?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977640" y="4946904"/>
            <a:ext cx="1828800" cy="365760"/>
          </a:xfrm>
          <a:prstGeom prst="rect">
            <a:avLst/>
          </a:prstGeom>
          <a:solidFill>
            <a:srgbClr val="F8CBAD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Re-solve steady-state flow field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0" y="5193792"/>
            <a:ext cx="13716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3931920" y="49743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80360" y="5458968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2971800" y="54406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25880" y="5577840"/>
            <a:ext cx="3108960" cy="365760"/>
          </a:xfrm>
          <a:prstGeom prst="rect">
            <a:avLst/>
          </a:prstGeom>
          <a:solidFill>
            <a:srgbClr val="C6E0B4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step (D3Q7)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apply boundary conditions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92040" y="5312664"/>
            <a:ext cx="0" cy="448056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4840" y="5760720"/>
            <a:ext cx="4572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headEnd type="triangle"/>
          </a:ln>
        </p:spPr>
      </p:sp>
      <p:sp>
        <p:nvSpPr>
          <p:cNvPr id="35" name="Shape 33"/>
          <p:cNvSpPr/>
          <p:nvPr/>
        </p:nvSpPr>
        <p:spPr>
          <a:xfrm>
            <a:off x="2880360" y="5943600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1920240" y="6062472"/>
            <a:ext cx="1920240" cy="53035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save step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reached?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977640" y="6080760"/>
            <a:ext cx="1828800" cy="365760"/>
          </a:xfrm>
          <a:prstGeom prst="rect">
            <a:avLst/>
          </a:prstGeom>
          <a:solidFill>
            <a:srgbClr val="BDD7EE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output files (VTI)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0" y="6327648"/>
            <a:ext cx="13716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3931920" y="61081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880360" y="6592824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2971800" y="65745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920240" y="6711696"/>
            <a:ext cx="1920240" cy="53035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time steps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reached?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92040" y="6446520"/>
            <a:ext cx="0" cy="192024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66160" y="6638544"/>
            <a:ext cx="132588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headEnd type="triangle"/>
          </a:ln>
        </p:spPr>
      </p:sp>
      <p:sp>
        <p:nvSpPr>
          <p:cNvPr id="45" name="Shape 43"/>
          <p:cNvSpPr/>
          <p:nvPr/>
        </p:nvSpPr>
        <p:spPr>
          <a:xfrm>
            <a:off x="475488" y="6976872"/>
            <a:ext cx="1444752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headEnd type="triangle"/>
          </a:ln>
        </p:spPr>
      </p:sp>
      <p:sp>
        <p:nvSpPr>
          <p:cNvPr id="46" name="Shape 44"/>
          <p:cNvSpPr/>
          <p:nvPr/>
        </p:nvSpPr>
        <p:spPr>
          <a:xfrm>
            <a:off x="475488" y="1719072"/>
            <a:ext cx="0" cy="525780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" y="1719072"/>
            <a:ext cx="850392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530352" y="67574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512064" y="41239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Δt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880360" y="7242048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2971800" y="7223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423160" y="7360920"/>
            <a:ext cx="914400" cy="310896"/>
          </a:xfrm>
          <a:prstGeom prst="ellipse">
            <a:avLst/>
          </a:prstGeom>
          <a:solidFill>
            <a:srgbClr val="F8A5A5"/>
          </a:solidFill>
          <a:ln w="12700">
            <a:solidFill>
              <a:srgbClr val="C0525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943600" y="2212848"/>
            <a:ext cx="3017520" cy="3611880"/>
          </a:xfrm>
          <a:prstGeom prst="rect">
            <a:avLst/>
          </a:prstGeom>
          <a:solidFill>
            <a:srgbClr val="FBFBFD"/>
          </a:solidFill>
          <a:ln w="12700">
            <a:solidFill>
              <a:srgbClr val="9AA5B1"/>
            </a:solidFill>
            <a:prstDash val="dash"/>
          </a:ln>
        </p:spPr>
      </p:sp>
      <p:sp>
        <p:nvSpPr>
          <p:cNvPr id="54" name="Text 52"/>
          <p:cNvSpPr txBox="1"/>
          <p:nvPr/>
        </p:nvSpPr>
        <p:spPr>
          <a:xfrm>
            <a:off x="6053328" y="2286000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biotic reaction step, per organism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053328" y="2514600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interchangeable: each takes the local concentrations and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growth rate and the source terms transport needs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089904" y="2962656"/>
            <a:ext cx="2724912" cy="265176"/>
          </a:xfrm>
          <a:prstGeom prst="rect">
            <a:avLst/>
          </a:prstGeom>
          <a:solidFill>
            <a:srgbClr val="EFEFF3"/>
          </a:solidFill>
          <a:ln w="9525">
            <a:solidFill>
              <a:srgbClr val="D5D5D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kinetics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089904" y="3273552"/>
            <a:ext cx="2724912" cy="265176"/>
          </a:xfrm>
          <a:prstGeom prst="rect">
            <a:avLst/>
          </a:prstGeom>
          <a:solidFill>
            <a:srgbClr val="EFEFF3"/>
          </a:solidFill>
          <a:ln w="9525">
            <a:solidFill>
              <a:srgbClr val="D5D5D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balance analysis (GLPK / COBRApy)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089904" y="3584448"/>
            <a:ext cx="2724912" cy="265176"/>
          </a:xfrm>
          <a:prstGeom prst="rect">
            <a:avLst/>
          </a:prstGeom>
          <a:solidFill>
            <a:srgbClr val="EFEFF3"/>
          </a:solidFill>
          <a:ln w="9525">
            <a:solidFill>
              <a:srgbClr val="D5D5D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network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089904" y="3895344"/>
            <a:ext cx="2724912" cy="265176"/>
          </a:xfrm>
          <a:prstGeom prst="rect">
            <a:avLst/>
          </a:prstGeom>
          <a:solidFill>
            <a:srgbClr val="EFEFF3"/>
          </a:solidFill>
          <a:ln w="9525">
            <a:solidFill>
              <a:srgbClr val="D5D5D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rate law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089904" y="4206240"/>
            <a:ext cx="2724912" cy="265176"/>
          </a:xfrm>
          <a:prstGeom prst="rect">
            <a:avLst/>
          </a:prstGeom>
          <a:solidFill>
            <a:srgbClr val="EFEFF3"/>
          </a:solidFill>
          <a:ln w="9525">
            <a:solidFill>
              <a:srgbClr val="D5D5D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network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6089904" y="4663440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0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does not replace any of them: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6144768" y="4901184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path returns a POTENTIAL rate</a:t>
            </a:r>
            <a:endParaRPr lang="en-US" sz="850" dirty="0"/>
          </a:p>
        </p:txBody>
      </p:sp>
      <p:sp>
        <p:nvSpPr>
          <p:cNvPr id="63" name="Text 61"/>
          <p:cNvSpPr txBox="1"/>
          <p:nvPr/>
        </p:nvSpPr>
        <p:spPr>
          <a:xfrm>
            <a:off x="6144768" y="5116068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returns one number F_T between 0 and 1</a:t>
            </a:r>
            <a:endParaRPr lang="en-US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6144768" y="5330952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realised rate is the product of the two</a:t>
            </a:r>
            <a:endParaRPr 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6144768" y="5545836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only in voxels that hold biomass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434840" y="2688336"/>
            <a:ext cx="1508760" cy="-18288"/>
          </a:xfrm>
          <a:prstGeom prst="line">
            <a:avLst/>
          </a:prstGeom>
          <a:noFill/>
          <a:ln w="12700">
            <a:solidFill>
              <a:srgbClr val="B04A4A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2801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gate, every biotic rate path, one multiplication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120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rate path answers how fast the organism CAN go. The gate answers whether there is enough energy here for it to go at all.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biotic rate paths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2148840" cy="365760"/>
          </a:xfrm>
          <a:prstGeom prst="rect">
            <a:avLst/>
          </a:prstGeom>
          <a:solidFill>
            <a:srgbClr val="E4D3F5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kinetics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697480" y="1371600"/>
            <a:ext cx="1005840" cy="1005840"/>
          </a:xfrm>
          <a:prstGeom prst="line">
            <a:avLst/>
          </a:prstGeom>
          <a:noFill/>
          <a:ln w="1397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48640" y="1645920"/>
            <a:ext cx="2148840" cy="365760"/>
          </a:xfrm>
          <a:prstGeom prst="rect">
            <a:avLst/>
          </a:prstGeom>
          <a:solidFill>
            <a:srgbClr val="E4D3F5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balance analysis (GLPK)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97480" y="1828800"/>
            <a:ext cx="1005840" cy="548640"/>
          </a:xfrm>
          <a:prstGeom prst="line">
            <a:avLst/>
          </a:prstGeom>
          <a:noFill/>
          <a:ln w="1397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48640" y="2103120"/>
            <a:ext cx="2148840" cy="365760"/>
          </a:xfrm>
          <a:prstGeom prst="rect">
            <a:avLst/>
          </a:prstGeom>
          <a:solidFill>
            <a:srgbClr val="E4D3F5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balance analysis (COBRApy)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97480" y="2286000"/>
            <a:ext cx="1005840" cy="91440"/>
          </a:xfrm>
          <a:prstGeom prst="line">
            <a:avLst/>
          </a:prstGeom>
          <a:noFill/>
          <a:ln w="1397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48640" y="2560320"/>
            <a:ext cx="2148840" cy="365760"/>
          </a:xfrm>
          <a:prstGeom prst="rect">
            <a:avLst/>
          </a:prstGeom>
          <a:solidFill>
            <a:srgbClr val="E4D3F5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network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 flipV="1">
            <a:off x="2697480" y="2377440"/>
            <a:ext cx="1005840" cy="365760"/>
          </a:xfrm>
          <a:prstGeom prst="line">
            <a:avLst/>
          </a:prstGeom>
          <a:noFill/>
          <a:ln w="1397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48640" y="3017520"/>
            <a:ext cx="2148840" cy="365760"/>
          </a:xfrm>
          <a:prstGeom prst="rect">
            <a:avLst/>
          </a:prstGeom>
          <a:solidFill>
            <a:srgbClr val="E4D3F5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rate law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flipV="1">
            <a:off x="2697480" y="2377440"/>
            <a:ext cx="1005840" cy="822960"/>
          </a:xfrm>
          <a:prstGeom prst="line">
            <a:avLst/>
          </a:prstGeom>
          <a:noFill/>
          <a:ln w="1397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48640" y="3474720"/>
            <a:ext cx="2148840" cy="365760"/>
          </a:xfrm>
          <a:prstGeom prst="rect">
            <a:avLst/>
          </a:prstGeom>
          <a:solidFill>
            <a:srgbClr val="E4D3F5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network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 flipV="1">
            <a:off x="2697480" y="2377440"/>
            <a:ext cx="1005840" cy="1280160"/>
          </a:xfrm>
          <a:prstGeom prst="line">
            <a:avLst/>
          </a:prstGeom>
          <a:noFill/>
          <a:ln w="1397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48640" y="39136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returns a potential rate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2057400"/>
            <a:ext cx="1874520" cy="640080"/>
          </a:xfrm>
          <a:prstGeom prst="rect">
            <a:avLst/>
          </a:prstGeom>
          <a:solidFill>
            <a:srgbClr val="F2B2B2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=  R_pot × F_T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2377440"/>
            <a:ext cx="68580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263640" y="2057400"/>
            <a:ext cx="2331720" cy="640080"/>
          </a:xfrm>
          <a:prstGeom prst="rect">
            <a:avLst/>
          </a:prstGeom>
          <a:solidFill>
            <a:srgbClr val="C6E0B4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realised rate,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handed to transport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3251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abiotic paths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617720"/>
            <a:ext cx="2148840" cy="365760"/>
          </a:xfrm>
          <a:prstGeom prst="rect">
            <a:avLst/>
          </a:prstGeom>
          <a:solidFill>
            <a:srgbClr val="EDEDF0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abiotic kinetics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0" y="4800600"/>
            <a:ext cx="3474720" cy="0"/>
          </a:xfrm>
          <a:prstGeom prst="line">
            <a:avLst/>
          </a:prstGeom>
          <a:noFill/>
          <a:ln w="13970">
            <a:solidFill>
              <a:srgbClr val="BFBFBF"/>
            </a:solidFill>
            <a:prstDash val="dash"/>
            <a:headEnd type="none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3840480" y="48188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gated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074920"/>
            <a:ext cx="2148840" cy="365760"/>
          </a:xfrm>
          <a:prstGeom prst="rect">
            <a:avLst/>
          </a:prstGeom>
          <a:solidFill>
            <a:srgbClr val="EDEDF0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 solver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0" y="5257800"/>
            <a:ext cx="3474720" cy="0"/>
          </a:xfrm>
          <a:prstGeom prst="line">
            <a:avLst/>
          </a:prstGeom>
          <a:noFill/>
          <a:ln w="13970">
            <a:solidFill>
              <a:srgbClr val="BFBFBF"/>
            </a:solidFill>
            <a:prstDash val="dash"/>
            <a:headEnd type="none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840480" y="52760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gated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4617720"/>
            <a:ext cx="2331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untouched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521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factor does to a rate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234440" y="7315200"/>
            <a:ext cx="4114800" cy="0"/>
          </a:xfrm>
          <a:prstGeom prst="line">
            <a:avLst/>
          </a:prstGeom>
          <a:noFill/>
          <a:ln w="1397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234440" y="5989320"/>
            <a:ext cx="0" cy="1325880"/>
          </a:xfrm>
          <a:prstGeom prst="line">
            <a:avLst/>
          </a:prstGeom>
          <a:noFill/>
          <a:ln w="1397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76072" y="66294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F_T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234440" y="74249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released by the reaction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60120" y="603504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960120" y="718718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234440" y="7315200"/>
            <a:ext cx="393192" cy="0"/>
          </a:xfrm>
          <a:prstGeom prst="line">
            <a:avLst/>
          </a:prstGeom>
          <a:noFill/>
          <a:ln w="22860">
            <a:solidFill>
              <a:srgbClr val="B0603A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 flipV="1">
            <a:off x="1627632" y="7125005"/>
            <a:ext cx="471830" cy="190195"/>
          </a:xfrm>
          <a:prstGeom prst="line">
            <a:avLst/>
          </a:prstGeom>
          <a:noFill/>
          <a:ln w="22860">
            <a:solidFill>
              <a:srgbClr val="B0603A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 flipV="1">
            <a:off x="2099462" y="6839712"/>
            <a:ext cx="550469" cy="285293"/>
          </a:xfrm>
          <a:prstGeom prst="line">
            <a:avLst/>
          </a:prstGeom>
          <a:noFill/>
          <a:ln w="22860">
            <a:solidFill>
              <a:srgbClr val="B0603A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flipV="1">
            <a:off x="2649931" y="6566306"/>
            <a:ext cx="629107" cy="273406"/>
          </a:xfrm>
          <a:prstGeom prst="line">
            <a:avLst/>
          </a:prstGeom>
          <a:noFill/>
          <a:ln w="22860">
            <a:solidFill>
              <a:srgbClr val="B0603A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 flipV="1">
            <a:off x="3279038" y="6364224"/>
            <a:ext cx="707746" cy="202082"/>
          </a:xfrm>
          <a:prstGeom prst="line">
            <a:avLst/>
          </a:prstGeom>
          <a:noFill/>
          <a:ln w="22860">
            <a:solidFill>
              <a:srgbClr val="B0603A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 flipV="1">
            <a:off x="3986784" y="6233465"/>
            <a:ext cx="707746" cy="130759"/>
          </a:xfrm>
          <a:prstGeom prst="line">
            <a:avLst/>
          </a:prstGeom>
          <a:noFill/>
          <a:ln w="22860">
            <a:solidFill>
              <a:srgbClr val="B0603A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 flipV="1">
            <a:off x="4694530" y="6185916"/>
            <a:ext cx="471830" cy="47549"/>
          </a:xfrm>
          <a:prstGeom prst="line">
            <a:avLst/>
          </a:prstGeom>
          <a:noFill/>
          <a:ln w="22860">
            <a:solidFill>
              <a:srgbClr val="B0603A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 flipV="1">
            <a:off x="1627632" y="6080760"/>
            <a:ext cx="0" cy="1252728"/>
          </a:xfrm>
          <a:prstGeom prst="line">
            <a:avLst/>
          </a:prstGeom>
          <a:noFill/>
          <a:ln w="11430">
            <a:solidFill>
              <a:srgbClr val="BFBFBF"/>
            </a:solidFill>
            <a:prstDash val="dash"/>
            <a:headEnd type="none"/>
            <a:tailEnd type="none"/>
          </a:ln>
        </p:spPr>
      </p:sp>
      <p:sp>
        <p:nvSpPr>
          <p:cNvPr id="44" name="Text 42"/>
          <p:cNvSpPr txBox="1"/>
          <p:nvPr/>
        </p:nvSpPr>
        <p:spPr>
          <a:xfrm>
            <a:off x="1700784" y="610819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threshold:</a:t>
            </a:r>
            <a:endParaRPr lang="en-US" sz="8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× ΔG_ATP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2801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F_T is a field, not a number: one value per biomass voxel, every step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120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F_T for a run, for a domain or even for an aggregate. The four equations are evaluated again in every voxel that holds biomass, at every reaction step, from that voxel's own concentrations.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slice of the domain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2121408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" y="1655064"/>
            <a:ext cx="424282" cy="424282"/>
          </a:xfrm>
          <a:prstGeom prst="ellipse">
            <a:avLst/>
          </a:prstGeom>
          <a:solidFill>
            <a:srgbClr val="DEDEDE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" y="1522476"/>
            <a:ext cx="318211" cy="318211"/>
          </a:xfrm>
          <a:prstGeom prst="ellipse">
            <a:avLst/>
          </a:prstGeom>
          <a:solidFill>
            <a:srgbClr val="DEDEDE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1388" y="1655064"/>
            <a:ext cx="450799" cy="450799"/>
          </a:xfrm>
          <a:prstGeom prst="ellipse">
            <a:avLst/>
          </a:prstGeom>
          <a:solidFill>
            <a:srgbClr val="DEDEDE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2450592"/>
            <a:ext cx="397764" cy="397764"/>
          </a:xfrm>
          <a:prstGeom prst="ellipse">
            <a:avLst/>
          </a:prstGeom>
          <a:solidFill>
            <a:srgbClr val="DEDEDE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6564" y="2450592"/>
            <a:ext cx="344729" cy="344729"/>
          </a:xfrm>
          <a:prstGeom prst="ellipse">
            <a:avLst/>
          </a:prstGeom>
          <a:solidFill>
            <a:srgbClr val="DEDEDE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98448" y="2980944"/>
            <a:ext cx="477317" cy="477317"/>
          </a:xfrm>
          <a:prstGeom prst="ellipse">
            <a:avLst/>
          </a:prstGeom>
          <a:solidFill>
            <a:srgbClr val="DEDEDE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93976" y="3113532"/>
            <a:ext cx="318211" cy="318211"/>
          </a:xfrm>
          <a:prstGeom prst="ellipse">
            <a:avLst/>
          </a:prstGeom>
          <a:solidFill>
            <a:srgbClr val="DEDEDE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0237" y="1999793"/>
            <a:ext cx="238658" cy="238658"/>
          </a:xfrm>
          <a:prstGeom prst="ellipse">
            <a:avLst/>
          </a:prstGeom>
          <a:solidFill>
            <a:srgbClr val="9ECB84"/>
          </a:solidFill>
          <a:ln w="12700">
            <a:solidFill>
              <a:srgbClr val="4F7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3177" y="1933499"/>
            <a:ext cx="238658" cy="238658"/>
          </a:xfrm>
          <a:prstGeom prst="ellipse">
            <a:avLst/>
          </a:prstGeom>
          <a:solidFill>
            <a:srgbClr val="9ECB84"/>
          </a:solidFill>
          <a:ln w="12700">
            <a:solidFill>
              <a:srgbClr val="4F7F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8001" y="2463851"/>
            <a:ext cx="238658" cy="238658"/>
          </a:xfrm>
          <a:prstGeom prst="ellipse">
            <a:avLst/>
          </a:prstGeom>
          <a:solidFill>
            <a:srgbClr val="9ECB84"/>
          </a:solidFill>
          <a:ln w="12700">
            <a:solidFill>
              <a:srgbClr val="4F7F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74647" y="2662733"/>
            <a:ext cx="238658" cy="238658"/>
          </a:xfrm>
          <a:prstGeom prst="ellipse">
            <a:avLst/>
          </a:prstGeom>
          <a:solidFill>
            <a:srgbClr val="9ECB84"/>
          </a:solidFill>
          <a:ln w="12700">
            <a:solidFill>
              <a:srgbClr val="4F7F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566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grains, pore water and four aggregates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237744" cy="237744"/>
          </a:xfrm>
          <a:prstGeom prst="rect">
            <a:avLst/>
          </a:prstGeom>
          <a:solidFill>
            <a:srgbClr val="DEDEDE"/>
          </a:solidFill>
          <a:ln w="9525">
            <a:solidFill>
              <a:srgbClr val="9AA5B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816" y="3858768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00200" y="3840480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9AA5B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11096" y="3858768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4114800"/>
            <a:ext cx="237744" cy="237744"/>
          </a:xfrm>
          <a:prstGeom prst="rect">
            <a:avLst/>
          </a:prstGeom>
          <a:solidFill>
            <a:srgbClr val="9ECB84"/>
          </a:solidFill>
          <a:ln w="9525">
            <a:solidFill>
              <a:srgbClr val="9AA5B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3816" y="413308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 flipV="1">
            <a:off x="1908353" y="1783080"/>
            <a:ext cx="1337767" cy="269748"/>
          </a:xfrm>
          <a:prstGeom prst="line">
            <a:avLst/>
          </a:prstGeom>
          <a:noFill/>
          <a:ln w="1651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2395728" y="146304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aggregate, enlarged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11155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one aggregate, at one reaction step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2034540"/>
            <a:ext cx="214884" cy="21488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2249424"/>
            <a:ext cx="214884" cy="21488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37560" y="2464308"/>
            <a:ext cx="214884" cy="21488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52444" y="1604772"/>
            <a:ext cx="214884" cy="21488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52444" y="1819656"/>
            <a:ext cx="214884" cy="21488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52444" y="2034540"/>
            <a:ext cx="214884" cy="21488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52444" y="2249424"/>
            <a:ext cx="214884" cy="21488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52444" y="2464308"/>
            <a:ext cx="214884" cy="21488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52444" y="2679192"/>
            <a:ext cx="214884" cy="21488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52444" y="2894076"/>
            <a:ext cx="214884" cy="21488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67328" y="1604772"/>
            <a:ext cx="214884" cy="21488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67328" y="1819656"/>
            <a:ext cx="214884" cy="214884"/>
          </a:xfrm>
          <a:prstGeom prst="rect">
            <a:avLst/>
          </a:prstGeom>
          <a:solidFill>
            <a:srgbClr val="BEDCAB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67328" y="2034540"/>
            <a:ext cx="214884" cy="21488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67328" y="2249424"/>
            <a:ext cx="214884" cy="21488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67328" y="2464308"/>
            <a:ext cx="214884" cy="21488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67328" y="2679192"/>
            <a:ext cx="214884" cy="214884"/>
          </a:xfrm>
          <a:prstGeom prst="rect">
            <a:avLst/>
          </a:prstGeom>
          <a:solidFill>
            <a:srgbClr val="BEDCAB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67328" y="2894076"/>
            <a:ext cx="214884" cy="21488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82212" y="1389888"/>
            <a:ext cx="214884" cy="21488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982212" y="1604772"/>
            <a:ext cx="214884" cy="21488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82212" y="1819656"/>
            <a:ext cx="214884" cy="21488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82212" y="2034540"/>
            <a:ext cx="214884" cy="214884"/>
          </a:xfrm>
          <a:prstGeom prst="rect">
            <a:avLst/>
          </a:prstGeom>
          <a:solidFill>
            <a:srgbClr val="EDF4E7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82212" y="2249424"/>
            <a:ext cx="214884" cy="214884"/>
          </a:xfrm>
          <a:prstGeom prst="rect">
            <a:avLst/>
          </a:prstGeom>
          <a:solidFill>
            <a:srgbClr val="EDF4E7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82212" y="2464308"/>
            <a:ext cx="214884" cy="214884"/>
          </a:xfrm>
          <a:prstGeom prst="rect">
            <a:avLst/>
          </a:prstGeom>
          <a:solidFill>
            <a:srgbClr val="EDF4E7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982212" y="2679192"/>
            <a:ext cx="214884" cy="21488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82212" y="2894076"/>
            <a:ext cx="214884" cy="21488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982212" y="3108960"/>
            <a:ext cx="214884" cy="21488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97096" y="1389888"/>
            <a:ext cx="214884" cy="21488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97096" y="1604772"/>
            <a:ext cx="214884" cy="21488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97096" y="1819656"/>
            <a:ext cx="214884" cy="21488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97096" y="2034540"/>
            <a:ext cx="214884" cy="214884"/>
          </a:xfrm>
          <a:prstGeom prst="rect">
            <a:avLst/>
          </a:prstGeom>
          <a:solidFill>
            <a:srgbClr val="EDF4E7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97096" y="2249424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97096" y="2464308"/>
            <a:ext cx="214884" cy="214884"/>
          </a:xfrm>
          <a:prstGeom prst="rect">
            <a:avLst/>
          </a:prstGeom>
          <a:solidFill>
            <a:srgbClr val="EDF4E7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97096" y="2679192"/>
            <a:ext cx="214884" cy="21488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97096" y="2894076"/>
            <a:ext cx="214884" cy="21488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197096" y="3108960"/>
            <a:ext cx="214884" cy="21488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11980" y="1389888"/>
            <a:ext cx="214884" cy="21488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411980" y="1604772"/>
            <a:ext cx="214884" cy="21488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411980" y="1819656"/>
            <a:ext cx="214884" cy="21488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411980" y="2034540"/>
            <a:ext cx="214884" cy="214884"/>
          </a:xfrm>
          <a:prstGeom prst="rect">
            <a:avLst/>
          </a:prstGeom>
          <a:solidFill>
            <a:srgbClr val="EDF4E7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11980" y="2249424"/>
            <a:ext cx="214884" cy="214884"/>
          </a:xfrm>
          <a:prstGeom prst="rect">
            <a:avLst/>
          </a:prstGeom>
          <a:solidFill>
            <a:srgbClr val="EDF4E7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11980" y="2464308"/>
            <a:ext cx="214884" cy="214884"/>
          </a:xfrm>
          <a:prstGeom prst="rect">
            <a:avLst/>
          </a:prstGeom>
          <a:solidFill>
            <a:srgbClr val="EDF4E7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411980" y="2679192"/>
            <a:ext cx="214884" cy="21488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411980" y="2894076"/>
            <a:ext cx="214884" cy="21488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411980" y="3108960"/>
            <a:ext cx="214884" cy="21488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626864" y="1604772"/>
            <a:ext cx="214884" cy="21488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26864" y="1819656"/>
            <a:ext cx="214884" cy="214884"/>
          </a:xfrm>
          <a:prstGeom prst="rect">
            <a:avLst/>
          </a:prstGeom>
          <a:solidFill>
            <a:srgbClr val="BEDCAB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626864" y="2034540"/>
            <a:ext cx="214884" cy="21488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626864" y="2249424"/>
            <a:ext cx="214884" cy="21488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626864" y="2464308"/>
            <a:ext cx="214884" cy="21488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626864" y="2679192"/>
            <a:ext cx="214884" cy="214884"/>
          </a:xfrm>
          <a:prstGeom prst="rect">
            <a:avLst/>
          </a:prstGeom>
          <a:solidFill>
            <a:srgbClr val="BEDCAB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626864" y="2894076"/>
            <a:ext cx="214884" cy="21488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41748" y="1604772"/>
            <a:ext cx="214884" cy="21488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41748" y="1819656"/>
            <a:ext cx="214884" cy="21488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41748" y="2034540"/>
            <a:ext cx="214884" cy="21488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41748" y="2249424"/>
            <a:ext cx="214884" cy="21488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841748" y="2464308"/>
            <a:ext cx="214884" cy="21488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841748" y="2679192"/>
            <a:ext cx="214884" cy="21488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841748" y="2894076"/>
            <a:ext cx="214884" cy="21488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056632" y="2034540"/>
            <a:ext cx="214884" cy="21488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056632" y="2249424"/>
            <a:ext cx="214884" cy="21488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056632" y="2464308"/>
            <a:ext cx="214884" cy="21488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81528" y="2356866"/>
            <a:ext cx="310896" cy="0"/>
          </a:xfrm>
          <a:prstGeom prst="line">
            <a:avLst/>
          </a:prstGeom>
          <a:noFill/>
          <a:ln w="15240">
            <a:solidFill>
              <a:srgbClr val="B0603A"/>
            </a:solidFill>
            <a:prstDash val="solid"/>
            <a:headEnd type="none"/>
            <a:tailEnd type="triangle"/>
          </a:ln>
        </p:spPr>
      </p:sp>
      <p:sp>
        <p:nvSpPr>
          <p:cNvPr id="89" name="Text 87"/>
          <p:cNvSpPr txBox="1"/>
          <p:nvPr/>
        </p:nvSpPr>
        <p:spPr>
          <a:xfrm>
            <a:off x="2551176" y="2194560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B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B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 flipV="1">
            <a:off x="4304538" y="2475052"/>
            <a:ext cx="0" cy="934745"/>
          </a:xfrm>
          <a:prstGeom prst="line">
            <a:avLst/>
          </a:prstGeom>
          <a:noFill/>
          <a:ln w="15240">
            <a:solidFill>
              <a:srgbClr val="B0603A"/>
            </a:solidFill>
            <a:prstDash val="solid"/>
            <a:headEnd type="none"/>
            <a:tailEnd type="triangle"/>
          </a:ln>
        </p:spPr>
      </p:sp>
      <p:sp>
        <p:nvSpPr>
          <p:cNvPr id="91" name="Text 89"/>
          <p:cNvSpPr txBox="1"/>
          <p:nvPr/>
        </p:nvSpPr>
        <p:spPr>
          <a:xfrm>
            <a:off x="3664458" y="3414095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 0.06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5532120" y="2689098"/>
            <a:ext cx="237744" cy="11811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532120" y="2570988"/>
            <a:ext cx="237744" cy="11811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532120" y="2452878"/>
            <a:ext cx="237744" cy="118110"/>
          </a:xfrm>
          <a:prstGeom prst="rect">
            <a:avLst/>
          </a:prstGeom>
          <a:solidFill>
            <a:srgbClr val="EDF4E7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532120" y="2334768"/>
            <a:ext cx="237744" cy="118110"/>
          </a:xfrm>
          <a:prstGeom prst="rect">
            <a:avLst/>
          </a:prstGeom>
          <a:solidFill>
            <a:srgbClr val="EDF4E7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532120" y="2216658"/>
            <a:ext cx="237744" cy="118110"/>
          </a:xfrm>
          <a:prstGeom prst="rect">
            <a:avLst/>
          </a:prstGeom>
          <a:solidFill>
            <a:srgbClr val="D9EACC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532120" y="2098548"/>
            <a:ext cx="237744" cy="118110"/>
          </a:xfrm>
          <a:prstGeom prst="rect">
            <a:avLst/>
          </a:prstGeom>
          <a:solidFill>
            <a:srgbClr val="D9EACC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532120" y="1980438"/>
            <a:ext cx="237744" cy="118110"/>
          </a:xfrm>
          <a:prstGeom prst="rect">
            <a:avLst/>
          </a:prstGeom>
          <a:solidFill>
            <a:srgbClr val="BEDCA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532120" y="1862328"/>
            <a:ext cx="237744" cy="118110"/>
          </a:xfrm>
          <a:prstGeom prst="rect">
            <a:avLst/>
          </a:prstGeom>
          <a:solidFill>
            <a:srgbClr val="BEDCA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532120" y="1744218"/>
            <a:ext cx="237744" cy="118110"/>
          </a:xfrm>
          <a:prstGeom prst="rect">
            <a:avLst/>
          </a:prstGeom>
          <a:solidFill>
            <a:srgbClr val="9ECB8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532120" y="1626108"/>
            <a:ext cx="237744" cy="118110"/>
          </a:xfrm>
          <a:prstGeom prst="rect">
            <a:avLst/>
          </a:prstGeom>
          <a:solidFill>
            <a:srgbClr val="9ECB8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532120" y="1507998"/>
            <a:ext cx="237744" cy="118110"/>
          </a:xfrm>
          <a:prstGeom prst="rect">
            <a:avLst/>
          </a:prstGeom>
          <a:solidFill>
            <a:srgbClr val="7CB86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532120" y="1389888"/>
            <a:ext cx="237744" cy="118110"/>
          </a:xfrm>
          <a:prstGeom prst="rect">
            <a:avLst/>
          </a:prstGeom>
          <a:solidFill>
            <a:srgbClr val="7CB86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532120" y="1389888"/>
            <a:ext cx="237744" cy="1417320"/>
          </a:xfrm>
          <a:prstGeom prst="rect">
            <a:avLst/>
          </a:prstGeom>
          <a:ln w="11430">
            <a:solidFill>
              <a:srgbClr val="7F7F7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5824728" y="13533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06" name="Text 104"/>
          <p:cNvSpPr txBox="1"/>
          <p:nvPr/>
        </p:nvSpPr>
        <p:spPr>
          <a:xfrm>
            <a:off x="5824728" y="266090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07" name="Text 105"/>
          <p:cNvSpPr txBox="1"/>
          <p:nvPr/>
        </p:nvSpPr>
        <p:spPr>
          <a:xfrm>
            <a:off x="5477256" y="2862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F_T</a:t>
            </a:r>
            <a:endParaRPr lang="en-US" sz="900" dirty="0"/>
          </a:p>
        </p:txBody>
      </p:sp>
      <p:sp>
        <p:nvSpPr>
          <p:cNvPr id="108" name="Text 106"/>
          <p:cNvSpPr txBox="1"/>
          <p:nvPr/>
        </p:nvSpPr>
        <p:spPr>
          <a:xfrm>
            <a:off x="3310128" y="40370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reaction's own products build up towards the middle, so the free energy available falls and the gate closes from the inside out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6172200" y="1298448"/>
            <a:ext cx="2514600" cy="2651760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6300216" y="1371600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times it is evaluated</a:t>
            </a:r>
            <a:endParaRPr lang="en-US" sz="950" dirty="0"/>
          </a:p>
        </p:txBody>
      </p:sp>
      <p:sp>
        <p:nvSpPr>
          <p:cNvPr id="111" name="Text 109"/>
          <p:cNvSpPr txBox="1"/>
          <p:nvPr/>
        </p:nvSpPr>
        <p:spPr>
          <a:xfrm>
            <a:off x="6327648" y="16276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950" dirty="0"/>
          </a:p>
        </p:txBody>
      </p:sp>
      <p:sp>
        <p:nvSpPr>
          <p:cNvPr id="112" name="Text 110"/>
          <p:cNvSpPr txBox="1"/>
          <p:nvPr/>
        </p:nvSpPr>
        <p:spPr>
          <a:xfrm>
            <a:off x="6327648" y="18288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open voxel</a:t>
            </a:r>
            <a:endParaRPr lang="en-US" sz="900" dirty="0"/>
          </a:p>
        </p:txBody>
      </p:sp>
      <p:sp>
        <p:nvSpPr>
          <p:cNvPr id="113" name="Text 111"/>
          <p:cNvSpPr txBox="1"/>
          <p:nvPr/>
        </p:nvSpPr>
        <p:spPr>
          <a:xfrm>
            <a:off x="6327648" y="20116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06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~10.9 million</a:t>
            </a:r>
            <a:endParaRPr lang="en-US" sz="900" dirty="0"/>
          </a:p>
        </p:txBody>
      </p:sp>
      <p:sp>
        <p:nvSpPr>
          <p:cNvPr id="114" name="Text 112"/>
          <p:cNvSpPr txBox="1"/>
          <p:nvPr/>
        </p:nvSpPr>
        <p:spPr>
          <a:xfrm>
            <a:off x="6327648" y="21945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path</a:t>
            </a:r>
            <a:endParaRPr lang="en-US" sz="950" dirty="0"/>
          </a:p>
        </p:txBody>
      </p:sp>
      <p:sp>
        <p:nvSpPr>
          <p:cNvPr id="115" name="Text 113"/>
          <p:cNvSpPr txBox="1"/>
          <p:nvPr/>
        </p:nvSpPr>
        <p:spPr>
          <a:xfrm>
            <a:off x="6327648" y="23957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biomass voxel</a:t>
            </a:r>
            <a:endParaRPr lang="en-US" sz="900" dirty="0"/>
          </a:p>
        </p:txBody>
      </p:sp>
      <p:sp>
        <p:nvSpPr>
          <p:cNvPr id="116" name="Text 114"/>
          <p:cNvSpPr txBox="1"/>
          <p:nvPr/>
        </p:nvSpPr>
        <p:spPr>
          <a:xfrm>
            <a:off x="6327648" y="2578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06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~147 thousand</a:t>
            </a:r>
            <a:endParaRPr lang="en-US" sz="900" dirty="0"/>
          </a:p>
        </p:txBody>
      </p:sp>
      <p:sp>
        <p:nvSpPr>
          <p:cNvPr id="117" name="Text 115"/>
          <p:cNvSpPr txBox="1"/>
          <p:nvPr/>
        </p:nvSpPr>
        <p:spPr>
          <a:xfrm>
            <a:off x="6327648" y="27614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950" dirty="0"/>
          </a:p>
        </p:txBody>
      </p:sp>
      <p:sp>
        <p:nvSpPr>
          <p:cNvPr id="118" name="Text 116"/>
          <p:cNvSpPr txBox="1"/>
          <p:nvPr/>
        </p:nvSpPr>
        <p:spPr>
          <a:xfrm>
            <a:off x="6327648" y="29626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biomass voxel</a:t>
            </a:r>
            <a:endParaRPr lang="en-US" sz="900" dirty="0"/>
          </a:p>
        </p:txBody>
      </p:sp>
      <p:sp>
        <p:nvSpPr>
          <p:cNvPr id="119" name="Text 117"/>
          <p:cNvSpPr txBox="1"/>
          <p:nvPr/>
        </p:nvSpPr>
        <p:spPr>
          <a:xfrm>
            <a:off x="6327648" y="314553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06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~147 thousand</a:t>
            </a:r>
            <a:endParaRPr lang="en-US" sz="900" dirty="0"/>
          </a:p>
        </p:txBody>
      </p:sp>
      <p:sp>
        <p:nvSpPr>
          <p:cNvPr id="120" name="Text 118"/>
          <p:cNvSpPr txBox="1"/>
          <p:nvPr/>
        </p:nvSpPr>
        <p:spPr>
          <a:xfrm>
            <a:off x="6327648" y="33649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costs one logarithm and one exponential in about one and a half per cent of the pore volume</a:t>
            </a:r>
            <a:endParaRPr lang="en-US" sz="900" dirty="0"/>
          </a:p>
        </p:txBody>
      </p:sp>
      <p:sp>
        <p:nvSpPr>
          <p:cNvPr id="121" name="Text 119"/>
          <p:cNvSpPr txBox="1"/>
          <p:nvPr/>
        </p:nvSpPr>
        <p:spPr>
          <a:xfrm>
            <a:off x="457200" y="45537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loop, exactly as the solver runs it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457200" y="4864608"/>
            <a:ext cx="8275320" cy="1874520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576072" y="4956048"/>
            <a:ext cx="80375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every reaction step: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every voxel in the domain: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the voxel holds no biomass:            skip it entirely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every organism in this voxel: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R_pot = the rate path, from THIS voxel's concentrations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F_T   = the four equations, from THIS voxel's concentrations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apply  R = R_pot * F_T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2801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equations, and one voxel carried down them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120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iterative and nothing is solved. Four lines of arithmetic, evaluated wherever the previous figure says they are.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75320" cy="512064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voxel holds:    CH4 8.0 mM     SO4 12.0 mM     HS 0.5 mM     HCO3 9.6 mM        at 4 °C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" y="1773936"/>
            <a:ext cx="329184" cy="329184"/>
          </a:xfrm>
          <a:prstGeom prst="ellipse">
            <a:avLst/>
          </a:prstGeom>
          <a:solidFill>
            <a:srgbClr val="F2B2B2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1773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8105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reaction quotient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0120" y="2103120"/>
            <a:ext cx="3703320" cy="384048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8992" y="2194560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=  PROD_i  a_i ^ nu_i</a:t>
            </a:r>
            <a:endParaRPr lang="en-US" sz="960" dirty="0"/>
          </a:p>
        </p:txBody>
      </p:sp>
      <p:sp>
        <p:nvSpPr>
          <p:cNvPr id="11" name="Text 9"/>
          <p:cNvSpPr txBox="1"/>
          <p:nvPr/>
        </p:nvSpPr>
        <p:spPr>
          <a:xfrm>
            <a:off x="4828032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local concentrations,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floored at cmin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920240"/>
            <a:ext cx="2194560" cy="457200"/>
          </a:xfrm>
          <a:prstGeom prst="rect">
            <a:avLst/>
          </a:prstGeom>
          <a:solidFill>
            <a:srgbClr val="D9EACC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=  0.0500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578608"/>
            <a:ext cx="0" cy="310896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5488" y="2980944"/>
            <a:ext cx="329184" cy="329184"/>
          </a:xfrm>
          <a:prstGeom prst="ellipse">
            <a:avLst/>
          </a:prstGeom>
          <a:solidFill>
            <a:srgbClr val="F2B2B2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017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energy actually available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0120" y="3310128"/>
            <a:ext cx="3703320" cy="384048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78992" y="3401568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  =  dG0  +  R T ln Q  +  dGloss</a:t>
            </a:r>
            <a:endParaRPr lang="en-US" sz="960" dirty="0"/>
          </a:p>
        </p:txBody>
      </p:sp>
      <p:sp>
        <p:nvSpPr>
          <p:cNvPr id="19" name="Text 17"/>
          <p:cNvSpPr txBox="1"/>
          <p:nvPr/>
        </p:nvSpPr>
        <p:spPr>
          <a:xfrm>
            <a:off x="4828032" y="30358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dG0, T and dGloss come from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file, not from the code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127248"/>
            <a:ext cx="2194560" cy="457200"/>
          </a:xfrm>
          <a:prstGeom prst="rect">
            <a:avLst/>
          </a:prstGeom>
          <a:solidFill>
            <a:srgbClr val="D9EACC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  =  − 14.32 kJ/mol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785616"/>
            <a:ext cx="0" cy="310896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5488" y="4187952"/>
            <a:ext cx="329184" cy="329184"/>
          </a:xfrm>
          <a:prstGeom prst="ellipse">
            <a:avLst/>
          </a:prstGeom>
          <a:solidFill>
            <a:srgbClr val="F2B2B2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2245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left after the ATP cost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0120" y="4517136"/>
            <a:ext cx="3703320" cy="384048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78992" y="4608576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=  dG  +  m dG_ATP</a:t>
            </a:r>
            <a:endParaRPr lang="en-US" sz="960" dirty="0"/>
          </a:p>
        </p:txBody>
      </p:sp>
      <p:sp>
        <p:nvSpPr>
          <p:cNvPr id="27" name="Text 25"/>
          <p:cNvSpPr txBox="1"/>
          <p:nvPr/>
        </p:nvSpPr>
        <p:spPr>
          <a:xfrm>
            <a:off x="4828032" y="42428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dG_ATP = 0.25 × 50 = 12.5,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energy threshold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4334256"/>
            <a:ext cx="2194560" cy="457200"/>
          </a:xfrm>
          <a:prstGeom prst="rect">
            <a:avLst/>
          </a:prstGeom>
          <a:solidFill>
            <a:srgbClr val="D9EACC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=  − 1.82 kJ/mol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992624"/>
            <a:ext cx="0" cy="310896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75488" y="5394960"/>
            <a:ext cx="329184" cy="329184"/>
          </a:xfrm>
          <a:prstGeom prst="ellipse">
            <a:avLst/>
          </a:prstGeom>
          <a:solidFill>
            <a:srgbClr val="F2B2B2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5488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54315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 that multiplies the rate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60120" y="5724144"/>
            <a:ext cx="3703320" cy="384048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78992" y="5815584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F_T  =  max( 0 ,  1 − exp( f / (chi R T) ) )</a:t>
            </a:r>
            <a:endParaRPr lang="en-US" sz="960" dirty="0"/>
          </a:p>
        </p:txBody>
      </p:sp>
      <p:sp>
        <p:nvSpPr>
          <p:cNvPr id="35" name="Text 33"/>
          <p:cNvSpPr txBox="1"/>
          <p:nvPr/>
        </p:nvSpPr>
        <p:spPr>
          <a:xfrm>
            <a:off x="4828032" y="54498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R T = 1 × 2.304 kJ/mol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5541264"/>
            <a:ext cx="2194560" cy="457200"/>
          </a:xfrm>
          <a:prstGeom prst="rect">
            <a:avLst/>
          </a:prstGeom>
          <a:solidFill>
            <a:srgbClr val="D9EACC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F_T  =  0.547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2801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aggregate, with the gate off and with it on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120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switch in the configuration is the only difference. The geometry, the transport coefficients, the metabolic model and the biomass are identical in the two runs.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3017520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" y="1078992"/>
            <a:ext cx="3721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thermodynamics disabled  (the control run)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43000" y="2340864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578608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816352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80744" y="1865376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0744" y="2103120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0744" y="2340864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0744" y="2578608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80744" y="2816352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80744" y="3054096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80744" y="3291840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18488" y="1865376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18488" y="2103120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18488" y="2340864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18488" y="2578608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18488" y="2816352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18488" y="3054096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18488" y="3291840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56232" y="1627632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56232" y="1865376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56232" y="2103120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56232" y="2340864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56232" y="2578608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56232" y="2816352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56232" y="3054096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56232" y="3291840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56232" y="3529584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93976" y="1627632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93976" y="1865376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93976" y="2103120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93976" y="2340864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93976" y="2578608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93976" y="2816352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93976" y="3054096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93976" y="3291840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93976" y="3529584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31720" y="1627632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31720" y="1865376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31720" y="2103120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31720" y="2340864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31720" y="2578608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31720" y="2816352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31720" y="3054096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31720" y="3291840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31720" y="3529584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69464" y="1865376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69464" y="2103120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69464" y="2340864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69464" y="2578608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69464" y="2816352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69464" y="3054096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69464" y="3291840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807208" y="1865376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807208" y="2103120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807208" y="2340864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807208" y="2578608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807208" y="2816352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07208" y="3054096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807208" y="3291840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044952" y="2340864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44952" y="2578608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044952" y="2816352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21792" y="3712464"/>
            <a:ext cx="3648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voxel runs at the rate its substrates allow, however far the products have built up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731520" y="1335024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potential rate, voxel by voxel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754880" y="1005840"/>
            <a:ext cx="3977640" cy="3017520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882896" y="1078992"/>
            <a:ext cx="3721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thermodynamics enabled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440680" y="2340864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40680" y="2578608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40680" y="2816352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678424" y="1865376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678424" y="2103120"/>
            <a:ext cx="237744" cy="23774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678424" y="2340864"/>
            <a:ext cx="237744" cy="23774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678424" y="2578608"/>
            <a:ext cx="237744" cy="23774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678424" y="2816352"/>
            <a:ext cx="237744" cy="23774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678424" y="3054096"/>
            <a:ext cx="237744" cy="23774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678424" y="3291840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916168" y="1865376"/>
            <a:ext cx="237744" cy="23774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916168" y="2103120"/>
            <a:ext cx="237744" cy="237744"/>
          </a:xfrm>
          <a:prstGeom prst="rect">
            <a:avLst/>
          </a:prstGeom>
          <a:solidFill>
            <a:srgbClr val="BEDCAB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916168" y="2340864"/>
            <a:ext cx="237744" cy="23774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916168" y="2578608"/>
            <a:ext cx="237744" cy="23774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916168" y="2816352"/>
            <a:ext cx="237744" cy="23774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16168" y="3054096"/>
            <a:ext cx="237744" cy="237744"/>
          </a:xfrm>
          <a:prstGeom prst="rect">
            <a:avLst/>
          </a:prstGeom>
          <a:solidFill>
            <a:srgbClr val="BEDCAB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916168" y="3291840"/>
            <a:ext cx="237744" cy="23774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153912" y="1627632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153912" y="1865376"/>
            <a:ext cx="237744" cy="23774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153912" y="2103120"/>
            <a:ext cx="237744" cy="23774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53912" y="2340864"/>
            <a:ext cx="237744" cy="237744"/>
          </a:xfrm>
          <a:prstGeom prst="rect">
            <a:avLst/>
          </a:prstGeom>
          <a:solidFill>
            <a:srgbClr val="EDF4E7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53912" y="2578608"/>
            <a:ext cx="237744" cy="237744"/>
          </a:xfrm>
          <a:prstGeom prst="rect">
            <a:avLst/>
          </a:prstGeom>
          <a:solidFill>
            <a:srgbClr val="EDF4E7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53912" y="2816352"/>
            <a:ext cx="237744" cy="237744"/>
          </a:xfrm>
          <a:prstGeom prst="rect">
            <a:avLst/>
          </a:prstGeom>
          <a:solidFill>
            <a:srgbClr val="EDF4E7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153912" y="3054096"/>
            <a:ext cx="237744" cy="23774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53912" y="3291840"/>
            <a:ext cx="237744" cy="23774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153912" y="3529584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391656" y="1627632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391656" y="1865376"/>
            <a:ext cx="237744" cy="23774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391656" y="2103120"/>
            <a:ext cx="237744" cy="23774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391656" y="2340864"/>
            <a:ext cx="237744" cy="237744"/>
          </a:xfrm>
          <a:prstGeom prst="rect">
            <a:avLst/>
          </a:prstGeom>
          <a:solidFill>
            <a:srgbClr val="EDF4E7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391656" y="257860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391656" y="2816352"/>
            <a:ext cx="237744" cy="237744"/>
          </a:xfrm>
          <a:prstGeom prst="rect">
            <a:avLst/>
          </a:prstGeom>
          <a:solidFill>
            <a:srgbClr val="EDF4E7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391656" y="3054096"/>
            <a:ext cx="237744" cy="23774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91656" y="3291840"/>
            <a:ext cx="237744" cy="23774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391656" y="3529584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629400" y="1627632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629400" y="1865376"/>
            <a:ext cx="237744" cy="23774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629400" y="2103120"/>
            <a:ext cx="237744" cy="23774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629400" y="2340864"/>
            <a:ext cx="237744" cy="237744"/>
          </a:xfrm>
          <a:prstGeom prst="rect">
            <a:avLst/>
          </a:prstGeom>
          <a:solidFill>
            <a:srgbClr val="EDF4E7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29400" y="2578608"/>
            <a:ext cx="237744" cy="237744"/>
          </a:xfrm>
          <a:prstGeom prst="rect">
            <a:avLst/>
          </a:prstGeom>
          <a:solidFill>
            <a:srgbClr val="EDF4E7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629400" y="2816352"/>
            <a:ext cx="237744" cy="237744"/>
          </a:xfrm>
          <a:prstGeom prst="rect">
            <a:avLst/>
          </a:prstGeom>
          <a:solidFill>
            <a:srgbClr val="EDF4E7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629400" y="3054096"/>
            <a:ext cx="237744" cy="23774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629400" y="3291840"/>
            <a:ext cx="237744" cy="23774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629400" y="3529584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867144" y="1865376"/>
            <a:ext cx="237744" cy="23774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867144" y="2103120"/>
            <a:ext cx="237744" cy="237744"/>
          </a:xfrm>
          <a:prstGeom prst="rect">
            <a:avLst/>
          </a:prstGeom>
          <a:solidFill>
            <a:srgbClr val="BEDCAB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867144" y="2340864"/>
            <a:ext cx="237744" cy="23774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867144" y="2578608"/>
            <a:ext cx="237744" cy="23774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867144" y="2816352"/>
            <a:ext cx="237744" cy="237744"/>
          </a:xfrm>
          <a:prstGeom prst="rect">
            <a:avLst/>
          </a:prstGeom>
          <a:solidFill>
            <a:srgbClr val="D9EACC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867144" y="3054096"/>
            <a:ext cx="237744" cy="237744"/>
          </a:xfrm>
          <a:prstGeom prst="rect">
            <a:avLst/>
          </a:prstGeom>
          <a:solidFill>
            <a:srgbClr val="BEDCAB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867144" y="3291840"/>
            <a:ext cx="237744" cy="23774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104888" y="1865376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104888" y="2103120"/>
            <a:ext cx="237744" cy="23774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104888" y="2340864"/>
            <a:ext cx="237744" cy="23774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104888" y="2578608"/>
            <a:ext cx="237744" cy="23774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104888" y="2816352"/>
            <a:ext cx="237744" cy="23774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104888" y="3054096"/>
            <a:ext cx="237744" cy="237744"/>
          </a:xfrm>
          <a:prstGeom prst="rect">
            <a:avLst/>
          </a:prstGeom>
          <a:solidFill>
            <a:srgbClr val="9ECB8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104888" y="3291840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342632" y="2340864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342632" y="2578608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342632" y="2816352"/>
            <a:ext cx="237744" cy="237744"/>
          </a:xfrm>
          <a:prstGeom prst="rect">
            <a:avLst/>
          </a:prstGeom>
          <a:solidFill>
            <a:srgbClr val="7CB861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4919472" y="3712464"/>
            <a:ext cx="3648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falls away towards the middle, where the reaction has spent its own energy</a:t>
            </a:r>
            <a:endParaRPr lang="en-US" sz="900" dirty="0"/>
          </a:p>
        </p:txBody>
      </p:sp>
      <p:sp>
        <p:nvSpPr>
          <p:cNvPr id="133" name="Text 131"/>
          <p:cNvSpPr txBox="1"/>
          <p:nvPr/>
        </p:nvSpPr>
        <p:spPr>
          <a:xfrm>
            <a:off x="5029200" y="1335024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realised rate, voxel by voxel</a:t>
            </a:r>
            <a:endParaRPr lang="en-US" sz="900" dirty="0"/>
          </a:p>
        </p:txBody>
      </p:sp>
      <p:sp>
        <p:nvSpPr>
          <p:cNvPr id="134" name="Text 132"/>
          <p:cNvSpPr txBox="1"/>
          <p:nvPr/>
        </p:nvSpPr>
        <p:spPr>
          <a:xfrm>
            <a:off x="457200" y="4224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pair of runs measures</a:t>
            </a:r>
            <a:endParaRPr lang="en-US" sz="1000" dirty="0"/>
          </a:p>
        </p:txBody>
      </p:sp>
      <p:sp>
        <p:nvSpPr>
          <p:cNvPr id="135" name="Text 133"/>
          <p:cNvSpPr txBox="1"/>
          <p:nvPr/>
        </p:nvSpPr>
        <p:spPr>
          <a:xfrm>
            <a:off x="457200" y="4553712"/>
            <a:ext cx="2331720" cy="475488"/>
          </a:xfrm>
          <a:prstGeom prst="rect">
            <a:avLst/>
          </a:prstGeom>
          <a:solidFill>
            <a:srgbClr val="BDD7EE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slower</a:t>
            </a:r>
            <a:endParaRPr lang="en-US" sz="980" dirty="0"/>
          </a:p>
        </p:txBody>
      </p:sp>
      <p:sp>
        <p:nvSpPr>
          <p:cNvPr id="136" name="Text 134"/>
          <p:cNvSpPr txBox="1"/>
          <p:nvPr/>
        </p:nvSpPr>
        <p:spPr>
          <a:xfrm>
            <a:off x="2971800" y="4608576"/>
            <a:ext cx="5715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average of F_T over the aggregate, which is not F_T evaluated at the bulk composition</a:t>
            </a:r>
            <a:endParaRPr lang="en-US" sz="980" dirty="0"/>
          </a:p>
        </p:txBody>
      </p:sp>
      <p:sp>
        <p:nvSpPr>
          <p:cNvPr id="137" name="Text 135"/>
          <p:cNvSpPr txBox="1"/>
          <p:nvPr/>
        </p:nvSpPr>
        <p:spPr>
          <a:xfrm>
            <a:off x="457200" y="5175504"/>
            <a:ext cx="2331720" cy="475488"/>
          </a:xfrm>
          <a:prstGeom prst="rect">
            <a:avLst/>
          </a:prstGeom>
          <a:solidFill>
            <a:srgbClr val="BDD7EE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stopped</a:t>
            </a:r>
            <a:endParaRPr lang="en-US" sz="980" dirty="0"/>
          </a:p>
        </p:txBody>
      </p:sp>
      <p:sp>
        <p:nvSpPr>
          <p:cNvPr id="138" name="Text 136"/>
          <p:cNvSpPr txBox="1"/>
          <p:nvPr/>
        </p:nvSpPr>
        <p:spPr>
          <a:xfrm>
            <a:off x="2971800" y="5230368"/>
            <a:ext cx="5715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depth into the aggregate at which F_T reaches zero, which no box model can produce</a:t>
            </a:r>
            <a:endParaRPr lang="en-US" sz="980" dirty="0"/>
          </a:p>
        </p:txBody>
      </p:sp>
      <p:sp>
        <p:nvSpPr>
          <p:cNvPr id="139" name="Text 137"/>
          <p:cNvSpPr txBox="1"/>
          <p:nvPr/>
        </p:nvSpPr>
        <p:spPr>
          <a:xfrm>
            <a:off x="457200" y="5797296"/>
            <a:ext cx="2331720" cy="475488"/>
          </a:xfrm>
          <a:prstGeom prst="rect">
            <a:avLst/>
          </a:prstGeom>
          <a:solidFill>
            <a:srgbClr val="BDD7EE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bigger it could be</a:t>
            </a:r>
            <a:endParaRPr lang="en-US" sz="980" dirty="0"/>
          </a:p>
        </p:txBody>
      </p:sp>
      <p:sp>
        <p:nvSpPr>
          <p:cNvPr id="140" name="Text 138"/>
          <p:cNvSpPr txBox="1"/>
          <p:nvPr/>
        </p:nvSpPr>
        <p:spPr>
          <a:xfrm>
            <a:off x="2971800" y="5852160"/>
            <a:ext cx="5715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aggregate radius past which the core contributes nothing, which is a size limit the model derives rather than assumes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2801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energetics file, line by line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120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switch and one file name live in CompLaB.xml. Every number that decides where the gate closes is here, in something a reader can open, diff and cite.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434840" cy="3611880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1143000"/>
            <a:ext cx="419709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aom.thm
provenance   dG0 from He et al. (2021)
version      1
temperature  277.15
energy_units kJ
concentration_scale 1
reaction AOM
  microbe   ANME
  stoich    CH4 -1  SO4 -1  HS 1  HCO3 1
  dG0       -33.12
  atp       0.25
  dGatp     50.0
  chi       1.0
  cmin      1e-9
  dGloss    25.7
  yield     on
  dGana     -30.0
  carbon    1
  reduction 8.0
  yieldmax  0.05
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956048" y="1385773"/>
            <a:ext cx="23774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248656" y="1294333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numbers came from; echoed into the log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4956048" y="1706728"/>
            <a:ext cx="23774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248656" y="1615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temperature dG0 is quoted at, in kelvin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956048" y="2348636"/>
            <a:ext cx="23774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248656" y="22571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block per reaction; the name is for the log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956048" y="2509114"/>
            <a:ext cx="23774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248656" y="241767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organism, by name from the configuration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956048" y="2669591"/>
            <a:ext cx="23774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248656" y="2578151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consumed, positive produced; an unknown name is a hard error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956048" y="2830068"/>
            <a:ext cx="23774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248656" y="27386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free energy, at the temperature above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956048" y="3151022"/>
            <a:ext cx="23774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248656" y="305958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 per turnover and the energy of one ATP;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956048" y="3311500"/>
            <a:ext cx="23774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248656" y="32200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product 12.5 kJ/mol is the threshold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956048" y="3471977"/>
            <a:ext cx="23774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248656" y="3380537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stoichiometric number; one unless measured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956048" y="3632454"/>
            <a:ext cx="23774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248656" y="354101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floor, so ln Q stays finite at zero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956048" y="3792931"/>
            <a:ext cx="23774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248656" y="3701491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transfer loss, added to dG so it reduces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956048" y="3953408"/>
            <a:ext cx="23774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248656" y="3861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available; 0 recovers direct contact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956048" y="4274363"/>
            <a:ext cx="23774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5248656" y="4182923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growth yield block, off by default</a:t>
            </a:r>
            <a:endParaRPr lang="en-US" sz="88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892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of the configuration side: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166360"/>
            <a:ext cx="4434840" cy="960120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76072" y="5257800"/>
            <a:ext cx="4197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&lt;thermodynamics&gt;</a:t>
            </a:r>
            <a:endParaRPr lang="en-US" sz="88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&lt;enabled&gt;true&lt;/enabled&gt;</a:t>
            </a:r>
            <a:endParaRPr lang="en-US" sz="88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&lt;energetics_file&gt;input/aom.thm&lt;/energetics_file&gt;</a:t>
            </a:r>
            <a:endParaRPr lang="en-US" sz="88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&lt;/thermodynamics&gt;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2801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optional growth yield, and why it is off by default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120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yield off, the gate only scales a rate. With it on, the same free energy also says how much biomass one turnover of the reaction buys.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2103120" cy="658368"/>
          </a:xfrm>
          <a:prstGeom prst="rect">
            <a:avLst/>
          </a:prstGeom>
          <a:solidFill>
            <a:srgbClr val="BDD7EE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carbon source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and degree of reduction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2606040" y="1517904"/>
            <a:ext cx="457200" cy="0"/>
          </a:xfrm>
          <a:prstGeom prst="line">
            <a:avLst/>
          </a:prstGeom>
          <a:noFill/>
          <a:ln w="1651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3063240" y="1097280"/>
            <a:ext cx="3246120" cy="841248"/>
          </a:xfrm>
          <a:prstGeom prst="rect">
            <a:avLst/>
          </a:prstGeom>
          <a:solidFill>
            <a:srgbClr val="FFE69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Heijnen and van Dijken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dissipation correlation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6309360" y="1517904"/>
            <a:ext cx="457200" cy="0"/>
          </a:xfrm>
          <a:prstGeom prst="line">
            <a:avLst/>
          </a:prstGeom>
          <a:noFill/>
          <a:ln w="1651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6766560" y="1188720"/>
            <a:ext cx="1874520" cy="658368"/>
          </a:xfrm>
          <a:prstGeom prst="rect">
            <a:avLst/>
          </a:prstGeom>
          <a:solidFill>
            <a:srgbClr val="C6E0B4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ΔG_dis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 per C-mol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1691640" y="2103120"/>
            <a:ext cx="5760720" cy="548640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10512" y="2194560"/>
            <a:ext cx="5522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dG_dis = 200 + 18 (6 - NoC)^1.8 + exp[ ((3.8 - gamma)^2)^0.16 (3.6 + 0.4 NoC) 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2697480"/>
            <a:ext cx="0" cy="365760"/>
          </a:xfrm>
          <a:prstGeom prst="line">
            <a:avLst/>
          </a:prstGeom>
          <a:noFill/>
          <a:ln w="1651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834640" y="3063240"/>
            <a:ext cx="3474720" cy="566928"/>
          </a:xfrm>
          <a:prstGeom prst="rect">
            <a:avLst/>
          </a:prstGeom>
          <a:solidFill>
            <a:srgbClr val="F2B2B2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 =  ΔG  /  −( ΔG_ana + ΔG_dis 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3630168"/>
            <a:ext cx="0" cy="365760"/>
          </a:xfrm>
          <a:prstGeom prst="line">
            <a:avLst/>
          </a:prstGeom>
          <a:noFill/>
          <a:ln w="1651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834640" y="3995928"/>
            <a:ext cx="3474720" cy="475488"/>
          </a:xfrm>
          <a:prstGeom prst="rect">
            <a:avLst/>
          </a:prstGeom>
          <a:solidFill>
            <a:srgbClr val="C6E0B4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C-mol biomass per mole of reaction</a:t>
            </a:r>
            <a:endParaRPr lang="en-US" sz="98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18211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B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ΔG the gate computed one line earlier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61488" y="3310128"/>
            <a:ext cx="73152" cy="0"/>
          </a:xfrm>
          <a:prstGeom prst="line">
            <a:avLst/>
          </a:prstGeom>
          <a:noFill/>
          <a:ln w="13970">
            <a:solidFill>
              <a:srgbClr val="B0603A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2026-09-07T10:18:19Z</dcterms:created>
  <dcterms:modified xsi:type="dcterms:W3CDTF">2026-09-07T10:18:19Z</dcterms:modified>
</cp:coreProperties>
</file>