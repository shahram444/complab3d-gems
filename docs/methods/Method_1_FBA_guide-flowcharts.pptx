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7373600" cy="287121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52374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5870448"/>
            <a:ext cx="16093440" cy="0"/>
          </a:xfrm>
          <a:prstGeom prst="line">
            <a:avLst/>
          </a:prstGeom>
          <a:ln w="11429">
            <a:solidFill>
              <a:srgbClr val="C9C9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2944368"/>
            <a:ext cx="914400" cy="4096512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321040" y="20574000"/>
            <a:ext cx="914400" cy="1353312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02336" y="2139696"/>
            <a:ext cx="82296" cy="3584448"/>
          </a:xfrm>
          <a:prstGeom prst="rect">
            <a:avLst/>
          </a:prstGeom>
          <a:solidFill>
            <a:srgbClr val="FFE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120640" y="3328416"/>
            <a:ext cx="0" cy="91440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5010912"/>
            <a:ext cx="0" cy="1828800"/>
          </a:xfrm>
          <a:prstGeom prst="line">
            <a:avLst/>
          </a:prstGeom>
          <a:ln w="22859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02336" y="6729984"/>
            <a:ext cx="82296" cy="5413248"/>
          </a:xfrm>
          <a:prstGeom prst="rect">
            <a:avLst/>
          </a:prstGeom>
          <a:solidFill>
            <a:srgbClr val="BDD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5120640" y="7918704"/>
            <a:ext cx="0" cy="73152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9857232"/>
            <a:ext cx="0" cy="69494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9253728"/>
            <a:ext cx="146304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02336" y="12280392"/>
            <a:ext cx="82296" cy="12326112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5120640" y="13304520"/>
            <a:ext cx="0" cy="64922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20640" y="14831568"/>
            <a:ext cx="0" cy="85953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0640" y="16349472"/>
            <a:ext cx="0" cy="65836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120640" y="18068544"/>
            <a:ext cx="0" cy="74980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120640" y="19476720"/>
            <a:ext cx="0" cy="7132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20958048"/>
            <a:ext cx="0" cy="65836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22274784"/>
            <a:ext cx="0" cy="53035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23646384"/>
            <a:ext cx="0" cy="3383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97280" y="23225760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7280" y="13002768"/>
            <a:ext cx="0" cy="10222992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97280" y="13002768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772400" y="17538192"/>
            <a:ext cx="12801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887200" y="16020288"/>
            <a:ext cx="0" cy="1133856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8321040" y="16020288"/>
            <a:ext cx="35661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235440" y="5486400"/>
            <a:ext cx="7680960" cy="3108960"/>
          </a:xfrm>
          <a:prstGeom prst="roundRect">
            <a:avLst>
              <a:gd name="adj" fmla="val 2352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20116800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1828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E699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2359152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BDD7EE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2889504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3419856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E4D3F5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3950208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235440" y="448056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645566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73184" y="696772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73184" y="747979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3184" y="799185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73184" y="2108606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73184" y="2159812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73184" y="2211019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73184" y="2262225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73184" y="2313432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695176" y="1924812"/>
            <a:ext cx="276148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before the run, outside CompLaB3D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210669" y="2455164"/>
            <a:ext cx="1730502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start-up, once per run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72291" y="2985516"/>
            <a:ext cx="320725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per organism, per voxel, per reaction step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41417" y="3515868"/>
            <a:ext cx="346900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the one step the two back ends do differently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80242" y="4046220"/>
            <a:ext cx="39913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guard rail: it stops the run, or changes the number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907202" y="4576572"/>
            <a:ext cx="233743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question the code asks itself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674030" y="6556248"/>
            <a:ext cx="280377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 v = 0, the cell is at steady state inside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22595" y="7068312"/>
            <a:ext cx="290664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l &lt;= v &lt;= u, every reaction has a capacity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83721" y="7580376"/>
            <a:ext cx="318439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max c'v, the organism grows as fast as it can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353990" y="8092440"/>
            <a:ext cx="344385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only l on the uptake columns is rebuilt per voxel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01387" y="21186648"/>
            <a:ext cx="394906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every organism solves against the same concentrations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88268" y="21698712"/>
            <a:ext cx="357530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so the draws are added up afterwards, not before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297983" y="22210776"/>
            <a:ext cx="355587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an over-draw marks the organisms that wanted 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62575" y="22722840"/>
            <a:ext cx="322668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they are re-solved against one pooled supply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1679" y="23234904"/>
            <a:ext cx="384848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after three passes the draw is clamped, never refused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920240" y="2560320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920240" y="4242816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FE699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920240" y="7150608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iamond 62"/>
          <p:cNvSpPr/>
          <p:nvPr/>
        </p:nvSpPr>
        <p:spPr>
          <a:xfrm>
            <a:off x="2377440" y="8650224"/>
            <a:ext cx="5486400" cy="120700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920240" y="10552176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BDD7EE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326880" y="8869680"/>
            <a:ext cx="5120640" cy="768096"/>
          </a:xfrm>
          <a:prstGeom prst="roundRect">
            <a:avLst>
              <a:gd name="adj" fmla="val 9523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920240" y="12701016"/>
            <a:ext cx="6400800" cy="603504"/>
          </a:xfrm>
          <a:prstGeom prst="roundRect">
            <a:avLst>
              <a:gd name="adj" fmla="val 1212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920240" y="13953744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920240" y="15691104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E4D3F5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iamond 68"/>
          <p:cNvSpPr/>
          <p:nvPr/>
        </p:nvSpPr>
        <p:spPr>
          <a:xfrm>
            <a:off x="2468880" y="17007840"/>
            <a:ext cx="5303520" cy="1060704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052560" y="17154144"/>
            <a:ext cx="5669280" cy="768096"/>
          </a:xfrm>
          <a:prstGeom prst="roundRect">
            <a:avLst>
              <a:gd name="adj" fmla="val 9523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920240" y="18818352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920240" y="20189952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920240" y="2161641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iamond 73"/>
          <p:cNvSpPr/>
          <p:nvPr/>
        </p:nvSpPr>
        <p:spPr>
          <a:xfrm>
            <a:off x="3611880" y="22805136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743200" y="23984712"/>
            <a:ext cx="4754880" cy="530352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04338" y="2729941"/>
            <a:ext cx="4832604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Have a metabolic model: a list of reactions, the metabolites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each one moves, and which reaction makes biomass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684335" y="4412437"/>
            <a:ext cx="4872609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Say which exchange reaction stands for which of the run's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substrates, and how fast the organism can take each one up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24328" y="7320229"/>
            <a:ext cx="4992624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model once. Turn the stoichiometry into arrays,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find the column of every exchange the run names, by name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830764" y="8962034"/>
            <a:ext cx="2579751" cy="5833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does every named substrate have a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column? does the biomass reaction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exist? are the capacities set?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688336" y="10676534"/>
            <a:ext cx="4864608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Build ONE problem object and keep it for the whole run: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matrix, the fixed bounds and the objective are the same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in every voxel, so they are set up once and never again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493311" y="8862136"/>
            <a:ext cx="2787777" cy="78318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Stop before the first step.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A substrate with no column would be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consumed by nothing, silently, for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the whole run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51251" y="12888468"/>
            <a:ext cx="393877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this voxel's concentrations and its biomass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47175" y="14078102"/>
            <a:ext cx="5146929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Build the only thing that tells the program where it is: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lower bound on each uptake reaction, from Monod, held above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model's own floor and above what the voxel can give up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18066" y="15705734"/>
            <a:ext cx="4605147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Solve. GLPK does it in this process, warm-started from the</a:t>
            </a:r>
          </a:p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basis the last voxel left. COBRApy does it across a language</a:t>
            </a:r>
          </a:p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boundary, from cold, about ten times slower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830193" y="17246498"/>
            <a:ext cx="2580894" cy="58338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would the organisms here between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them draw more of some substrate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than the voxel holds?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20631" y="17240554"/>
            <a:ext cx="4533138" cy="59527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Mark every organism that wanted that substrate as sharing it,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give them one pooled supply between them, and solve again.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Three passes, then clamp the draw and carry on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99766" y="18933109"/>
            <a:ext cx="4841748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Apply the thermodynamic factor to the solved fluxes and to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growth, not to the bounds that produced them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74061" y="20259446"/>
            <a:ext cx="4693158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Turn each flux into a change in concentration, over every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organism present, and never let the total take a substrate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below zero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542032" y="21731173"/>
            <a:ext cx="5157216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Growth multiplies biomass. An organism the program could not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solve for, or that it gave no growth, decays instead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83430" y="23116032"/>
            <a:ext cx="107442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803332" y="24135588"/>
            <a:ext cx="263461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back to the solve loop of Figure 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0896" y="306324"/>
            <a:ext cx="11610594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The flux balance path as code: from a metabolic model on disk to a change in one voxel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0896" y="877824"/>
            <a:ext cx="11446002" cy="6547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Read straight down. The yellow band happens before any simulation exists. The blue band happens once when the solver starts, and it is where the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cost of this method is paid down. The green band happens in every wet voxel that holds biomass, at every reaction step, and it is the box marked in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red in Figure 3. The two back ends differ in one step out of nine, and that step is marked.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0576" y="1476756"/>
            <a:ext cx="193852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the colours mean</a:t>
            </a:r>
          </a:p>
        </p:txBody>
      </p:sp>
      <p:sp>
        <p:nvSpPr>
          <p:cNvPr id="95" name="TextBox 94"/>
          <p:cNvSpPr txBox="1"/>
          <p:nvPr/>
        </p:nvSpPr>
        <p:spPr>
          <a:xfrm rot="16200000">
            <a:off x="-366674" y="3805047"/>
            <a:ext cx="1281988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before the run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65376" y="2231136"/>
            <a:ext cx="4238244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an SBML model, and two lines of CompLaB.xml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248656" y="5522976"/>
            <a:ext cx="224256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model, and the names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48656" y="5998464"/>
            <a:ext cx="39867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7F7F7F"/>
                </a:solidFill>
                <a:latin typeface="Calibri"/>
              </a:rPr>
              <a:t>nothing else crosses this line; the file is never read again</a:t>
            </a:r>
          </a:p>
        </p:txBody>
      </p:sp>
      <p:sp>
        <p:nvSpPr>
          <p:cNvPr id="99" name="TextBox 98"/>
          <p:cNvSpPr txBox="1"/>
          <p:nvPr/>
        </p:nvSpPr>
        <p:spPr>
          <a:xfrm rot="16200000">
            <a:off x="-111556" y="9309735"/>
            <a:ext cx="771753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start-up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865376" y="6818995"/>
            <a:ext cx="2606040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src/complab3d_metabolic.hh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184648" y="10104120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936992" y="8988552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3" name="TextBox 102"/>
          <p:cNvSpPr txBox="1"/>
          <p:nvPr/>
        </p:nvSpPr>
        <p:spPr>
          <a:xfrm rot="16200000">
            <a:off x="-196596" y="18316575"/>
            <a:ext cx="941832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every step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865376" y="12369403"/>
            <a:ext cx="3086100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src/complab3d_processors_fba.hh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84648" y="2371496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16402" y="22978872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7" name="TextBox 106"/>
          <p:cNvSpPr txBox="1"/>
          <p:nvPr/>
        </p:nvSpPr>
        <p:spPr>
          <a:xfrm rot="16200000">
            <a:off x="656082" y="18003964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voxel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845552" y="1727301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9" name="TextBox 108"/>
          <p:cNvSpPr txBox="1"/>
          <p:nvPr/>
        </p:nvSpPr>
        <p:spPr>
          <a:xfrm rot="16200000">
            <a:off x="11277981" y="16476916"/>
            <a:ext cx="143789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at most three times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982337" y="18041112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18320" y="5669280"/>
            <a:ext cx="4018788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program, and the one block of it that moves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418320" y="6035040"/>
            <a:ext cx="5232654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Three statements about the cell, and only the third knows which voxel it is in.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That is what makes one problem object serve a whole run.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20299680"/>
            <a:ext cx="4644009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why the answer is checked and sometimes solved again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18320" y="20665440"/>
            <a:ext cx="5509260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Each organism solves as though the voxel were its own. Two of them in one voxel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can therefore each be granted the whole supply.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96821" y="3419856"/>
            <a:ext cx="6247638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an SBML file. The shipped example is three metabolites and four reactions so that it can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be checked by hand; a genome-scale model is a few thousand of each and changes nothing here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052256" y="5102352"/>
            <a:ext cx="6136767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two lines of CompLaB.xml: &lt;name_of_substrates&gt; in the order the model lists the exchanges,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and &lt;fba_maximum_uptake_flux&gt;, an enzyme capacity in mmol per gram dry weight per hour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211133" y="8010144"/>
            <a:ext cx="5819013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src/complab3d_metabolic.hh. Positional indexing from here on, which is why the order of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&lt;name_of_substrates&gt; has to match the order the model lists its exchanges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52269" y="11521440"/>
            <a:ext cx="5936742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COBRApy route builds its model from these same arrays rather than re-reading the file,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so a disagreement between the two back ends is a coupling defect and not a modelling one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034540" y="14923008"/>
            <a:ext cx="6172200" cy="527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matrix, the capacities and the objective do not move. One number per substrate is all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that changes from one voxel to the next, and it is the whole of the coupling. The bound is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negative because an exchange is written as the metabolite leaving, so uptake is a negative 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1762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14400" y="11729008"/>
            <a:ext cx="16093440" cy="0"/>
          </a:xfrm>
          <a:prstGeom prst="line">
            <a:avLst/>
          </a:prstGeom>
          <a:ln w="11429">
            <a:solidFill>
              <a:srgbClr val="C9C9D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321040" y="4517136"/>
            <a:ext cx="914400" cy="2157984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8321040" y="9966960"/>
            <a:ext cx="914400" cy="475488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8321040" y="17538192"/>
            <a:ext cx="914400" cy="1700784"/>
          </a:xfrm>
          <a:prstGeom prst="line">
            <a:avLst/>
          </a:prstGeom>
          <a:ln w="12382">
            <a:solidFill>
              <a:srgbClr val="F8A5A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402336" y="2267712"/>
            <a:ext cx="82296" cy="8668512"/>
          </a:xfrm>
          <a:prstGeom prst="rect">
            <a:avLst/>
          </a:prstGeom>
          <a:solidFill>
            <a:srgbClr val="C6E0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5120640" y="3346704"/>
            <a:ext cx="0" cy="73152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4956048"/>
            <a:ext cx="0" cy="93268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120640" y="6547104"/>
            <a:ext cx="0" cy="89611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120640" y="8211312"/>
            <a:ext cx="0" cy="56692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120640" y="9619488"/>
            <a:ext cx="0" cy="43891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97280" y="9198864"/>
            <a:ext cx="25146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97280" y="7827264"/>
            <a:ext cx="0" cy="137160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97280" y="7827264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120640" y="10826496"/>
            <a:ext cx="0" cy="1920240"/>
          </a:xfrm>
          <a:prstGeom prst="line">
            <a:avLst/>
          </a:prstGeom>
          <a:ln w="22859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02336" y="12618720"/>
            <a:ext cx="82296" cy="8513064"/>
          </a:xfrm>
          <a:prstGeom prst="rect">
            <a:avLst/>
          </a:prstGeom>
          <a:solidFill>
            <a:srgbClr val="F8CB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5120640" y="13807440"/>
            <a:ext cx="0" cy="76809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20640" y="15489936"/>
            <a:ext cx="0" cy="67665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20640" y="16934688"/>
            <a:ext cx="0" cy="62179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18397728"/>
            <a:ext cx="0" cy="45720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120640" y="19623024"/>
            <a:ext cx="0" cy="886968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97280" y="17977104"/>
            <a:ext cx="242316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97280" y="15032736"/>
            <a:ext cx="0" cy="2944368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097280" y="15032736"/>
            <a:ext cx="82296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86600" y="15032736"/>
            <a:ext cx="2240280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235440" y="5120640"/>
            <a:ext cx="7680960" cy="3108960"/>
          </a:xfrm>
          <a:prstGeom prst="roundRect">
            <a:avLst>
              <a:gd name="adj" fmla="val 2352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35440" y="8412480"/>
            <a:ext cx="7680960" cy="3108960"/>
          </a:xfrm>
          <a:prstGeom prst="roundRect">
            <a:avLst>
              <a:gd name="adj" fmla="val 2352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235440" y="15727680"/>
            <a:ext cx="7680960" cy="3621024"/>
          </a:xfrm>
          <a:prstGeom prst="roundRect">
            <a:avLst>
              <a:gd name="adj" fmla="val 2020"/>
            </a:avLst>
          </a:prstGeom>
          <a:solidFill>
            <a:srgbClr val="FBFBFD"/>
          </a:solidFill>
          <a:ln w="12382">
            <a:solidFill>
              <a:srgbClr val="C9C9D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1828800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C6E0B4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235440" y="2359152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8CBAD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35440" y="2889504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2B2B2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235440" y="3419856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1429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35440" y="3950208"/>
            <a:ext cx="7680960" cy="420624"/>
          </a:xfrm>
          <a:prstGeom prst="roundRect">
            <a:avLst>
              <a:gd name="adj" fmla="val 13043"/>
            </a:avLst>
          </a:prstGeom>
          <a:solidFill>
            <a:srgbClr val="F8A5A5"/>
          </a:solidFill>
          <a:ln w="11429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73184" y="608990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473184" y="660196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473184" y="711403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73184" y="762609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473184" y="938174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473184" y="989380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473184" y="1040587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473184" y="1091793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73184" y="16696944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473184" y="17209008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473184" y="17721072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473184" y="18233136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473184" y="18745200"/>
            <a:ext cx="7205472" cy="420624"/>
          </a:xfrm>
          <a:prstGeom prst="roundRect">
            <a:avLst>
              <a:gd name="adj" fmla="val 10869"/>
            </a:avLst>
          </a:prstGeom>
          <a:solidFill>
            <a:srgbClr val="FFFFFF"/>
          </a:solidFill>
          <a:ln w="9525">
            <a:solidFill>
              <a:srgbClr val="DC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514010" y="1923526"/>
            <a:ext cx="3123819" cy="23117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&lt;multi_step&gt;: it replaces the single solve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8532" y="2455164"/>
            <a:ext cx="391477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&lt;cybernetic&gt;: it wraps whatever solve is configured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080242" y="2985516"/>
            <a:ext cx="399135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guard rail: it stops the run, or changes the number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907202" y="3515868"/>
            <a:ext cx="233743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a question the code asks itself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568874" y="4046220"/>
            <a:ext cx="3014091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0" i="1">
                <a:solidFill>
                  <a:srgbClr val="202020"/>
                </a:solidFill>
                <a:latin typeface="Calibri"/>
              </a:rPr>
              <a:t>back into the per-voxel loop of Figure 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778043" y="6190488"/>
            <a:ext cx="259575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LP 1   max growth                        -&gt; f1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91150" y="6702552"/>
            <a:ext cx="316953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LP 2   max product 1,   growth &gt;= a1 f1  -&gt; f2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666029" y="7214616"/>
            <a:ext cx="281978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LP 3   max product 2,   growth &gt;= a1 f1,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919775" y="7726680"/>
            <a:ext cx="231228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                        product 1 &gt;= a2 f2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25428" y="9482328"/>
            <a:ext cx="330098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= 1: the first stage and the last agree exactly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22545" y="9994392"/>
            <a:ext cx="370674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= 0.8 on the small network: 3.6364 against 2.9091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55083" y="10506456"/>
            <a:ext cx="424167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report the first and biomass outruns the fluxes by a quarter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61382" y="11018520"/>
            <a:ext cx="402907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below one is a fitted parameter; say so in the methods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331130" y="16797528"/>
            <a:ext cx="348957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options differ only in which bounds are open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32832" y="17309592"/>
            <a:ext cx="368617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so each warm-starts from the basis the last one left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341989" y="17821656"/>
            <a:ext cx="346786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an option below the weight floor is never solved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262550" y="18333720"/>
            <a:ext cx="3626739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 surrogate in place of the solver removes the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568874" y="18845784"/>
            <a:ext cx="301409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the blend itself is m multiplies and an add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920240" y="268833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920240" y="4078224"/>
            <a:ext cx="6400800" cy="877824"/>
          </a:xfrm>
          <a:prstGeom prst="roundRect">
            <a:avLst>
              <a:gd name="adj" fmla="val 833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920240" y="5888736"/>
            <a:ext cx="6400800" cy="658368"/>
          </a:xfrm>
          <a:prstGeom prst="roundRect">
            <a:avLst>
              <a:gd name="adj" fmla="val 11111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920240" y="7443216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C6E0B4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iamond 69"/>
          <p:cNvSpPr/>
          <p:nvPr/>
        </p:nvSpPr>
        <p:spPr>
          <a:xfrm>
            <a:off x="3611880" y="8778240"/>
            <a:ext cx="301752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920240" y="10058400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920240" y="13039344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8CBAD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iamond 72"/>
          <p:cNvSpPr/>
          <p:nvPr/>
        </p:nvSpPr>
        <p:spPr>
          <a:xfrm>
            <a:off x="3154680" y="14575536"/>
            <a:ext cx="3931920" cy="91440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920240" y="16166592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8CBAD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326880" y="14575536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2B2B2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iamond 75"/>
          <p:cNvSpPr/>
          <p:nvPr/>
        </p:nvSpPr>
        <p:spPr>
          <a:xfrm>
            <a:off x="3520440" y="17556480"/>
            <a:ext cx="3200400" cy="841248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920240" y="18854928"/>
            <a:ext cx="6400800" cy="768096"/>
          </a:xfrm>
          <a:prstGeom prst="roundRect">
            <a:avLst>
              <a:gd name="adj" fmla="val 9523"/>
            </a:avLst>
          </a:prstGeom>
          <a:solidFill>
            <a:srgbClr val="F8CBAD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2560320" y="20509992"/>
            <a:ext cx="5120640" cy="530352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30068" y="2803093"/>
            <a:ext cx="4581144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Solve the first program: maximise growth, at this voxel's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bounds. Call what it reaches f1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72918" y="4202582"/>
            <a:ext cx="4695444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Write a floor on the growth column at a fraction of f1.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It is a bound on one column, not a new row, so the matrix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never changes and the warm start survives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20911" y="6003493"/>
            <a:ext cx="4799457" cy="42885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A floor on a column the caller re-bounds every voxel goes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into the caller's bound vectors, not into the problem object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82633" y="7512710"/>
            <a:ext cx="4676013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Solve the next program: maximise, or minimise, the next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quantity, under every floor set so far. Each stage pins one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more number, so after the last one nothing is free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581144" y="9089136"/>
            <a:ext cx="107899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stages?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765488" y="10127894"/>
            <a:ext cx="4710303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Read the growth out of the LAST stage's flux vector, never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out of the first stage's objective value. Then undo every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floor and restore the objective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77477" y="13108838"/>
            <a:ext cx="4886325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Score every carbon source: an ordinary Monod rate on that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source alone, multiplied by the number of carbon atoms the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molecule carries. Divide through, so the scores sum to one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305109" y="14832025"/>
            <a:ext cx="1631061" cy="40142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is this source's weight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above the floor?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632900" y="16236086"/>
            <a:ext cx="4975479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Solve the whole model with only this source's uptake open.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Whatever solve is configured does the work: one program, or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chain above, or a trained network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533888" y="14641144"/>
            <a:ext cx="2706624" cy="783183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Shutting a source forbids its UPTAKE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and never its release. An organism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living on one source has to stay free</a:t>
            </a:r>
          </a:p>
          <a:p>
            <a:pPr algn="ctr"/>
            <a:r>
              <a:rPr sz="1350" b="1" i="0">
                <a:solidFill>
                  <a:srgbClr val="202020"/>
                </a:solidFill>
                <a:latin typeface="Calibri"/>
              </a:rPr>
              <a:t>to excrete what a later option eats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31423" y="17867376"/>
            <a:ext cx="117843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202020"/>
                </a:solidFill>
                <a:latin typeface="Calibri"/>
              </a:rPr>
              <a:t>more sources?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700909" y="18924422"/>
            <a:ext cx="4839462" cy="62910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Blend the flux VECTORS with the weights: the growth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every exchange at once. Each one satisfies the steady state,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so their weighted sum does too, exactly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622167" y="20660868"/>
            <a:ext cx="2996946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202020"/>
                </a:solidFill>
                <a:latin typeface="Calibri"/>
              </a:rPr>
              <a:t>on to the substrate budget of Figure 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10896" y="306324"/>
            <a:ext cx="11465433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The two refinements, as code: what each one does to the solve step, and what it costs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10896" y="877824"/>
            <a:ext cx="11868912" cy="65471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Neither of these is a different method. Both sit inside the one purple box of Figure 4, and everything around that box is unchanged. The first replaces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the single program with a chain of them. The second wraps whichever solve is configured and runs it once per carbon source. They can be used together,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in which case each option of the second is itself a chain.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180576" y="1476756"/>
            <a:ext cx="1938528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02020"/>
                </a:solidFill>
                <a:latin typeface="Calibri"/>
              </a:rPr>
              <a:t>what the colours mean</a:t>
            </a:r>
          </a:p>
        </p:txBody>
      </p:sp>
      <p:sp>
        <p:nvSpPr>
          <p:cNvPr id="95" name="TextBox 94"/>
          <p:cNvSpPr txBox="1"/>
          <p:nvPr/>
        </p:nvSpPr>
        <p:spPr>
          <a:xfrm rot="16200000">
            <a:off x="-154076" y="6475095"/>
            <a:ext cx="856792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chain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865376" y="2356723"/>
            <a:ext cx="299008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src/complab3d_lexicographic.hh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184648" y="9738360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16402" y="895197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99" name="TextBox 98"/>
          <p:cNvSpPr txBox="1"/>
          <p:nvPr/>
        </p:nvSpPr>
        <p:spPr>
          <a:xfrm rot="16200000">
            <a:off x="656082" y="8402764"/>
            <a:ext cx="1083564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stage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248656" y="11370564"/>
            <a:ext cx="233172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one determined flux vector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48656" y="11868912"/>
            <a:ext cx="5823585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i="1">
                <a:solidFill>
                  <a:srgbClr val="7F7F7F"/>
                </a:solidFill>
                <a:latin typeface="Calibri"/>
              </a:rPr>
              <a:t>the same model at the same bounds now returns the same numbers, on any solver</a:t>
            </a:r>
          </a:p>
        </p:txBody>
      </p:sp>
      <p:sp>
        <p:nvSpPr>
          <p:cNvPr id="102" name="TextBox 101"/>
          <p:cNvSpPr txBox="1"/>
          <p:nvPr/>
        </p:nvSpPr>
        <p:spPr>
          <a:xfrm rot="16200000">
            <a:off x="-409194" y="16748379"/>
            <a:ext cx="1367028" cy="25374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competition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65376" y="12707731"/>
            <a:ext cx="2702052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onsolas"/>
              </a:rPr>
              <a:t>src/complab3d_cybernetic.hh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84648" y="15727680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84648" y="18525744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124962" y="17730216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107" name="TextBox 106"/>
          <p:cNvSpPr txBox="1"/>
          <p:nvPr/>
        </p:nvSpPr>
        <p:spPr>
          <a:xfrm rot="16200000">
            <a:off x="620649" y="16394620"/>
            <a:ext cx="1154430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source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59752" y="14767560"/>
            <a:ext cx="73037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no, skip it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18320" y="5303520"/>
            <a:ext cx="1895094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the chain, written out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418320" y="5669280"/>
            <a:ext cx="5516118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Three stages on one organism. Each line is one linear program, and the part after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the comma is the floor the stages before it left behind.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418320" y="8595360"/>
            <a:ext cx="3981069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what the retain fraction buys, and what it costs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418320" y="8961120"/>
            <a:ext cx="5530977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At one, the chain gives nothing away and adds no parameter. Below one it trades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growth for release, which is what real cells do and what the model will not.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418320" y="15910560"/>
            <a:ext cx="488289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02020"/>
                </a:solidFill>
                <a:latin typeface="Calibri"/>
              </a:rPr>
              <a:t>what the competition costs, and why it is less than it looks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418320" y="16276320"/>
            <a:ext cx="5254371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One program per carbon source per organism per voxel per step is the honest</a:t>
            </a:r>
          </a:p>
          <a:p>
            <a:pPr algn="l"/>
            <a:r>
              <a:rPr sz="1300" b="0" i="1">
                <a:solidFill>
                  <a:srgbClr val="7F7F7F"/>
                </a:solidFill>
                <a:latin typeface="Calibri"/>
              </a:rPr>
              <a:t>price. Two things bring it down, and one removes it.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96821" y="5047488"/>
            <a:ext cx="6247638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 general constraint on a weighted sum would need a row, would resize the basis, and would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throw the warm start away in every voxel. Every objective here is a single column, so it need not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318575" y="6638544"/>
            <a:ext cx="5604129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next stage resets every column it was given from those vectors on entry, so a floor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written straight into the problem would be silently undone before it could bind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2062543" y="13898880"/>
            <a:ext cx="6116193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the weights depend on concentration and on nothing else. No enzyme level is carried between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steps, so the organism switches as fast as the concentrations move and there is no lag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2112264" y="19714464"/>
            <a:ext cx="6016752" cy="3643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averaging model outputs is not usually safe. It is safe here because the thing being averaged</a:t>
            </a:r>
          </a:p>
          <a:p>
            <a:pPr algn="ctr"/>
            <a:r>
              <a:rPr sz="1250" b="0" i="1">
                <a:solidFill>
                  <a:srgbClr val="7F7F7F"/>
                </a:solidFill>
                <a:latin typeface="Calibri"/>
              </a:rPr>
              <a:t>is a set of vectors in the null space of one matrix, and that space is closed under the sum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373600" cy="28712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06640" y="1700784"/>
            <a:ext cx="9601200" cy="1097280"/>
          </a:xfrm>
          <a:prstGeom prst="roundRect">
            <a:avLst>
              <a:gd name="adj" fmla="val 75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949440" y="2176272"/>
            <a:ext cx="457200" cy="73152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06640" y="3218688"/>
            <a:ext cx="9601200" cy="2743200"/>
          </a:xfrm>
          <a:prstGeom prst="roundRect">
            <a:avLst>
              <a:gd name="adj" fmla="val 3000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6949440" y="4023360"/>
            <a:ext cx="457200" cy="56692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406640" y="6309360"/>
            <a:ext cx="9601200" cy="3931920"/>
          </a:xfrm>
          <a:prstGeom prst="roundRect">
            <a:avLst>
              <a:gd name="adj" fmla="val 2093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49440" y="7223760"/>
            <a:ext cx="457200" cy="105156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406640" y="10698480"/>
            <a:ext cx="9601200" cy="4526280"/>
          </a:xfrm>
          <a:prstGeom prst="roundRect">
            <a:avLst>
              <a:gd name="adj" fmla="val 1818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6949440" y="11704320"/>
            <a:ext cx="457200" cy="125730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406640" y="15105888"/>
            <a:ext cx="9601200" cy="2286000"/>
          </a:xfrm>
          <a:prstGeom prst="roundRect">
            <a:avLst>
              <a:gd name="adj" fmla="val 3599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6949440" y="15819120"/>
            <a:ext cx="457200" cy="42976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06640" y="17849088"/>
            <a:ext cx="9601200" cy="2651760"/>
          </a:xfrm>
          <a:prstGeom prst="roundRect">
            <a:avLst>
              <a:gd name="adj" fmla="val 3103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6949440" y="18562320"/>
            <a:ext cx="457200" cy="61264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06640" y="20775168"/>
            <a:ext cx="9601200" cy="2286000"/>
          </a:xfrm>
          <a:prstGeom prst="roundRect">
            <a:avLst>
              <a:gd name="adj" fmla="val 3599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6949440" y="21488400"/>
            <a:ext cx="457200" cy="429768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06640" y="23225760"/>
            <a:ext cx="9601200" cy="5120640"/>
          </a:xfrm>
          <a:prstGeom prst="roundRect">
            <a:avLst>
              <a:gd name="adj" fmla="val 1607"/>
            </a:avLst>
          </a:prstGeom>
          <a:solidFill>
            <a:srgbClr val="FBFBFD"/>
          </a:solidFill>
          <a:ln w="11429">
            <a:solidFill>
              <a:srgbClr val="C9C9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6949440" y="11704320"/>
            <a:ext cx="457200" cy="12801600"/>
          </a:xfrm>
          <a:prstGeom prst="line">
            <a:avLst/>
          </a:prstGeom>
          <a:ln w="11429">
            <a:solidFill>
              <a:srgbClr val="C0C0C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731520" y="2542032"/>
            <a:ext cx="0" cy="21323808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1520" y="23865840"/>
            <a:ext cx="150876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1520" y="2249424"/>
            <a:ext cx="914400" cy="0"/>
          </a:xfrm>
          <a:prstGeom prst="line">
            <a:avLst/>
          </a:prstGeom>
          <a:ln w="1524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52944" y="1810512"/>
            <a:ext cx="6153912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matrix, the capacities and the objective are already built; only two numbers are new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3325915"/>
            <a:ext cx="5857875" cy="224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Monod on each substrate, against that substrate's own capacity: equation (3), twice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52944" y="6419088"/>
            <a:ext cx="7151751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whole model, and then the three balances solved, which is what makes this one checkable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52944" y="10808208"/>
            <a:ext cx="8055864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one donor and half an acceptor per turn of the growth reaction, so the acceptor's bound buys twice as much growth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28048" y="11338560"/>
            <a:ext cx="5669280" cy="1920240"/>
          </a:xfrm>
          <a:prstGeom prst="rect">
            <a:avLst/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528048" y="11338560"/>
            <a:ext cx="0" cy="192024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607910" y="11338560"/>
            <a:ext cx="0" cy="192024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1687773" y="11338560"/>
            <a:ext cx="0" cy="192024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767636" y="11338560"/>
            <a:ext cx="0" cy="192024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847499" y="11338560"/>
            <a:ext cx="0" cy="192024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927362" y="11338560"/>
            <a:ext cx="0" cy="192024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52944" y="15215616"/>
            <a:ext cx="561441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no search is needed once the growth flux is known: the other three are it, scaled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2944" y="17958816"/>
            <a:ext cx="673912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one place the two unit systems meet: per gram of cells per hour, into moles per litre per step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20884896"/>
            <a:ext cx="620534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the growth flux is a specific growth rate per hour, so this conversion is not the one above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84464" y="23792688"/>
            <a:ext cx="6400800" cy="2286000"/>
          </a:xfrm>
          <a:prstGeom prst="rect">
            <a:avLst/>
          </a:prstGeom>
          <a:solidFill>
            <a:srgbClr val="FFFFFF"/>
          </a:solidFill>
          <a:ln w="10477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284464" y="26078688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84464" y="25570688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284464" y="25062688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284464" y="24554688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284464" y="24046688"/>
            <a:ext cx="6400800" cy="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84464" y="23792688"/>
            <a:ext cx="0" cy="22860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9308592" y="23792688"/>
            <a:ext cx="0" cy="22860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844784" y="23792688"/>
            <a:ext cx="0" cy="22860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2124944" y="23792688"/>
            <a:ext cx="0" cy="22860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3405104" y="23792688"/>
            <a:ext cx="0" cy="22860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4685264" y="23792688"/>
            <a:ext cx="0" cy="2286000"/>
          </a:xfrm>
          <a:prstGeom prst="line">
            <a:avLst/>
          </a:prstGeom>
          <a:ln w="9525">
            <a:solidFill>
              <a:srgbClr val="E4E4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699248" y="7900416"/>
            <a:ext cx="6309360" cy="0"/>
          </a:xfrm>
          <a:prstGeom prst="line">
            <a:avLst/>
          </a:prstGeom>
          <a:ln w="10477">
            <a:solidFill>
              <a:srgbClr val="9AA5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65760" y="128016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120640" y="1280160"/>
            <a:ext cx="237744" cy="182880"/>
          </a:xfrm>
          <a:prstGeom prst="roundRect">
            <a:avLst>
              <a:gd name="adj" fmla="val 20000"/>
            </a:avLst>
          </a:prstGeom>
          <a:solidFill>
            <a:srgbClr val="B0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645920" y="1929384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645920" y="369417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645920" y="689457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645920" y="1137513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46336" y="11430000"/>
            <a:ext cx="5123916" cy="21945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3334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546336" y="11850624"/>
            <a:ext cx="4095475" cy="219456"/>
          </a:xfrm>
          <a:prstGeom prst="roundRect">
            <a:avLst>
              <a:gd name="adj" fmla="val 16666"/>
            </a:avLst>
          </a:prstGeom>
          <a:solidFill>
            <a:srgbClr val="2E6DA4"/>
          </a:solidFill>
          <a:ln w="13334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546336" y="12271248"/>
            <a:ext cx="1524373" cy="219456"/>
          </a:xfrm>
          <a:prstGeom prst="roundRect">
            <a:avLst>
              <a:gd name="adj" fmla="val 16666"/>
            </a:avLst>
          </a:prstGeom>
          <a:solidFill>
            <a:srgbClr val="B04A4A"/>
          </a:solidFill>
          <a:ln w="13334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546336" y="12691872"/>
            <a:ext cx="4095475" cy="219456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13334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645920" y="1548993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645920" y="1823313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645920" y="21159216"/>
            <a:ext cx="53035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iamond 61"/>
          <p:cNvSpPr/>
          <p:nvPr/>
        </p:nvSpPr>
        <p:spPr>
          <a:xfrm>
            <a:off x="2240280" y="23408640"/>
            <a:ext cx="4114800" cy="914400"/>
          </a:xfrm>
          <a:prstGeom prst="diamond">
            <a:avLst/>
          </a:prstGeom>
          <a:solidFill>
            <a:srgbClr val="FFFFFF"/>
          </a:solidFill>
          <a:ln w="12382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645920" y="24807672"/>
            <a:ext cx="5303520" cy="493776"/>
          </a:xfrm>
          <a:prstGeom prst="roundRect">
            <a:avLst>
              <a:gd name="adj" fmla="val 50000"/>
            </a:avLst>
          </a:prstGeom>
          <a:solidFill>
            <a:srgbClr val="F8A5A5"/>
          </a:solidFill>
          <a:ln w="12382">
            <a:solidFill>
              <a:srgbClr val="B0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" name="Connector 63"/>
          <p:cNvCxnSpPr/>
          <p:nvPr/>
        </p:nvCxnSpPr>
        <p:spPr>
          <a:xfrm>
            <a:off x="9308592" y="23792688"/>
            <a:ext cx="0" cy="2286000"/>
          </a:xfrm>
          <a:prstGeom prst="line">
            <a:avLst/>
          </a:prstGeom>
          <a:ln w="12382">
            <a:solidFill>
              <a:srgbClr val="7F7F7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ectangle 64"/>
          <p:cNvSpPr/>
          <p:nvPr/>
        </p:nvSpPr>
        <p:spPr>
          <a:xfrm>
            <a:off x="1664208" y="3712464"/>
            <a:ext cx="73152" cy="621792"/>
          </a:xfrm>
          <a:prstGeom prst="rect">
            <a:avLst/>
          </a:prstGeom>
          <a:solidFill>
            <a:srgbClr val="8FAA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664208" y="6912864"/>
            <a:ext cx="73152" cy="62179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664208" y="11393424"/>
            <a:ext cx="73152" cy="62179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664208" y="15508224"/>
            <a:ext cx="73152" cy="621792"/>
          </a:xfrm>
          <a:prstGeom prst="rect">
            <a:avLst/>
          </a:prstGeom>
          <a:solidFill>
            <a:srgbClr val="9CC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664208" y="18251424"/>
            <a:ext cx="73152" cy="621792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64208" y="21177504"/>
            <a:ext cx="73152" cy="621792"/>
          </a:xfrm>
          <a:prstGeom prst="rect">
            <a:avLst/>
          </a:prstGeom>
          <a:solidFill>
            <a:srgbClr val="E8C5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4297680" y="2423160"/>
            <a:ext cx="0" cy="127101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297680" y="4352544"/>
            <a:ext cx="0" cy="25420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297680" y="7552944"/>
            <a:ext cx="0" cy="382219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297680" y="12033504"/>
            <a:ext cx="0" cy="34564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297680" y="16148304"/>
            <a:ext cx="0" cy="20848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297680" y="18891504"/>
            <a:ext cx="0" cy="226771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297680" y="21817584"/>
            <a:ext cx="0" cy="1591056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297680" y="24323040"/>
            <a:ext cx="0" cy="484632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31520" y="2249424"/>
            <a:ext cx="0" cy="329184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 rot="16200000">
            <a:off x="150876" y="12910756"/>
            <a:ext cx="941832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next one</a:t>
            </a:r>
          </a:p>
        </p:txBody>
      </p:sp>
      <p:cxnSp>
        <p:nvCxnSpPr>
          <p:cNvPr id="81" name="Connector 80"/>
          <p:cNvCxnSpPr/>
          <p:nvPr/>
        </p:nvCxnSpPr>
        <p:spPr>
          <a:xfrm flipV="1">
            <a:off x="8284464" y="25883303"/>
            <a:ext cx="26670" cy="195385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8311134" y="25715830"/>
            <a:ext cx="26670" cy="167473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8337804" y="25570688"/>
            <a:ext cx="26670" cy="145142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364474" y="25443688"/>
            <a:ext cx="26670" cy="12700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391144" y="25331629"/>
            <a:ext cx="26670" cy="112059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417814" y="25232021"/>
            <a:ext cx="26670" cy="99608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444484" y="25142898"/>
            <a:ext cx="26670" cy="89123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471154" y="25062688"/>
            <a:ext cx="26670" cy="8021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97824" y="24990116"/>
            <a:ext cx="26670" cy="72572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24494" y="24924142"/>
            <a:ext cx="26670" cy="65974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551164" y="24863905"/>
            <a:ext cx="26670" cy="60237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577834" y="24808688"/>
            <a:ext cx="26670" cy="55217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604504" y="24757888"/>
            <a:ext cx="26670" cy="5080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631174" y="24710995"/>
            <a:ext cx="26670" cy="46893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657844" y="24667576"/>
            <a:ext cx="26670" cy="43419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8684514" y="24627259"/>
            <a:ext cx="26670" cy="40317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8711184" y="24589722"/>
            <a:ext cx="26670" cy="37537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8737854" y="24554688"/>
            <a:ext cx="26670" cy="35034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8764524" y="24521913"/>
            <a:ext cx="26670" cy="32775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8791194" y="24491188"/>
            <a:ext cx="26670" cy="30725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8817864" y="24462324"/>
            <a:ext cx="26670" cy="28864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8844534" y="24435158"/>
            <a:ext cx="26670" cy="27166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8871204" y="24409545"/>
            <a:ext cx="26670" cy="25613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8897874" y="24385354"/>
            <a:ext cx="26670" cy="24191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8924544" y="24362471"/>
            <a:ext cx="26670" cy="22883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8951214" y="24340793"/>
            <a:ext cx="26670" cy="21678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8977884" y="24320226"/>
            <a:ext cx="26670" cy="20567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004554" y="24300688"/>
            <a:ext cx="26670" cy="19538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9031224" y="24282102"/>
            <a:ext cx="26670" cy="18586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9057894" y="24264402"/>
            <a:ext cx="26670" cy="1770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084564" y="24247525"/>
            <a:ext cx="26670" cy="16877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9111234" y="24231415"/>
            <a:ext cx="26670" cy="1611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V="1">
            <a:off x="9137904" y="24216021"/>
            <a:ext cx="26670" cy="15394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9164574" y="24201296"/>
            <a:ext cx="26670" cy="14725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 flipV="1">
            <a:off x="9191244" y="24187198"/>
            <a:ext cx="26670" cy="14098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9217914" y="24173688"/>
            <a:ext cx="26670" cy="1351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9244584" y="24160728"/>
            <a:ext cx="26670" cy="1296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9271254" y="24148288"/>
            <a:ext cx="26670" cy="1244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9297924" y="24143449"/>
            <a:ext cx="26670" cy="4839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93245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93512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93779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94046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94312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94579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94846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95112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95379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95646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95912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96179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96446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96713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96979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97246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97513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7779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98046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98313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98579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98846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99113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99380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99646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99913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100180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100446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100713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100980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101246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101513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101780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102047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102313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102580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102847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103113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103380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103647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3913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4180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4447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4714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4980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5247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5514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5780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60475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63142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6580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8476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71143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81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647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914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8181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447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714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8981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247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109514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109781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1100480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1103147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110581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1108481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111148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111381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111648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111914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112181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112448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112715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112981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113248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113515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113781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1140485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1143152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114581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1148486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1151153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15382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15648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15915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16182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16448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16715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16982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172489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175156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17782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18049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8315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8582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1188491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1191158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119382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119649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>
            <a:off x="119915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>
            <a:off x="120182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120449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120716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223"/>
          <p:cNvCxnSpPr/>
          <p:nvPr/>
        </p:nvCxnSpPr>
        <p:spPr>
          <a:xfrm>
            <a:off x="120982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224"/>
          <p:cNvCxnSpPr/>
          <p:nvPr/>
        </p:nvCxnSpPr>
        <p:spPr>
          <a:xfrm>
            <a:off x="1212494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225"/>
          <p:cNvCxnSpPr/>
          <p:nvPr/>
        </p:nvCxnSpPr>
        <p:spPr>
          <a:xfrm>
            <a:off x="1215161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226"/>
          <p:cNvCxnSpPr/>
          <p:nvPr/>
        </p:nvCxnSpPr>
        <p:spPr>
          <a:xfrm>
            <a:off x="121782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>
            <a:off x="122049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228"/>
          <p:cNvCxnSpPr/>
          <p:nvPr/>
        </p:nvCxnSpPr>
        <p:spPr>
          <a:xfrm>
            <a:off x="122316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122582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Connector 230"/>
          <p:cNvCxnSpPr/>
          <p:nvPr/>
        </p:nvCxnSpPr>
        <p:spPr>
          <a:xfrm>
            <a:off x="1228496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>
            <a:off x="1231163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Connector 232"/>
          <p:cNvCxnSpPr/>
          <p:nvPr/>
        </p:nvCxnSpPr>
        <p:spPr>
          <a:xfrm>
            <a:off x="123383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Connector 233"/>
          <p:cNvCxnSpPr/>
          <p:nvPr/>
        </p:nvCxnSpPr>
        <p:spPr>
          <a:xfrm>
            <a:off x="123649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>
            <a:off x="123916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>
            <a:off x="124183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>
            <a:off x="124449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124716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24983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1252499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Connector 240"/>
          <p:cNvCxnSpPr/>
          <p:nvPr/>
        </p:nvCxnSpPr>
        <p:spPr>
          <a:xfrm>
            <a:off x="1255166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Connector 241"/>
          <p:cNvCxnSpPr/>
          <p:nvPr/>
        </p:nvCxnSpPr>
        <p:spPr>
          <a:xfrm>
            <a:off x="125783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Connector 242"/>
          <p:cNvCxnSpPr/>
          <p:nvPr/>
        </p:nvCxnSpPr>
        <p:spPr>
          <a:xfrm>
            <a:off x="126050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>
            <a:off x="126316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Connector 244"/>
          <p:cNvCxnSpPr/>
          <p:nvPr/>
        </p:nvCxnSpPr>
        <p:spPr>
          <a:xfrm>
            <a:off x="126583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Connector 245"/>
          <p:cNvCxnSpPr/>
          <p:nvPr/>
        </p:nvCxnSpPr>
        <p:spPr>
          <a:xfrm>
            <a:off x="1268501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Connector 246"/>
          <p:cNvCxnSpPr/>
          <p:nvPr/>
        </p:nvCxnSpPr>
        <p:spPr>
          <a:xfrm>
            <a:off x="1271168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>
            <a:off x="127383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Connector 248"/>
          <p:cNvCxnSpPr/>
          <p:nvPr/>
        </p:nvCxnSpPr>
        <p:spPr>
          <a:xfrm>
            <a:off x="127650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>
            <a:off x="127916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>
            <a:off x="128183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>
            <a:off x="128450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>
            <a:off x="128717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Connector 253"/>
          <p:cNvCxnSpPr/>
          <p:nvPr/>
        </p:nvCxnSpPr>
        <p:spPr>
          <a:xfrm>
            <a:off x="128983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>
            <a:off x="1292504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>
            <a:off x="1295171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Connector 256"/>
          <p:cNvCxnSpPr/>
          <p:nvPr/>
        </p:nvCxnSpPr>
        <p:spPr>
          <a:xfrm>
            <a:off x="129783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130050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Connector 258"/>
          <p:cNvCxnSpPr/>
          <p:nvPr/>
        </p:nvCxnSpPr>
        <p:spPr>
          <a:xfrm>
            <a:off x="130317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Connector 259"/>
          <p:cNvCxnSpPr/>
          <p:nvPr/>
        </p:nvCxnSpPr>
        <p:spPr>
          <a:xfrm>
            <a:off x="130583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>
            <a:off x="1308506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311173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Connector 262"/>
          <p:cNvCxnSpPr/>
          <p:nvPr/>
        </p:nvCxnSpPr>
        <p:spPr>
          <a:xfrm>
            <a:off x="131384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Connector 263"/>
          <p:cNvCxnSpPr/>
          <p:nvPr/>
        </p:nvCxnSpPr>
        <p:spPr>
          <a:xfrm>
            <a:off x="131650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131917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132184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Connector 266"/>
          <p:cNvCxnSpPr/>
          <p:nvPr/>
        </p:nvCxnSpPr>
        <p:spPr>
          <a:xfrm>
            <a:off x="1324508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1327175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>
            <a:off x="132984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Connector 269"/>
          <p:cNvCxnSpPr/>
          <p:nvPr/>
        </p:nvCxnSpPr>
        <p:spPr>
          <a:xfrm>
            <a:off x="1332509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Connector 270"/>
          <p:cNvCxnSpPr/>
          <p:nvPr/>
        </p:nvCxnSpPr>
        <p:spPr>
          <a:xfrm>
            <a:off x="1335176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>
            <a:off x="133784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Connector 272"/>
          <p:cNvCxnSpPr/>
          <p:nvPr/>
        </p:nvCxnSpPr>
        <p:spPr>
          <a:xfrm>
            <a:off x="134051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34317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>
            <a:off x="134584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348511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351178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35384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35651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35917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36184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364513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367180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36984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372514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>
            <a:off x="1375181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>
            <a:off x="137784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8" name="Connector 287"/>
          <p:cNvCxnSpPr/>
          <p:nvPr/>
        </p:nvCxnSpPr>
        <p:spPr>
          <a:xfrm>
            <a:off x="138051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Connector 288"/>
          <p:cNvCxnSpPr/>
          <p:nvPr/>
        </p:nvCxnSpPr>
        <p:spPr>
          <a:xfrm>
            <a:off x="138318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0" name="Connector 289"/>
          <p:cNvCxnSpPr/>
          <p:nvPr/>
        </p:nvCxnSpPr>
        <p:spPr>
          <a:xfrm>
            <a:off x="138584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1" name="Connector 290"/>
          <p:cNvCxnSpPr/>
          <p:nvPr/>
        </p:nvCxnSpPr>
        <p:spPr>
          <a:xfrm>
            <a:off x="1388516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2" name="Connector 291"/>
          <p:cNvCxnSpPr/>
          <p:nvPr/>
        </p:nvCxnSpPr>
        <p:spPr>
          <a:xfrm>
            <a:off x="1391183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>
            <a:off x="139385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39651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39918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>
            <a:off x="1401851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Connector 296"/>
          <p:cNvCxnSpPr/>
          <p:nvPr/>
        </p:nvCxnSpPr>
        <p:spPr>
          <a:xfrm>
            <a:off x="1404518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8" name="Connector 297"/>
          <p:cNvCxnSpPr/>
          <p:nvPr/>
        </p:nvCxnSpPr>
        <p:spPr>
          <a:xfrm>
            <a:off x="1407185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140985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0" name="Connector 299"/>
          <p:cNvCxnSpPr/>
          <p:nvPr/>
        </p:nvCxnSpPr>
        <p:spPr>
          <a:xfrm>
            <a:off x="1412519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415186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>
            <a:off x="1417853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>
            <a:off x="1420520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42318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425854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428521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431188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43385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43652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43918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441856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444523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>
            <a:off x="1447190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>
            <a:off x="1449857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>
            <a:off x="14525244" y="24143449"/>
            <a:ext cx="26669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Connector 315"/>
          <p:cNvCxnSpPr/>
          <p:nvPr/>
        </p:nvCxnSpPr>
        <p:spPr>
          <a:xfrm>
            <a:off x="14551913" y="24143449"/>
            <a:ext cx="26671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7" name="Connector 316"/>
          <p:cNvCxnSpPr/>
          <p:nvPr/>
        </p:nvCxnSpPr>
        <p:spPr>
          <a:xfrm>
            <a:off x="1457858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8" name="Connector 317"/>
          <p:cNvCxnSpPr/>
          <p:nvPr/>
        </p:nvCxnSpPr>
        <p:spPr>
          <a:xfrm>
            <a:off x="1460525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9" name="Connector 318"/>
          <p:cNvCxnSpPr/>
          <p:nvPr/>
        </p:nvCxnSpPr>
        <p:spPr>
          <a:xfrm>
            <a:off x="1463192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0" name="Connector 319"/>
          <p:cNvCxnSpPr/>
          <p:nvPr/>
        </p:nvCxnSpPr>
        <p:spPr>
          <a:xfrm>
            <a:off x="14658594" y="24143449"/>
            <a:ext cx="26670" cy="0"/>
          </a:xfrm>
          <a:prstGeom prst="line">
            <a:avLst/>
          </a:prstGeom>
          <a:ln w="20955">
            <a:solidFill>
              <a:srgbClr val="4A4A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TextBox 320"/>
          <p:cNvSpPr txBox="1"/>
          <p:nvPr/>
        </p:nvSpPr>
        <p:spPr>
          <a:xfrm>
            <a:off x="310896" y="269748"/>
            <a:ext cx="10227564" cy="3383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500" b="1" i="0">
                <a:solidFill>
                  <a:srgbClr val="202020"/>
                </a:solidFill>
                <a:latin typeface="Calibri"/>
              </a:rPr>
              <a:t>Inside one linear program: the same four reactions, on two voxels of one run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310896" y="768096"/>
            <a:ext cx="11759184" cy="43782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Every number below is computed from the four constants in examples/09_fba_glpk, so any line can be checked with a calculator. The model is small on</a:t>
            </a:r>
          </a:p>
          <a:p>
            <a:pPr algn="l"/>
            <a:r>
              <a:rPr sz="1500" b="0" i="1">
                <a:solidFill>
                  <a:srgbClr val="7F7F7F"/>
                </a:solidFill>
                <a:latin typeface="Calibri"/>
              </a:rPr>
              <a:t>purpose: three metabolites and four reactions, which is few enough that the program can be solved by hand and the solver's answer confirmed.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658368" y="1261872"/>
            <a:ext cx="239572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donor 1.00, acceptor 1.00 mol/L</a:t>
            </a:r>
          </a:p>
        </p:txBody>
      </p:sp>
      <p:sp>
        <p:nvSpPr>
          <p:cNvPr id="324" name="TextBox 323"/>
          <p:cNvSpPr txBox="1"/>
          <p:nvPr/>
        </p:nvSpPr>
        <p:spPr>
          <a:xfrm>
            <a:off x="5413248" y="1261872"/>
            <a:ext cx="239572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alibri"/>
              </a:rPr>
              <a:t>donor 0.02, acceptor 1.00 mol/L</a:t>
            </a:r>
          </a:p>
        </p:txBody>
      </p:sp>
      <p:sp>
        <p:nvSpPr>
          <p:cNvPr id="325" name="TextBox 324"/>
          <p:cNvSpPr txBox="1"/>
          <p:nvPr/>
        </p:nvSpPr>
        <p:spPr>
          <a:xfrm>
            <a:off x="2592895" y="2061972"/>
            <a:ext cx="3409569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START:  one wet voxel that holds biomass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7644384" y="2103120"/>
            <a:ext cx="6815709" cy="4133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The program was assembled once at start-up and has been in memory ever since. What arrives here</a:t>
            </a:r>
          </a:p>
          <a:p>
            <a:pPr algn="l"/>
            <a:r>
              <a:rPr sz="1300" b="0" i="0">
                <a:solidFill>
                  <a:srgbClr val="202020"/>
                </a:solidFill>
                <a:latin typeface="Calibri"/>
              </a:rPr>
              <a:t>is a pair of concentrations, and what leaves is a growth rate and three exchange fluxes.</a:t>
            </a:r>
          </a:p>
        </p:txBody>
      </p:sp>
      <p:sp>
        <p:nvSpPr>
          <p:cNvPr id="327" name="Rounded Rectangle 326"/>
          <p:cNvSpPr/>
          <p:nvPr/>
        </p:nvSpPr>
        <p:spPr>
          <a:xfrm>
            <a:off x="1828800" y="38862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TextBox 327"/>
          <p:cNvSpPr txBox="1"/>
          <p:nvPr/>
        </p:nvSpPr>
        <p:spPr>
          <a:xfrm>
            <a:off x="3187827" y="3812133"/>
            <a:ext cx="2731770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Turn the two concentrations into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two uptake bounds</a:t>
            </a:r>
          </a:p>
        </p:txBody>
      </p:sp>
      <p:sp>
        <p:nvSpPr>
          <p:cNvPr id="329" name="TextBox 328"/>
          <p:cNvSpPr txBox="1"/>
          <p:nvPr/>
        </p:nvSpPr>
        <p:spPr>
          <a:xfrm>
            <a:off x="7644384" y="3520440"/>
            <a:ext cx="25786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7F7F7F"/>
                </a:solidFill>
                <a:latin typeface="Consolas"/>
              </a:rPr>
              <a:t>substrate   Ks     capacity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0873359" y="3529584"/>
            <a:ext cx="96697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2E6DA4"/>
                </a:solidFill>
                <a:latin typeface="Calibri"/>
              </a:rPr>
              <a:t>the fed voxel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13850874" y="3529584"/>
            <a:ext cx="1595628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B04A4A"/>
                </a:solidFill>
                <a:latin typeface="Calibri"/>
              </a:rPr>
              <a:t>the drawn-down voxel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644384" y="3813048"/>
            <a:ext cx="21214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donor      0.05   10.0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0524744" y="3813048"/>
            <a:ext cx="16642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1.00 -&gt; -9.523810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13816584" y="3813048"/>
            <a:ext cx="16642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0.02 -&gt; -2.857143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7644384" y="4123944"/>
            <a:ext cx="21214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acceptor   0.05   4.0 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0524744" y="4123944"/>
            <a:ext cx="16642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2E6DA4"/>
                </a:solidFill>
                <a:latin typeface="Consolas"/>
              </a:rPr>
              <a:t>1.00 -&gt; -3.809524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13816584" y="4123944"/>
            <a:ext cx="16642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B04A4A"/>
                </a:solidFill>
                <a:latin typeface="Consolas"/>
              </a:rPr>
              <a:t>1.00 -&gt; -3.809524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7644384" y="4645152"/>
            <a:ext cx="6360795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Negative, because every exchange reaction is written as the metabolite leaving the cell, so taking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something up is a flux in the negative direction. The bound is then held above the model's own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floor and above what the voxel could actually give up in one step, neither of which bites here.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7644384" y="5321808"/>
            <a:ext cx="6553962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B04A4A"/>
                </a:solidFill>
                <a:latin typeface="Calibri"/>
              </a:rPr>
              <a:t>Only the acceptor's bound is unchanged between the two voxels. That single difference is the whole</a:t>
            </a:r>
          </a:p>
          <a:p>
            <a:pPr algn="l"/>
            <a:r>
              <a:rPr sz="1250" b="0" i="0">
                <a:solidFill>
                  <a:srgbClr val="B04A4A"/>
                </a:solidFill>
                <a:latin typeface="Calibri"/>
              </a:rPr>
              <a:t>of what the transport solver tells the metabolic model about where it is.</a:t>
            </a:r>
          </a:p>
        </p:txBody>
      </p:sp>
      <p:sp>
        <p:nvSpPr>
          <p:cNvPr id="340" name="Rounded Rectangle 339"/>
          <p:cNvSpPr/>
          <p:nvPr/>
        </p:nvSpPr>
        <p:spPr>
          <a:xfrm>
            <a:off x="1828800" y="708660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3214687" y="7012533"/>
            <a:ext cx="2678049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program: four reactions and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three rows that must balance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7644384" y="6628185"/>
            <a:ext cx="596188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v0   EX_S    S_c -&gt;                 negative: the donor comes IN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644384" y="6884217"/>
            <a:ext cx="623620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v1   EX_O    O_c -&gt;                 negative: the acceptor comes IN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644384" y="7140249"/>
            <a:ext cx="614476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v2   EX_P    P_c -&gt;                 positive: the product goes OUT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644384" y="7396281"/>
            <a:ext cx="5321808" cy="2401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v3   BIO     S_c + 0.5 O_c -&gt; P_c   the objective: growth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7644384" y="7982712"/>
            <a:ext cx="76078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          v0    v1    v2    v3            row S_c:  -v0 - v3     = 0  -&gt;  v0 = -v3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644384" y="8238744"/>
            <a:ext cx="797356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S_c       -1     0     0    -1            row O_c:  -v1 - 0.5 v3 = 0  -&gt;  v1 = -0.5 v3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7644384" y="8494776"/>
            <a:ext cx="760780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O_c        0    -1     0  -0.5            row P_c:  -v2 + v3     = 0  -&gt;  v2 = +v3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7644384" y="8750808"/>
            <a:ext cx="28529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02020"/>
                </a:solidFill>
                <a:latin typeface="Consolas"/>
              </a:rPr>
              <a:t>P_c        0     0    -1    +1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7644384" y="9253728"/>
            <a:ext cx="6784848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Every flux is now written in terms of the growth flux alone, so the program has one unknown left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and two bounds on it. A genome-scale model has a few thousand columns and cannot be read this way,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but nothing about the procedure changes: the simplex does what the three lines on the right do.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1828800" y="11567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3190684" y="11493093"/>
            <a:ext cx="2726055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Each bound becomes a ceiling on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growth. The lower one wins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9429178" y="1328166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10509041" y="1328166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2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11588904" y="1328166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4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2668767" y="1328166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6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3748629" y="13281660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8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4784487" y="13281660"/>
            <a:ext cx="285750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10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8444484" y="11439144"/>
            <a:ext cx="102870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2E6DA4"/>
                </a:solidFill>
                <a:latin typeface="Calibri"/>
              </a:rPr>
              <a:t>from the donor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4706828" y="11434572"/>
            <a:ext cx="81381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2E6DA4"/>
                </a:solidFill>
                <a:latin typeface="Consolas"/>
              </a:rPr>
              <a:t>9.523810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8284464" y="11859768"/>
            <a:ext cx="118872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2E6DA4"/>
                </a:solidFill>
                <a:latin typeface="Calibri"/>
              </a:rPr>
              <a:t>from the acceptor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3678387" y="11855196"/>
            <a:ext cx="151790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2E6DA4"/>
                </a:solidFill>
                <a:latin typeface="Consolas"/>
              </a:rPr>
              <a:t>7.619048   binds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8444484" y="12280392"/>
            <a:ext cx="102870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B04A4A"/>
                </a:solidFill>
                <a:latin typeface="Calibri"/>
              </a:rPr>
              <a:t>from the donor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1107285" y="12275820"/>
            <a:ext cx="1517904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04A4A"/>
                </a:solidFill>
                <a:latin typeface="Consolas"/>
              </a:rPr>
              <a:t>2.857143   binds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284464" y="12701016"/>
            <a:ext cx="118872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B04A4A"/>
                </a:solidFill>
                <a:latin typeface="Calibri"/>
              </a:rPr>
              <a:t>from the acceptor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3678387" y="12696444"/>
            <a:ext cx="813816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B04A4A"/>
                </a:solidFill>
                <a:latin typeface="Consolas"/>
              </a:rPr>
              <a:t>7.619048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9685782" y="13523976"/>
            <a:ext cx="5353812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largest growth flux each bound allows, in mmol per gram dry weight per hour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7644384" y="11631168"/>
            <a:ext cx="33147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7644384" y="12472416"/>
            <a:ext cx="9738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drawn down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7644384" y="13716000"/>
            <a:ext cx="6612255" cy="121066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two ceilings are not the two bounds. A turn of the growth reaction consumes one donor and half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an acceptor, so an acceptor bound of 3.809524 permits a growth flux of twice that. It is the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stoichiometry, not the size of the two capacities, that decides which substrate limits: 4 is less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than 10, yet in the second voxel the donor is the one that binds.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/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limit changes hands at a donor concentration of exactly 0.16 mol per litre, and the panel at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foot of this figure draws the whole of that.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1828800" y="156819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3388995" y="15607893"/>
            <a:ext cx="2329434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The rest of the flux vector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follows from the three rows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7644384" y="15544800"/>
            <a:ext cx="33147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9473184" y="15535656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v3 = +7.619048   growth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9473184" y="15755112"/>
            <a:ext cx="55046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v0 = -7.619048   donor in      v1 = -3.809524   acceptor in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9473184" y="15974568"/>
            <a:ext cx="26700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v2 = +7.619048   product out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7644384" y="16312896"/>
            <a:ext cx="9738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drawn down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9473184" y="16303752"/>
            <a:ext cx="22128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v3 = +2.857143   growth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9473184" y="16523208"/>
            <a:ext cx="55046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v0 = -2.857143   donor in      v1 = -1.428571   acceptor in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9473184" y="16742664"/>
            <a:ext cx="267004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v2 = +2.857143   product out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7644384" y="17080992"/>
            <a:ext cx="6166485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In the fed voxel the acceptor is taken up at exactly its bound and the donor is not. In the other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donor is at its bound and the acceptor is well under: a cell has no use for an acceptor it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cannot pair with a donor, which is why the uptake falls rather than staying at capacity.</a:t>
            </a:r>
          </a:p>
        </p:txBody>
      </p:sp>
      <p:sp>
        <p:nvSpPr>
          <p:cNvPr id="382" name="Rounded Rectangle 381"/>
          <p:cNvSpPr/>
          <p:nvPr/>
        </p:nvSpPr>
        <p:spPr>
          <a:xfrm>
            <a:off x="1828800" y="1842516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3445573" y="18351093"/>
            <a:ext cx="2216277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Fluxes become changes in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concentration in this voxel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7644384" y="18164556"/>
            <a:ext cx="4121658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onsolas"/>
              </a:rPr>
              <a:t>dC  =  v  x  ( B x M )  x  dt  /  3.6e6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7644384" y="18443448"/>
            <a:ext cx="6555105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F7F7F"/>
                </a:solidFill>
                <a:latin typeface="Calibri"/>
              </a:rPr>
              <a:t>B the biomass this voxel holds, 1.0 mol/L; M the biomass molar mass, 24.6 gDW/mol; dt the step, 0.015 s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7644384" y="18818352"/>
            <a:ext cx="33147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9473184" y="18809208"/>
            <a:ext cx="46817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donor    -7.809524e-07      acceptor -3.904762e-07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9473184" y="19028664"/>
            <a:ext cx="37673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product  +7.809524e-07      all in mol/L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7644384" y="19476720"/>
            <a:ext cx="9738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drawn down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9473184" y="19467576"/>
            <a:ext cx="46817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donor    -2.928571e-07      acceptor -1.464286e-07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9473184" y="19687032"/>
            <a:ext cx="376732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product  +2.928571e-07      all in mol/L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7644384" y="20263104"/>
            <a:ext cx="6448806" cy="53766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two checks worth doing every time: the acceptor change is exactly half the donor change,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because the reaction says 0.5, and the product change is exactly minus the donor change, because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reaction says one for one. Neither survives a mistake in the unit chain.</a:t>
            </a:r>
          </a:p>
        </p:txBody>
      </p:sp>
      <p:sp>
        <p:nvSpPr>
          <p:cNvPr id="393" name="Rounded Rectangle 392"/>
          <p:cNvSpPr/>
          <p:nvPr/>
        </p:nvSpPr>
        <p:spPr>
          <a:xfrm>
            <a:off x="1828800" y="21351240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4A4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TextBox 393"/>
          <p:cNvSpPr txBox="1"/>
          <p:nvPr/>
        </p:nvSpPr>
        <p:spPr>
          <a:xfrm>
            <a:off x="3317557" y="21277173"/>
            <a:ext cx="2472309" cy="4224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Growth becomes biomass, or,</a:t>
            </a:r>
          </a:p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if there is none, decay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7644384" y="21090636"/>
            <a:ext cx="3298698" cy="2468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02020"/>
                </a:solidFill>
                <a:latin typeface="Consolas"/>
              </a:rPr>
              <a:t>dB  =  v3  x  B  x  dt  /  3600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7644384" y="21470112"/>
            <a:ext cx="33147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E6DA4"/>
                </a:solidFill>
                <a:latin typeface="Calibri"/>
              </a:rPr>
              <a:t>fed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9473184" y="21460968"/>
            <a:ext cx="50474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2E6DA4"/>
                </a:solidFill>
                <a:latin typeface="Consolas"/>
              </a:rPr>
              <a:t>7.619048 x 1.0 x 0.015 / 3600  =  +3.174603e-05  mol/L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7644384" y="21744432"/>
            <a:ext cx="9738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04A4A"/>
                </a:solidFill>
                <a:latin typeface="Calibri"/>
              </a:rPr>
              <a:t>drawn down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9473184" y="21735288"/>
            <a:ext cx="5047488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B04A4A"/>
                </a:solidFill>
                <a:latin typeface="Consolas"/>
              </a:rPr>
              <a:t>2.857143 x 1.0 x 0.015 / 3600  =  +1.190476e-05  mol/L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7644384" y="22238208"/>
            <a:ext cx="6548247" cy="7059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A program that came back infeasible, or that returned no growth at all, takes the other branch: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organism loses biomass at its own decay coefficient instead. The two conversions differ by a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factor of a thousand and are easy to confuse, which is why growth is per hour and decay per second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in the code and each has its own converter.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3478149" y="23665129"/>
            <a:ext cx="1639062" cy="401421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organisms here,</a:t>
            </a:r>
          </a:p>
          <a:p>
            <a:pPr algn="ctr"/>
            <a:r>
              <a:rPr sz="1350" b="0" i="0">
                <a:solidFill>
                  <a:srgbClr val="202020"/>
                </a:solidFill>
                <a:latin typeface="Calibri"/>
              </a:rPr>
              <a:t>more voxels?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2654617" y="24940260"/>
            <a:ext cx="3286125" cy="2286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202020"/>
                </a:solidFill>
                <a:latin typeface="Calibri"/>
              </a:rPr>
              <a:t>STOP:  back to the solve loop of Figure 3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4352544" y="24464772"/>
            <a:ext cx="27660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7F7F7F"/>
                </a:solidFill>
                <a:latin typeface="Calibri"/>
              </a:rPr>
              <a:t>no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863090" y="23609808"/>
            <a:ext cx="32232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250" b="0" i="0">
                <a:solidFill>
                  <a:srgbClr val="7F7F7F"/>
                </a:solidFill>
                <a:latin typeface="Calibri"/>
              </a:rPr>
              <a:t>yes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7552944" y="23353776"/>
            <a:ext cx="4195953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F7F7F"/>
                </a:solidFill>
                <a:latin typeface="Calibri"/>
              </a:rPr>
              <a:t>where the limit changes hands, drawn across the whole run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8050149" y="2597353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0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8050149" y="2546553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2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8050149" y="2495753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4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8050149" y="2444953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6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8050149" y="23941532"/>
            <a:ext cx="197739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0">
                <a:solidFill>
                  <a:srgbClr val="7F7F7F"/>
                </a:solidFill>
                <a:latin typeface="Consolas"/>
              </a:rPr>
              <a:t>8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8053578" y="261015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0.00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9077706" y="261015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0.16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0613898" y="261015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0.40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1894058" y="261015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0.60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3174218" y="261015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0.80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4454378" y="26101548"/>
            <a:ext cx="461772" cy="21031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7F7F7F"/>
                </a:solidFill>
                <a:latin typeface="Consolas"/>
              </a:rPr>
              <a:t>1.00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8526780" y="23911560"/>
            <a:ext cx="745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50" b="0" i="1">
                <a:solidFill>
                  <a:srgbClr val="7F7F7F"/>
                </a:solidFill>
                <a:latin typeface="Calibri"/>
              </a:rPr>
              <a:t>0.16 mol/L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9363456" y="24323040"/>
            <a:ext cx="1043559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7F7F7F"/>
                </a:solidFill>
                <a:latin typeface="Calibri"/>
              </a:rPr>
              <a:t>the donor limits</a:t>
            </a:r>
          </a:p>
          <a:p>
            <a:pPr algn="l"/>
            <a:r>
              <a:rPr sz="1150" b="0" i="1">
                <a:solidFill>
                  <a:srgbClr val="7F7F7F"/>
                </a:solidFill>
                <a:latin typeface="Calibri"/>
              </a:rPr>
              <a:t>left of here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9363456" y="23911560"/>
            <a:ext cx="1976247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i="1">
                <a:solidFill>
                  <a:srgbClr val="7F7F7F"/>
                </a:solidFill>
                <a:latin typeface="Calibri"/>
              </a:rPr>
              <a:t>the acceptor limits right of here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4126908" y="24233061"/>
            <a:ext cx="1116711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2E6DA4"/>
                </a:solidFill>
                <a:latin typeface="Calibri"/>
              </a:rPr>
              <a:t>fed</a:t>
            </a:r>
          </a:p>
          <a:p>
            <a:pPr algn="ctr"/>
            <a:r>
              <a:rPr sz="1150" b="1" i="0">
                <a:solidFill>
                  <a:srgbClr val="2E6DA4"/>
                </a:solidFill>
                <a:latin typeface="Calibri"/>
              </a:rPr>
              <a:t>1.00 -&gt; 7.619048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522208" y="25149976"/>
            <a:ext cx="1113282" cy="369417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B04A4A"/>
                </a:solidFill>
                <a:latin typeface="Calibri"/>
              </a:rPr>
              <a:t>drawn down</a:t>
            </a:r>
          </a:p>
          <a:p>
            <a:pPr algn="l"/>
            <a:r>
              <a:rPr sz="1150" b="1" i="0">
                <a:solidFill>
                  <a:srgbClr val="B04A4A"/>
                </a:solidFill>
                <a:latin typeface="Calibri"/>
              </a:rPr>
              <a:t>0.02 -&gt; 2.857143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9656064" y="26343864"/>
            <a:ext cx="3657600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the donor concentration in this voxel, in moles per litre</a:t>
            </a:r>
          </a:p>
        </p:txBody>
      </p:sp>
      <p:sp>
        <p:nvSpPr>
          <p:cNvPr id="423" name="TextBox 422"/>
          <p:cNvSpPr txBox="1"/>
          <p:nvPr/>
        </p:nvSpPr>
        <p:spPr>
          <a:xfrm rot="16200000">
            <a:off x="7355205" y="24825388"/>
            <a:ext cx="870966" cy="220599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50" b="0" i="0">
                <a:solidFill>
                  <a:srgbClr val="7F7F7F"/>
                </a:solidFill>
                <a:latin typeface="Calibri"/>
              </a:rPr>
              <a:t>growth flux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7552944" y="26663904"/>
            <a:ext cx="8353044" cy="10424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The acceptor is held at 1.00 mol per litre and the donor swept across everything a run visits. To the right of 0.16 the acceptor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limits and growth is flat: adding donor to a voxel that already has enough buys nothing, which is why a concentration field alone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cannot tell a modeller whether the medium is rich or merely adequate. To the left the donor limits and growth falls with it,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steeply, because the Monod term is still climbing there. The corner is not a numerical artefact: it is the exact concentration at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which the two ceilings are equal, and either side of it a different constraint is doing all the work. A run where the corner sits</a:t>
            </a:r>
          </a:p>
          <a:p>
            <a:pPr algn="l"/>
            <a:r>
              <a:rPr sz="1250" b="0" i="0">
                <a:solidFill>
                  <a:srgbClr val="202020"/>
                </a:solidFill>
                <a:latin typeface="Calibri"/>
              </a:rPr>
              <a:t>inside the domain is the interesting kind, and nothing in the output says so unless the limiting substrate is printed.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869376" y="391363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869376" y="711403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869376" y="115945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869376" y="157093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869376" y="18452592"/>
            <a:ext cx="193167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868805" y="21378672"/>
            <a:ext cx="194310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31" name="Rounded Rectangle 430"/>
          <p:cNvSpPr/>
          <p:nvPr/>
        </p:nvSpPr>
        <p:spPr>
          <a:xfrm>
            <a:off x="14621256" y="24079441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E6DA4"/>
          </a:solidFill>
          <a:ln w="1333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ounded Rectangle 431"/>
          <p:cNvSpPr/>
          <p:nvPr/>
        </p:nvSpPr>
        <p:spPr>
          <a:xfrm>
            <a:off x="8348472" y="25288965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 w="13334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